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6.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b6cfc468d7847d9" /><Relationship Type="http://schemas.openxmlformats.org/officeDocument/2006/relationships/extended-properties" Target="/docProps/app.xml" Id="R77fac75f717b42dc" /><Relationship Type="http://schemas.openxmlformats.org/officeDocument/2006/relationships/officeDocument" Target="/ppt/presentation.xml" Id="Rbb2115b3fcf54d9c" /></Relationships>
</file>

<file path=ppt/presentation.xml><?xml version="1.0" encoding="utf-8"?>
<p:presentation xmlns:p="http://schemas.openxmlformats.org/presentationml/2006/main">
  <p:sldMasterIdLst>
    <p:sldMasterId xmlns:r="http://schemas.openxmlformats.org/officeDocument/2006/relationships" id="2147483648" r:id="R5d01cdc8bd3b47f9"/>
  </p:sldMasterIdLst>
  <p:notesMasterIdLst>
    <p:notesMasterId xmlns:r="http://schemas.openxmlformats.org/officeDocument/2006/relationships" r:id="R52e6112946e14088"/>
  </p:notesMasterIdLst>
  <p:sldIdLst>
    <p:sldId xmlns:r="http://schemas.openxmlformats.org/officeDocument/2006/relationships" id="256" r:id="R2cebbf27e1294721"/>
    <p:sldId xmlns:r="http://schemas.openxmlformats.org/officeDocument/2006/relationships" id="257" r:id="Re01cc4533def47b5"/>
    <p:sldId xmlns:r="http://schemas.openxmlformats.org/officeDocument/2006/relationships" id="258" r:id="R4f0b58e10cdf42cf"/>
    <p:sldId xmlns:r="http://schemas.openxmlformats.org/officeDocument/2006/relationships" id="259" r:id="R8479accc12544b5c"/>
    <p:sldId xmlns:r="http://schemas.openxmlformats.org/officeDocument/2006/relationships" id="260" r:id="R9b1923ba7cf94274"/>
    <p:sldId xmlns:r="http://schemas.openxmlformats.org/officeDocument/2006/relationships" id="261" r:id="Rc1fe4ccff4124cec"/>
    <p:sldId xmlns:r="http://schemas.openxmlformats.org/officeDocument/2006/relationships" id="262" r:id="R716400bb88604105"/>
    <p:sldId xmlns:r="http://schemas.openxmlformats.org/officeDocument/2006/relationships" id="263" r:id="R1f8737a8d068491d"/>
    <p:sldId xmlns:r="http://schemas.openxmlformats.org/officeDocument/2006/relationships" id="264" r:id="R89c0fccba1ab45c1"/>
    <p:sldId xmlns:r="http://schemas.openxmlformats.org/officeDocument/2006/relationships" id="265" r:id="R8f5672902d8d4005"/>
    <p:sldId xmlns:r="http://schemas.openxmlformats.org/officeDocument/2006/relationships" id="266" r:id="Rc054fb837216434f"/>
    <p:sldId xmlns:r="http://schemas.openxmlformats.org/officeDocument/2006/relationships" id="267" r:id="Rddb3a01026aa4f84"/>
    <p:sldId xmlns:r="http://schemas.openxmlformats.org/officeDocument/2006/relationships" id="268" r:id="R6c86208563f04f32"/>
    <p:sldId xmlns:r="http://schemas.openxmlformats.org/officeDocument/2006/relationships" id="269" r:id="R8effc938ef4c4d6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f042ce90ddc4cb7" /><Relationship Type="http://schemas.openxmlformats.org/officeDocument/2006/relationships/slideMaster" Target="/ppt/slideMasters/slideMaster1.xml" Id="R5d01cdc8bd3b47f9" /><Relationship Type="http://schemas.openxmlformats.org/officeDocument/2006/relationships/notesMaster" Target="/ppt/notesMasters/notesMaster1.xml" Id="R52e6112946e14088" /><Relationship Type="http://schemas.openxmlformats.org/officeDocument/2006/relationships/presProps" Target="/ppt/presProps.xml" Id="Rca8e64ef4c614827" /><Relationship Type="http://schemas.openxmlformats.org/officeDocument/2006/relationships/tableStyles" Target="/ppt/tableStyles.xml" Id="Ra7a761d28c624fdc" /><Relationship Type="http://schemas.openxmlformats.org/officeDocument/2006/relationships/slide" Target="/ppt/slides/slide1.xml" Id="R2cebbf27e1294721" /><Relationship Type="http://schemas.openxmlformats.org/officeDocument/2006/relationships/slide" Target="/ppt/slides/slide2.xml" Id="Re01cc4533def47b5" /><Relationship Type="http://schemas.openxmlformats.org/officeDocument/2006/relationships/slide" Target="/ppt/slides/slide3.xml" Id="R4f0b58e10cdf42cf" /><Relationship Type="http://schemas.openxmlformats.org/officeDocument/2006/relationships/slide" Target="/ppt/slides/slide4.xml" Id="R8479accc12544b5c" /><Relationship Type="http://schemas.openxmlformats.org/officeDocument/2006/relationships/slide" Target="/ppt/slides/slide5.xml" Id="R9b1923ba7cf94274" /><Relationship Type="http://schemas.openxmlformats.org/officeDocument/2006/relationships/slide" Target="/ppt/slides/slide6.xml" Id="Rc1fe4ccff4124cec" /><Relationship Type="http://schemas.openxmlformats.org/officeDocument/2006/relationships/slide" Target="/ppt/slides/slide7.xml" Id="R716400bb88604105" /><Relationship Type="http://schemas.openxmlformats.org/officeDocument/2006/relationships/slide" Target="/ppt/slides/slide8.xml" Id="R1f8737a8d068491d" /><Relationship Type="http://schemas.openxmlformats.org/officeDocument/2006/relationships/slide" Target="/ppt/slides/slide9.xml" Id="R89c0fccba1ab45c1" /><Relationship Type="http://schemas.openxmlformats.org/officeDocument/2006/relationships/slide" Target="/ppt/slides/slide10.xml" Id="R8f5672902d8d4005" /><Relationship Type="http://schemas.openxmlformats.org/officeDocument/2006/relationships/slide" Target="/ppt/slides/slide11.xml" Id="Rc054fb837216434f" /><Relationship Type="http://schemas.openxmlformats.org/officeDocument/2006/relationships/slide" Target="/ppt/slides/slide12.xml" Id="Rddb3a01026aa4f84" /><Relationship Type="http://schemas.openxmlformats.org/officeDocument/2006/relationships/slide" Target="/ppt/slides/slide13.xml" Id="R6c86208563f04f32" /><Relationship Type="http://schemas.openxmlformats.org/officeDocument/2006/relationships/slide" Target="/ppt/slides/slide14.xml" Id="R8effc938ef4c4d6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76e6fd27eca40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aa5adfc6684a82" /><Relationship Type="http://schemas.openxmlformats.org/officeDocument/2006/relationships/notesMaster" Target="/ppt/notesMasters/notesMaster1.xml" Id="R6086650616e84c3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ad2f23cef64eaf" /><Relationship Type="http://schemas.openxmlformats.org/officeDocument/2006/relationships/notesMaster" Target="/ppt/notesMasters/notesMaster1.xml" Id="R0ccc18e97f124f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515772f00c4d72" /><Relationship Type="http://schemas.openxmlformats.org/officeDocument/2006/relationships/notesMaster" Target="/ppt/notesMasters/notesMaster1.xml" Id="Rb6f88ccb006e4e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d126554a764ee9" /><Relationship Type="http://schemas.openxmlformats.org/officeDocument/2006/relationships/notesMaster" Target="/ppt/notesMasters/notesMaster1.xml" Id="Re027bb55f22240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cebebd558d4655" /><Relationship Type="http://schemas.openxmlformats.org/officeDocument/2006/relationships/notesMaster" Target="/ppt/notesMasters/notesMaster1.xml" Id="R61179747eda04d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96c72856d7434e" /><Relationship Type="http://schemas.openxmlformats.org/officeDocument/2006/relationships/notesMaster" Target="/ppt/notesMasters/notesMaster1.xml" Id="R963c7874bcdb468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90ef01a9e74695" /><Relationship Type="http://schemas.openxmlformats.org/officeDocument/2006/relationships/notesMaster" Target="/ppt/notesMasters/notesMaster1.xml" Id="Rbae38c213c7846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bb1eeec807a44ee3" /><Relationship Type="http://schemas.openxmlformats.org/officeDocument/2006/relationships/notesMaster" Target="/ppt/notesMasters/notesMaster1.xml" Id="Rbd9db527bd1748d8"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2bf29332a84164" /><Relationship Type="http://schemas.openxmlformats.org/officeDocument/2006/relationships/notesMaster" Target="/ppt/notesMasters/notesMaster1.xml" Id="R36e5cdda156049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681fe0552b49e2" /><Relationship Type="http://schemas.openxmlformats.org/officeDocument/2006/relationships/notesMaster" Target="/ppt/notesMasters/notesMaster1.xml" Id="R1e63dd53fe854bc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41031375fd84acd" /><Relationship Type="http://schemas.openxmlformats.org/officeDocument/2006/relationships/notesMaster" Target="/ppt/notesMasters/notesMaster1.xml" Id="R6a9b3a1f3d84460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eb8d259eeea49f0" /><Relationship Type="http://schemas.openxmlformats.org/officeDocument/2006/relationships/notesMaster" Target="/ppt/notesMasters/notesMaster1.xml" Id="R5b5448dd461546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333bb01874f49dc" /><Relationship Type="http://schemas.openxmlformats.org/officeDocument/2006/relationships/notesMaster" Target="/ppt/notesMasters/notesMaster1.xml" Id="R9a042a0a91c646e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b644295ce6342d6" /><Relationship Type="http://schemas.openxmlformats.org/officeDocument/2006/relationships/notesMaster" Target="/ppt/notesMasters/notesMaster1.xml" Id="Rcac102ec2a344f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problem as a three-year binary prediction task. Explain that the presentation reports a fresh, independently implemented experiment. Team: Atharva Ashish Vyas, PES1UG24CS093, and Atharva Rakesh Bhidre, PES1UG24CS095.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Tomczak (2016), UCI Polish Companies Bankruptcy, https://doi.org/10.24432/C5F600. The third-year ARFF contains 64 financial predictors and a target for bankruptcy within three years. The raw file has 10,503 rows and 495 positives. Counts displayed here are after deterministic exact duplicate removal, documented in reports/data_audit.json.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reports/data_audit.json and the raw UCI file. 87 duplicates include two positive rows. The resulting set has 10,416 rows and 493 positives. X37 is missing in roughly 45% of the raw data. No conflicting identical feature vectors were found. Missing values are handled inside training pipelines or directly by the histogram model. Company identities are unavailable, so exact deduplication is only a partial leakage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src/bankruptcy/train.py, reports/experiment_config.json and reports/split_manifest.csv. A stratified 80/20 split uses seed 42. Development has 8,332 rows and 394 positives, test has 2,084 rows and 99 positives. All six models use the same 3 folds. Selection uses mean fold average precision. The selected modelâ€™s OOF scores set the F2 threshold. The model is refitted on all development rows and evaluated on the fixed test set. No test-driven changes are made.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src/bankruptcy/modeling.py. One configuration per algorithm is declared before test evaluation. Scaled pipelines use median imputation plus missing indicators, arcsinh transformation and standard scaling. Forest pipelines use median imputation plus indicators. Histogram boosting accepts missing values directly. Balanced class weights are used where specified. This is a controlled comparison, not an exhaustive tuning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reports/model_comparison.csv. Mean AP across the same 3 development folds: histogram boosting 0.619, random forest 0.434, RBF SVM 0.422, extra trees 0.383, logistic regression 0.297, Gaussian NB 0.087. Histogram boosting fold SD is 0.037. CV estimates are used for selection and should not be presented as an independent 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reports/threshold_curve.csv and reports/metrics.json. OOF means out-of-fold predictions: each development row is scored by a model not fitted on that row. The threshold maximizes F2 on the selected modelâ€™s OOF scores. F2 = 5PR/(4P+R). The chosen threshold is 0.1979516978. This is a declared academic screening objective, not a monetary cost model. Because the same CV is used for selection, development scores can be optimistic; test results remain separate.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reports/metrics.json and reports/test_predictions.csv. Independent test counts are TN 1824, FP 161, FN 15, TP 84. Recall 84.85%, precision 34.29%, AP 0.7495, ROC AUC 0.9677. The all-negative baseline has 95.25% accuracy and zero recall. Approximate stratified bootstrap 95% recall interval: 77.8â€“91.9%; precision interval: 31.1â€“38.7%. These intervals condition on this fitted model and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reports/pr_curve.csv, reports/roc_curve.csv, and reports/metrics.json. Curves are drawn from the fixed test predictions. The native charts use sampled curve points for display; exact curve values are committed as CSVs. Average precision is 0.750 and ROC AUC 0.968. The test prevalence baseline for precision is 0.0475. AP and ROC AUC evaluate ranking and do not require changing the decision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reports/metrics.json. Comparing two prespecified rules on the same fixed test scores: the development-selected threshold catches 84 positives and flags 161 negatives; the default threshold 0.5 catches 68 positives and flags 36 negatives. The default threshold has test F2 0.680 versus 0.655. Do not claim the chosen threshold is optimal on the test set. It remains unchanged to respect the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reports/feature_importance.csv and UCI variable definitions. Permutation importance is the decrease in average precision after shuffling one feature, using 3 test-set repeats. Top variables are X27 operating profit / financial expenses, X34 operating expenses / total liabilities, X46 current assets minus inventory / current liabilities, X58 total costs / total sales, and X21 sales growth ratio. These are descriptive model dependencies, not causal claims. Correlated financial ratios complicate interpretation. No test-driven model changes followed this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the local Flask application in app.py and templates/index.html. Screenshot captured from the running local app. Start python app.py, open http://127.0.0.1:5000, run a detected-bankruptcy case and an error case, then upload examples/sample_companies.csv. The saved model and checksum are included, so retraining is not required for the demo. Backend tests cover valid and invalid CSV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the experiment and docs/model_card.md. The chosen model detects 84 of 99 bankruptcies but yields 161 false alarms. The dataset is historical and company identifiers are missing; random holdout is not verified group or temporal validation. Scores are uncalibrated. Future work should prioritize company/date information, threshold stability, and independent calibration. Do not promise performance on present-day firms.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[1] Tomczak, S. (2016). Polish Companies Bankruptcy. UCI. https://doi.org/10.24432/C5F600, CC BY 4.0. [2] Scikit-learn documentation: https://scikit-learn.org/stable/modules/model_evaluation.html and https://scikit-learn.org/stable/modules/cross_validation.html. [3] Supplied Corporate Bankruptcy Prediction reference report by Neha Abajirao Patil and https://github.com/codeatri/Bankruptcy_Prediction. Background only; no results or source code copied into this project. Software versions and all row-level evidence are recorded in the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a2455ad9a243a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7ad96497cee488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24b49b561848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cee67a28f55479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2d766ebcacd4bd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64be63c50914d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65033B-A44A-4F92-B812-C3428B46C3A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A9B4225-9E5D-46F0-BD9D-28DC572DBD6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DC2BED3-4BF1-4FC4-AAF9-C08E8AA7330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322D63-1FE8-4F88-B366-2EB3ED26BE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27FA9C-5359-4685-BC01-FDE105D90E3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7918B28-AE02-454E-97A5-6563D9E7BE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EBEDC03-2E4C-4452-AEBE-AFC71A0718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1A7D68-F417-49A0-8B47-7E5E89C70F2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E4F8C0-A882-4BDA-8D62-CEE330C4C1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DDFAAAE-8BE7-42EC-9F1C-E090DDC17C4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07fafb688d40f7" /><Relationship Type="http://schemas.openxmlformats.org/officeDocument/2006/relationships/slideLayout" Target="/ppt/slideLayouts/slideLayout1.xml" Id="R77f53c4bf18b4528" /><Relationship Type="http://schemas.openxmlformats.org/officeDocument/2006/relationships/slideLayout" Target="/ppt/slideLayouts/slideLayout2.xml" Id="R829ab8bac58646fa" /><Relationship Type="http://schemas.openxmlformats.org/officeDocument/2006/relationships/slideLayout" Target="/ppt/slideLayouts/slideLayout3.xml" Id="R809f05e2acf84005" /><Relationship Type="http://schemas.openxmlformats.org/officeDocument/2006/relationships/slideLayout" Target="/ppt/slideLayouts/slideLayout4.xml" Id="Red9df0041ef347b7" /><Relationship Type="http://schemas.openxmlformats.org/officeDocument/2006/relationships/slideLayout" Target="/ppt/slideLayouts/slideLayout5.xml" Id="Rb23703a3257d4a7f" /><Relationship Type="http://schemas.openxmlformats.org/officeDocument/2006/relationships/slideLayout" Target="/ppt/slideLayouts/slideLayout6.xml" Id="R945f4f439c4143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7f53c4bf18b4528"/>
    <p:sldLayoutId xmlns:r="http://schemas.openxmlformats.org/officeDocument/2006/relationships" id="2147483650" r:id="R829ab8bac58646fa"/>
    <p:sldLayoutId xmlns:r="http://schemas.openxmlformats.org/officeDocument/2006/relationships" id="2147483651" r:id="R809f05e2acf84005"/>
    <p:sldLayoutId xmlns:r="http://schemas.openxmlformats.org/officeDocument/2006/relationships" id="2147483652" r:id="Red9df0041ef347b7"/>
    <p:sldLayoutId xmlns:r="http://schemas.openxmlformats.org/officeDocument/2006/relationships" id="2147483653" r:id="Rb23703a3257d4a7f"/>
    <p:sldLayoutId xmlns:r="http://schemas.openxmlformats.org/officeDocument/2006/relationships" id="2147483654" r:id="R945f4f439c4143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9375738fabc4401" /><Relationship Type="http://schemas.openxmlformats.org/officeDocument/2006/relationships/notesSlide" Target="/ppt/notesSlides/notesSlide1.xml" Id="R71491c5d2aa142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51edceeb9a446ac" /><Relationship Type="http://schemas.openxmlformats.org/officeDocument/2006/relationships/chart" Target="/ppt/slides/charts/chart1.xml" Id="R60be8e89f2b447d2" /><Relationship Type="http://schemas.openxmlformats.org/officeDocument/2006/relationships/notesSlide" Target="/ppt/notesSlides/notesSlide2.xml" Id="R77a4daa8924946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570a21190994e98" /><Relationship Type="http://schemas.openxmlformats.org/officeDocument/2006/relationships/notesSlide" Target="/ppt/notesSlides/notesSlide3.xml" Id="Ra2cd2d6562c242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25f30cec25147cd" /><Relationship Type="http://schemas.openxmlformats.org/officeDocument/2006/relationships/notesSlide" Target="/ppt/notesSlides/notesSlide4.xml" Id="R9662721c1b6a4fc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cd5347539834c2f" /><Relationship Type="http://schemas.openxmlformats.org/officeDocument/2006/relationships/notesSlide" Target="/ppt/notesSlides/notesSlide5.xml" Id="Rde0777734d3749b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7ed35d4de44aee" /><Relationship Type="http://schemas.openxmlformats.org/officeDocument/2006/relationships/chart" Target="/ppt/slides/charts/chart2.xml" Id="Rc759ed88295f4bb7" /><Relationship Type="http://schemas.openxmlformats.org/officeDocument/2006/relationships/notesSlide" Target="/ppt/notesSlides/notesSlide6.xml" Id="R87ce07dac1d645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a06f923907f45f9" /><Relationship Type="http://schemas.openxmlformats.org/officeDocument/2006/relationships/chart" Target="/ppt/slides/charts/chart3.xml" Id="Rf1d83628f3ef4b33" /><Relationship Type="http://schemas.openxmlformats.org/officeDocument/2006/relationships/notesSlide" Target="/ppt/notesSlides/notesSlide7.xml" Id="Ra2ecff744d654f0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44772b2b5d94e24" /><Relationship Type="http://schemas.openxmlformats.org/officeDocument/2006/relationships/notesSlide" Target="/ppt/notesSlides/notesSlide8.xml" Id="Rbb042694e51e4d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86f83a215ff48a2" /><Relationship Type="http://schemas.openxmlformats.org/officeDocument/2006/relationships/chart" Target="/ppt/slides/charts/chart4.xml" Id="R06f95844ec5a4a75" /><Relationship Type="http://schemas.openxmlformats.org/officeDocument/2006/relationships/chart" Target="/ppt/slides/charts/chart5.xml" Id="R78d1fa5d108141e8" /><Relationship Type="http://schemas.openxmlformats.org/officeDocument/2006/relationships/notesSlide" Target="/ppt/notesSlides/notesSlide9.xml" Id="Rb795e3fdb31d45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d863c32048045f1" /><Relationship Type="http://schemas.openxmlformats.org/officeDocument/2006/relationships/notesSlide" Target="/ppt/notesSlides/notesSlide10.xml" Id="R2844c13217fe48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a5ff151e5e84ff2" /><Relationship Type="http://schemas.openxmlformats.org/officeDocument/2006/relationships/chart" Target="/ppt/slides/charts/chart6.xml" Id="R85099c1a09634a4e" /><Relationship Type="http://schemas.openxmlformats.org/officeDocument/2006/relationships/notesSlide" Target="/ppt/notesSlides/notesSlide11.xml" Id="Rbb6c6f6f22e04c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67393cc9bb34d09" /><Relationship Type="http://schemas.openxmlformats.org/officeDocument/2006/relationships/image" Target="/ppt/media/image.jpeg" Id="R2ed54865c3e34620" /><Relationship Type="http://schemas.openxmlformats.org/officeDocument/2006/relationships/notesSlide" Target="/ppt/notesSlides/notesSlide12.xml" Id="R7467a79692c84e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ce0256bf16c40a6" /><Relationship Type="http://schemas.openxmlformats.org/officeDocument/2006/relationships/notesSlide" Target="/ppt/notesSlides/notesSlide13.xml" Id="Rcc47e1ad25bf46c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d55a7fa327340e6" /><Relationship Type="http://schemas.openxmlformats.org/officeDocument/2006/relationships/notesSlide" Target="/ppt/notesSlides/notesSlide14.xml" Id="Rbe22b052349f4d0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Statements</c:v>
          </c:tx>
          <c:spPr>
            <a:solidFill xmlns:a="http://schemas.openxmlformats.org/drawingml/2006/main">
              <a:srgbClr val="007F78"/>
            </a:solidFill>
          </c:spPr>
          <c:cat>
            <c:strRef>
              <c:f>'Chart Data'!$A$2:$A$3</c:f>
              <c:strCache>
                <c:ptCount val="2"/>
                <c:pt idx="0">
                  <c:v>Non-bankrupt</c:v>
                </c:pt>
                <c:pt idx="1">
                  <c:v>Bankrupt</c:v>
                </c:pt>
              </c:strCache>
            </c:strRef>
          </c:cat>
          <c:val>
            <c:numRef>
              <c:f>'Chart Data'!$B$2:$B$3</c:f>
              <c:numCache>
                <c:formatCode>#,##0</c:formatCode>
                <c:ptCount val="2"/>
                <c:pt idx="0">
                  <c:v>9923</c:v>
                </c:pt>
                <c:pt idx="1">
                  <c:v>493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a:solidFill>
                    <a:srgbClr val="142C42"/>
                  </a:solidFill>
                  <a:latin typeface="Calibri"/>
                  <a:ea typeface="Calibri"/>
                  <a:cs typeface="Calibri"/>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catAx>
      <c:valAx>
        <c:axId val="48672768"/>
        <c:scaling>
          <c:orientation val="minMax"/>
          <c:max val="11000"/>
          <c:min val="0"/>
        </c:scaling>
        <c:delete val="0"/>
        <c:axPos val="b"/>
        <c:majorGridlines>
          <c:spPr>
            <a:ln xmlns:a="http://schemas.openxmlformats.org/drawingml/2006/main" w="4763">
              <a:solidFill>
                <a:srgbClr val="D7E0DE"/>
              </a:solidFill>
            </a:ln>
          </c:spPr>
        </c:majorGridlines>
        <c:numFmt formatCode="#,##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crossBetween val="between"/>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CV average precision</c:v>
          </c:tx>
          <c:spPr>
            <a:solidFill xmlns:a="http://schemas.openxmlformats.org/drawingml/2006/main">
              <a:srgbClr val="007F78"/>
            </a:solidFill>
          </c:spPr>
          <c:cat>
            <c:strRef>
              <c:f>'Chart Data'!$A$2:$A$7</c:f>
              <c:strCache>
                <c:ptCount val="6"/>
                <c:pt idx="0">
                  <c:v>Histogram boosting</c:v>
                </c:pt>
                <c:pt idx="1">
                  <c:v>Random forest</c:v>
                </c:pt>
                <c:pt idx="2">
                  <c:v>RBF SVM</c:v>
                </c:pt>
                <c:pt idx="3">
                  <c:v>Extra trees</c:v>
                </c:pt>
                <c:pt idx="4">
                  <c:v>Logistic regression</c:v>
                </c:pt>
                <c:pt idx="5">
                  <c:v>Gaussian NB</c:v>
                </c:pt>
              </c:strCache>
            </c:strRef>
          </c:cat>
          <c:val>
            <c:numRef>
              <c:f>'Chart Data'!$B$2:$B$7</c:f>
              <c:numCache>
                <c:formatCode>0.0</c:formatCode>
                <c:ptCount val="6"/>
                <c:pt idx="0">
                  <c:v>0.61883</c:v>
                </c:pt>
                <c:pt idx="1">
                  <c:v>0.433725</c:v>
                </c:pt>
                <c:pt idx="2">
                  <c:v>0.421928</c:v>
                </c:pt>
                <c:pt idx="3">
                  <c:v>0.382847</c:v>
                </c:pt>
                <c:pt idx="4">
                  <c:v>0.297292</c:v>
                </c:pt>
                <c:pt idx="5">
                  <c:v>0.087235</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650">
                  <a:solidFill>
                    <a:srgbClr val="142C42"/>
                  </a:solidFill>
                  <a:latin typeface="Calibri"/>
                  <a:ea typeface="Calibri"/>
                  <a:cs typeface="Calibri"/>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catAx>
      <c:valAx>
        <c:axId val="48672768"/>
        <c:scaling>
          <c:orientation val="minMax"/>
          <c:max val="0.8"/>
          <c:min val="0"/>
        </c:scaling>
        <c:delete val="0"/>
        <c:axPos val="b"/>
        <c:majorGridlines>
          <c:spPr>
            <a:ln xmlns:a="http://schemas.openxmlformats.org/drawingml/2006/main" w="6668">
              <a:solidFill>
                <a:srgbClr val="D7E0DE"/>
              </a:solidFill>
            </a:ln>
          </c:spPr>
        </c:majorGridlines>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crossBetween val="between"/>
        <c:majorUnit val="0.1"/>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varyColors val="0"/>
        <c:ser>
          <c:idx val="0"/>
          <c:order val="0"/>
          <c:tx>
            <c:v>Precision</c:v>
          </c:tx>
          <c:spPr>
            <a:ln xmlns:a="http://schemas.openxmlformats.org/drawingml/2006/main" w="19050">
              <a:solidFill>
                <a:srgbClr val="617384"/>
              </a:solidFill>
            </a:ln>
          </c:spPr>
          <c:marker>
            <c:symbol val="none"/>
          </c:marker>
          <c:xVal>
            <c:numRef>
              <c:f>'Chart Data'!$A$2:$A$103</c:f>
              <c:numCache>
                <c:formatCode>General</c:formatCode>
                <c:ptCount val="102"/>
                <c:pt idx="0">
                  <c:v>5E-06</c:v>
                </c:pt>
                <c:pt idx="1">
                  <c:v>0.000125</c:v>
                </c:pt>
                <c:pt idx="2">
                  <c:v>0.000196</c:v>
                </c:pt>
                <c:pt idx="3">
                  <c:v>0.000247</c:v>
                </c:pt>
                <c:pt idx="4">
                  <c:v>0.000298</c:v>
                </c:pt>
                <c:pt idx="5">
                  <c:v>0.000339</c:v>
                </c:pt>
                <c:pt idx="6">
                  <c:v>0.000386</c:v>
                </c:pt>
                <c:pt idx="7">
                  <c:v>0.000431</c:v>
                </c:pt>
                <c:pt idx="8">
                  <c:v>0.000469</c:v>
                </c:pt>
                <c:pt idx="9">
                  <c:v>0.000514</c:v>
                </c:pt>
                <c:pt idx="10">
                  <c:v>0.00056</c:v>
                </c:pt>
                <c:pt idx="11">
                  <c:v>0.000604</c:v>
                </c:pt>
                <c:pt idx="12">
                  <c:v>0.000663</c:v>
                </c:pt>
                <c:pt idx="13">
                  <c:v>0.000727</c:v>
                </c:pt>
                <c:pt idx="14">
                  <c:v>0.000775</c:v>
                </c:pt>
                <c:pt idx="15">
                  <c:v>0.000827</c:v>
                </c:pt>
                <c:pt idx="16">
                  <c:v>0.000878</c:v>
                </c:pt>
                <c:pt idx="17">
                  <c:v>0.000937</c:v>
                </c:pt>
                <c:pt idx="18">
                  <c:v>0.000995</c:v>
                </c:pt>
                <c:pt idx="19">
                  <c:v>0.001048</c:v>
                </c:pt>
                <c:pt idx="20">
                  <c:v>0.001111</c:v>
                </c:pt>
                <c:pt idx="21">
                  <c:v>0.001182</c:v>
                </c:pt>
                <c:pt idx="22">
                  <c:v>0.001254</c:v>
                </c:pt>
                <c:pt idx="23">
                  <c:v>0.001331</c:v>
                </c:pt>
                <c:pt idx="24">
                  <c:v>0.001406</c:v>
                </c:pt>
                <c:pt idx="25">
                  <c:v>0.001487</c:v>
                </c:pt>
                <c:pt idx="26">
                  <c:v>0.001581</c:v>
                </c:pt>
                <c:pt idx="27">
                  <c:v>0.001664</c:v>
                </c:pt>
                <c:pt idx="28">
                  <c:v>0.001748</c:v>
                </c:pt>
                <c:pt idx="29">
                  <c:v>0.001871</c:v>
                </c:pt>
                <c:pt idx="30">
                  <c:v>0.001987</c:v>
                </c:pt>
                <c:pt idx="31">
                  <c:v>0.002103</c:v>
                </c:pt>
                <c:pt idx="32">
                  <c:v>0.002235</c:v>
                </c:pt>
                <c:pt idx="33">
                  <c:v>0.002361</c:v>
                </c:pt>
                <c:pt idx="34">
                  <c:v>0.002484</c:v>
                </c:pt>
                <c:pt idx="35">
                  <c:v>0.002602</c:v>
                </c:pt>
                <c:pt idx="36">
                  <c:v>0.002768</c:v>
                </c:pt>
                <c:pt idx="37">
                  <c:v>0.002976</c:v>
                </c:pt>
                <c:pt idx="38">
                  <c:v>0.003107</c:v>
                </c:pt>
                <c:pt idx="39">
                  <c:v>0.003265</c:v>
                </c:pt>
                <c:pt idx="40">
                  <c:v>0.003449</c:v>
                </c:pt>
                <c:pt idx="41">
                  <c:v>0.003661</c:v>
                </c:pt>
                <c:pt idx="42">
                  <c:v>0.003873</c:v>
                </c:pt>
                <c:pt idx="43">
                  <c:v>0.004095</c:v>
                </c:pt>
                <c:pt idx="44">
                  <c:v>0.004296</c:v>
                </c:pt>
                <c:pt idx="45">
                  <c:v>0.004515</c:v>
                </c:pt>
                <c:pt idx="46">
                  <c:v>0.004776</c:v>
                </c:pt>
                <c:pt idx="47">
                  <c:v>0.005123</c:v>
                </c:pt>
                <c:pt idx="48">
                  <c:v>0.005465</c:v>
                </c:pt>
                <c:pt idx="49">
                  <c:v>0.005749</c:v>
                </c:pt>
                <c:pt idx="50">
                  <c:v>0.006052</c:v>
                </c:pt>
                <c:pt idx="51">
                  <c:v>0.006417</c:v>
                </c:pt>
                <c:pt idx="52">
                  <c:v>0.006891</c:v>
                </c:pt>
                <c:pt idx="53">
                  <c:v>0.007331</c:v>
                </c:pt>
                <c:pt idx="54">
                  <c:v>0.007787</c:v>
                </c:pt>
                <c:pt idx="55">
                  <c:v>0.008334</c:v>
                </c:pt>
                <c:pt idx="56">
                  <c:v>0.008805</c:v>
                </c:pt>
                <c:pt idx="57">
                  <c:v>0.009326</c:v>
                </c:pt>
                <c:pt idx="58">
                  <c:v>0.009901</c:v>
                </c:pt>
                <c:pt idx="59">
                  <c:v>0.01055</c:v>
                </c:pt>
                <c:pt idx="60">
                  <c:v>0.011148</c:v>
                </c:pt>
                <c:pt idx="61">
                  <c:v>0.011797</c:v>
                </c:pt>
                <c:pt idx="62">
                  <c:v>0.012623</c:v>
                </c:pt>
                <c:pt idx="63">
                  <c:v>0.013465</c:v>
                </c:pt>
                <c:pt idx="64">
                  <c:v>0.014349</c:v>
                </c:pt>
                <c:pt idx="65">
                  <c:v>0.015286</c:v>
                </c:pt>
                <c:pt idx="66">
                  <c:v>0.016157</c:v>
                </c:pt>
                <c:pt idx="67">
                  <c:v>0.017178</c:v>
                </c:pt>
                <c:pt idx="68">
                  <c:v>0.018362</c:v>
                </c:pt>
                <c:pt idx="69">
                  <c:v>0.019795</c:v>
                </c:pt>
                <c:pt idx="70">
                  <c:v>0.021247</c:v>
                </c:pt>
                <c:pt idx="71">
                  <c:v>0.022312</c:v>
                </c:pt>
                <c:pt idx="72">
                  <c:v>0.024351</c:v>
                </c:pt>
                <c:pt idx="73">
                  <c:v>0.026623</c:v>
                </c:pt>
                <c:pt idx="74">
                  <c:v>0.028872</c:v>
                </c:pt>
                <c:pt idx="75">
                  <c:v>0.0309</c:v>
                </c:pt>
                <c:pt idx="76">
                  <c:v>0.033361</c:v>
                </c:pt>
                <c:pt idx="77">
                  <c:v>0.036237</c:v>
                </c:pt>
                <c:pt idx="78">
                  <c:v>0.039321</c:v>
                </c:pt>
                <c:pt idx="79">
                  <c:v>0.043268</c:v>
                </c:pt>
                <c:pt idx="80">
                  <c:v>0.047091</c:v>
                </c:pt>
                <c:pt idx="81">
                  <c:v>0.052034</c:v>
                </c:pt>
                <c:pt idx="82">
                  <c:v>0.058257</c:v>
                </c:pt>
                <c:pt idx="83">
                  <c:v>0.064053</c:v>
                </c:pt>
                <c:pt idx="84">
                  <c:v>0.071757</c:v>
                </c:pt>
                <c:pt idx="85">
                  <c:v>0.079624</c:v>
                </c:pt>
                <c:pt idx="86">
                  <c:v>0.090916</c:v>
                </c:pt>
                <c:pt idx="87">
                  <c:v>0.100796</c:v>
                </c:pt>
                <c:pt idx="88">
                  <c:v>0.113473</c:v>
                </c:pt>
                <c:pt idx="89">
                  <c:v>0.129923</c:v>
                </c:pt>
                <c:pt idx="90">
                  <c:v>0.147191</c:v>
                </c:pt>
                <c:pt idx="91">
                  <c:v>0.167994</c:v>
                </c:pt>
                <c:pt idx="92">
                  <c:v>0.189614</c:v>
                </c:pt>
                <c:pt idx="93">
                  <c:v>0.218839</c:v>
                </c:pt>
                <c:pt idx="94">
                  <c:v>0.268761</c:v>
                </c:pt>
                <c:pt idx="95">
                  <c:v>0.329265</c:v>
                </c:pt>
                <c:pt idx="96">
                  <c:v>0.42494</c:v>
                </c:pt>
                <c:pt idx="97">
                  <c:v>0.571665</c:v>
                </c:pt>
                <c:pt idx="98">
                  <c:v>0.779005</c:v>
                </c:pt>
                <c:pt idx="99">
                  <c:v>0.957499</c:v>
                </c:pt>
                <c:pt idx="100">
                  <c:v>0.995838</c:v>
                </c:pt>
                <c:pt idx="101">
                  <c:v>0.999078</c:v>
                </c:pt>
              </c:numCache>
            </c:numRef>
          </c:xVal>
          <c:yVal>
            <c:numRef>
              <c:f>'Chart Data'!$B$2:$B$103</c:f>
              <c:numCache>
                <c:formatCode>0.0</c:formatCode>
                <c:ptCount val="102"/>
                <c:pt idx="0">
                  <c:v>0.047288</c:v>
                </c:pt>
                <c:pt idx="1">
                  <c:v>0.047763</c:v>
                </c:pt>
                <c:pt idx="2">
                  <c:v>0.048249</c:v>
                </c:pt>
                <c:pt idx="3">
                  <c:v>0.048744</c:v>
                </c:pt>
                <c:pt idx="4">
                  <c:v>0.04925</c:v>
                </c:pt>
                <c:pt idx="5">
                  <c:v>0.049766</c:v>
                </c:pt>
                <c:pt idx="6">
                  <c:v>0.050294</c:v>
                </c:pt>
                <c:pt idx="7">
                  <c:v>0.050832</c:v>
                </c:pt>
                <c:pt idx="8">
                  <c:v>0.051382</c:v>
                </c:pt>
                <c:pt idx="9">
                  <c:v>0.051945</c:v>
                </c:pt>
                <c:pt idx="10">
                  <c:v>0.052519</c:v>
                </c:pt>
                <c:pt idx="11">
                  <c:v>0.053107</c:v>
                </c:pt>
                <c:pt idx="12">
                  <c:v>0.053708</c:v>
                </c:pt>
                <c:pt idx="13">
                  <c:v>0.054322</c:v>
                </c:pt>
                <c:pt idx="14">
                  <c:v>0.054951</c:v>
                </c:pt>
                <c:pt idx="15">
                  <c:v>0.055595</c:v>
                </c:pt>
                <c:pt idx="16">
                  <c:v>0.056254</c:v>
                </c:pt>
                <c:pt idx="17">
                  <c:v>0.056928</c:v>
                </c:pt>
                <c:pt idx="18">
                  <c:v>0.057327</c:v>
                </c:pt>
                <c:pt idx="19">
                  <c:v>0.058031</c:v>
                </c:pt>
                <c:pt idx="20">
                  <c:v>0.058753</c:v>
                </c:pt>
                <c:pt idx="21">
                  <c:v>0.059493</c:v>
                </c:pt>
                <c:pt idx="22">
                  <c:v>0.060252</c:v>
                </c:pt>
                <c:pt idx="23">
                  <c:v>0.061031</c:v>
                </c:pt>
                <c:pt idx="24">
                  <c:v>0.06183</c:v>
                </c:pt>
                <c:pt idx="25">
                  <c:v>0.06265</c:v>
                </c:pt>
                <c:pt idx="26">
                  <c:v>0.063492</c:v>
                </c:pt>
                <c:pt idx="27">
                  <c:v>0.064357</c:v>
                </c:pt>
                <c:pt idx="28">
                  <c:v>0.06508</c:v>
                </c:pt>
                <c:pt idx="29">
                  <c:v>0.065823</c:v>
                </c:pt>
                <c:pt idx="30">
                  <c:v>0.066769</c:v>
                </c:pt>
                <c:pt idx="31">
                  <c:v>0.067558</c:v>
                </c:pt>
                <c:pt idx="32">
                  <c:v>0.068546</c:v>
                </c:pt>
                <c:pt idx="33">
                  <c:v>0.069385</c:v>
                </c:pt>
                <c:pt idx="34">
                  <c:v>0.070249</c:v>
                </c:pt>
                <c:pt idx="35">
                  <c:v>0.071336</c:v>
                </c:pt>
                <c:pt idx="36">
                  <c:v>0.072258</c:v>
                </c:pt>
                <c:pt idx="37">
                  <c:v>0.073398</c:v>
                </c:pt>
                <c:pt idx="38">
                  <c:v>0.074575</c:v>
                </c:pt>
                <c:pt idx="39">
                  <c:v>0.07579</c:v>
                </c:pt>
                <c:pt idx="40">
                  <c:v>0.077046</c:v>
                </c:pt>
                <c:pt idx="41">
                  <c:v>0.078141</c:v>
                </c:pt>
                <c:pt idx="42">
                  <c:v>0.07886</c:v>
                </c:pt>
                <c:pt idx="43">
                  <c:v>0.080235</c:v>
                </c:pt>
                <c:pt idx="44">
                  <c:v>0.081659</c:v>
                </c:pt>
                <c:pt idx="45">
                  <c:v>0.083134</c:v>
                </c:pt>
                <c:pt idx="46">
                  <c:v>0.084663</c:v>
                </c:pt>
                <c:pt idx="47">
                  <c:v>0.086024</c:v>
                </c:pt>
                <c:pt idx="48">
                  <c:v>0.087437</c:v>
                </c:pt>
                <c:pt idx="49">
                  <c:v>0.088905</c:v>
                </c:pt>
                <c:pt idx="50">
                  <c:v>0.090431</c:v>
                </c:pt>
                <c:pt idx="51">
                  <c:v>0.092019</c:v>
                </c:pt>
                <c:pt idx="52">
                  <c:v>0.093672</c:v>
                </c:pt>
                <c:pt idx="53">
                  <c:v>0.095141</c:v>
                </c:pt>
                <c:pt idx="54">
                  <c:v>0.097193</c:v>
                </c:pt>
                <c:pt idx="55">
                  <c:v>0.098805</c:v>
                </c:pt>
                <c:pt idx="56">
                  <c:v>0.101032</c:v>
                </c:pt>
                <c:pt idx="57">
                  <c:v>0.103084</c:v>
                </c:pt>
                <c:pt idx="58">
                  <c:v>0.104664</c:v>
                </c:pt>
                <c:pt idx="59">
                  <c:v>0.106904</c:v>
                </c:pt>
                <c:pt idx="60">
                  <c:v>0.109585</c:v>
                </c:pt>
                <c:pt idx="61">
                  <c:v>0.111758</c:v>
                </c:pt>
                <c:pt idx="62">
                  <c:v>0.114672</c:v>
                </c:pt>
                <c:pt idx="63">
                  <c:v>0.116167</c:v>
                </c:pt>
                <c:pt idx="64">
                  <c:v>0.119363</c:v>
                </c:pt>
                <c:pt idx="65">
                  <c:v>0.1224</c:v>
                </c:pt>
                <c:pt idx="66">
                  <c:v>0.125263</c:v>
                </c:pt>
                <c:pt idx="67">
                  <c:v>0.129021</c:v>
                </c:pt>
                <c:pt idx="68">
                  <c:v>0.132638</c:v>
                </c:pt>
                <c:pt idx="69">
                  <c:v>0.136101</c:v>
                </c:pt>
                <c:pt idx="70">
                  <c:v>0.139849</c:v>
                </c:pt>
                <c:pt idx="71">
                  <c:v>0.144207</c:v>
                </c:pt>
                <c:pt idx="72">
                  <c:v>0.148447</c:v>
                </c:pt>
                <c:pt idx="73">
                  <c:v>0.152116</c:v>
                </c:pt>
                <c:pt idx="74">
                  <c:v>0.155606</c:v>
                </c:pt>
                <c:pt idx="75">
                  <c:v>0.160324</c:v>
                </c:pt>
                <c:pt idx="76">
                  <c:v>0.165428</c:v>
                </c:pt>
                <c:pt idx="77">
                  <c:v>0.170455</c:v>
                </c:pt>
                <c:pt idx="78">
                  <c:v>0.176471</c:v>
                </c:pt>
                <c:pt idx="79">
                  <c:v>0.183616</c:v>
                </c:pt>
                <c:pt idx="80">
                  <c:v>0.191464</c:v>
                </c:pt>
                <c:pt idx="81">
                  <c:v>0.199501</c:v>
                </c:pt>
                <c:pt idx="82">
                  <c:v>0.208416</c:v>
                </c:pt>
                <c:pt idx="83">
                  <c:v>0.218359</c:v>
                </c:pt>
                <c:pt idx="84">
                  <c:v>0.228782</c:v>
                </c:pt>
                <c:pt idx="85">
                  <c:v>0.23978</c:v>
                </c:pt>
                <c:pt idx="86">
                  <c:v>0.250631</c:v>
                </c:pt>
                <c:pt idx="87">
                  <c:v>0.266727</c:v>
                </c:pt>
                <c:pt idx="88">
                  <c:v>0.278592</c:v>
                </c:pt>
                <c:pt idx="89">
                  <c:v>0.301064</c:v>
                </c:pt>
                <c:pt idx="90">
                  <c:v>0.324387</c:v>
                </c:pt>
                <c:pt idx="91">
                  <c:v>0.354005</c:v>
                </c:pt>
                <c:pt idx="92">
                  <c:v>0.383502</c:v>
                </c:pt>
                <c:pt idx="93">
                  <c:v>0.414474</c:v>
                </c:pt>
                <c:pt idx="94">
                  <c:v>0.453333</c:v>
                </c:pt>
                <c:pt idx="95">
                  <c:v>0.513575</c:v>
                </c:pt>
                <c:pt idx="96">
                  <c:v>0.612813</c:v>
                </c:pt>
                <c:pt idx="97">
                  <c:v>0.706522</c:v>
                </c:pt>
                <c:pt idx="98">
                  <c:v>0.823834</c:v>
                </c:pt>
                <c:pt idx="99">
                  <c:v>0.963636</c:v>
                </c:pt>
                <c:pt idx="100">
                  <c:v>1</c:v>
                </c:pt>
                <c:pt idx="101">
                  <c:v>1</c:v>
                </c:pt>
              </c:numCache>
            </c:numRef>
          </c:yVal>
        </c:ser>
        <c:ser>
          <c:idx val="1"/>
          <c:order val="1"/>
          <c:tx>
            <c:v>Recall</c:v>
          </c:tx>
          <c:spPr>
            <a:ln xmlns:a="http://schemas.openxmlformats.org/drawingml/2006/main" w="28575">
              <a:solidFill>
                <a:srgbClr val="007F78"/>
              </a:solidFill>
            </a:ln>
          </c:spPr>
          <c:marker>
            <c:symbol val="none"/>
          </c:marker>
          <c:xVal>
            <c:numRef>
              <c:f>'Chart Data'!$C$2:$C$103</c:f>
              <c:numCache>
                <c:formatCode>General</c:formatCode>
                <c:ptCount val="102"/>
                <c:pt idx="0">
                  <c:v>5E-06</c:v>
                </c:pt>
                <c:pt idx="1">
                  <c:v>0.000125</c:v>
                </c:pt>
                <c:pt idx="2">
                  <c:v>0.000196</c:v>
                </c:pt>
                <c:pt idx="3">
                  <c:v>0.000247</c:v>
                </c:pt>
                <c:pt idx="4">
                  <c:v>0.000298</c:v>
                </c:pt>
                <c:pt idx="5">
                  <c:v>0.000339</c:v>
                </c:pt>
                <c:pt idx="6">
                  <c:v>0.000386</c:v>
                </c:pt>
                <c:pt idx="7">
                  <c:v>0.000431</c:v>
                </c:pt>
                <c:pt idx="8">
                  <c:v>0.000469</c:v>
                </c:pt>
                <c:pt idx="9">
                  <c:v>0.000514</c:v>
                </c:pt>
                <c:pt idx="10">
                  <c:v>0.00056</c:v>
                </c:pt>
                <c:pt idx="11">
                  <c:v>0.000604</c:v>
                </c:pt>
                <c:pt idx="12">
                  <c:v>0.000663</c:v>
                </c:pt>
                <c:pt idx="13">
                  <c:v>0.000727</c:v>
                </c:pt>
                <c:pt idx="14">
                  <c:v>0.000775</c:v>
                </c:pt>
                <c:pt idx="15">
                  <c:v>0.000827</c:v>
                </c:pt>
                <c:pt idx="16">
                  <c:v>0.000878</c:v>
                </c:pt>
                <c:pt idx="17">
                  <c:v>0.000937</c:v>
                </c:pt>
                <c:pt idx="18">
                  <c:v>0.000995</c:v>
                </c:pt>
                <c:pt idx="19">
                  <c:v>0.001048</c:v>
                </c:pt>
                <c:pt idx="20">
                  <c:v>0.001111</c:v>
                </c:pt>
                <c:pt idx="21">
                  <c:v>0.001182</c:v>
                </c:pt>
                <c:pt idx="22">
                  <c:v>0.001254</c:v>
                </c:pt>
                <c:pt idx="23">
                  <c:v>0.001331</c:v>
                </c:pt>
                <c:pt idx="24">
                  <c:v>0.001406</c:v>
                </c:pt>
                <c:pt idx="25">
                  <c:v>0.001487</c:v>
                </c:pt>
                <c:pt idx="26">
                  <c:v>0.001581</c:v>
                </c:pt>
                <c:pt idx="27">
                  <c:v>0.001664</c:v>
                </c:pt>
                <c:pt idx="28">
                  <c:v>0.001748</c:v>
                </c:pt>
                <c:pt idx="29">
                  <c:v>0.001871</c:v>
                </c:pt>
                <c:pt idx="30">
                  <c:v>0.001987</c:v>
                </c:pt>
                <c:pt idx="31">
                  <c:v>0.002103</c:v>
                </c:pt>
                <c:pt idx="32">
                  <c:v>0.002235</c:v>
                </c:pt>
                <c:pt idx="33">
                  <c:v>0.002361</c:v>
                </c:pt>
                <c:pt idx="34">
                  <c:v>0.002484</c:v>
                </c:pt>
                <c:pt idx="35">
                  <c:v>0.002602</c:v>
                </c:pt>
                <c:pt idx="36">
                  <c:v>0.002768</c:v>
                </c:pt>
                <c:pt idx="37">
                  <c:v>0.002976</c:v>
                </c:pt>
                <c:pt idx="38">
                  <c:v>0.003107</c:v>
                </c:pt>
                <c:pt idx="39">
                  <c:v>0.003265</c:v>
                </c:pt>
                <c:pt idx="40">
                  <c:v>0.003449</c:v>
                </c:pt>
                <c:pt idx="41">
                  <c:v>0.003661</c:v>
                </c:pt>
                <c:pt idx="42">
                  <c:v>0.003873</c:v>
                </c:pt>
                <c:pt idx="43">
                  <c:v>0.004095</c:v>
                </c:pt>
                <c:pt idx="44">
                  <c:v>0.004296</c:v>
                </c:pt>
                <c:pt idx="45">
                  <c:v>0.004515</c:v>
                </c:pt>
                <c:pt idx="46">
                  <c:v>0.004776</c:v>
                </c:pt>
                <c:pt idx="47">
                  <c:v>0.005123</c:v>
                </c:pt>
                <c:pt idx="48">
                  <c:v>0.005465</c:v>
                </c:pt>
                <c:pt idx="49">
                  <c:v>0.005749</c:v>
                </c:pt>
                <c:pt idx="50">
                  <c:v>0.006052</c:v>
                </c:pt>
                <c:pt idx="51">
                  <c:v>0.006417</c:v>
                </c:pt>
                <c:pt idx="52">
                  <c:v>0.006891</c:v>
                </c:pt>
                <c:pt idx="53">
                  <c:v>0.007331</c:v>
                </c:pt>
                <c:pt idx="54">
                  <c:v>0.007787</c:v>
                </c:pt>
                <c:pt idx="55">
                  <c:v>0.008334</c:v>
                </c:pt>
                <c:pt idx="56">
                  <c:v>0.008805</c:v>
                </c:pt>
                <c:pt idx="57">
                  <c:v>0.009326</c:v>
                </c:pt>
                <c:pt idx="58">
                  <c:v>0.009901</c:v>
                </c:pt>
                <c:pt idx="59">
                  <c:v>0.01055</c:v>
                </c:pt>
                <c:pt idx="60">
                  <c:v>0.011148</c:v>
                </c:pt>
                <c:pt idx="61">
                  <c:v>0.011797</c:v>
                </c:pt>
                <c:pt idx="62">
                  <c:v>0.012623</c:v>
                </c:pt>
                <c:pt idx="63">
                  <c:v>0.013465</c:v>
                </c:pt>
                <c:pt idx="64">
                  <c:v>0.014349</c:v>
                </c:pt>
                <c:pt idx="65">
                  <c:v>0.015286</c:v>
                </c:pt>
                <c:pt idx="66">
                  <c:v>0.016157</c:v>
                </c:pt>
                <c:pt idx="67">
                  <c:v>0.017178</c:v>
                </c:pt>
                <c:pt idx="68">
                  <c:v>0.018362</c:v>
                </c:pt>
                <c:pt idx="69">
                  <c:v>0.019795</c:v>
                </c:pt>
                <c:pt idx="70">
                  <c:v>0.021247</c:v>
                </c:pt>
                <c:pt idx="71">
                  <c:v>0.022312</c:v>
                </c:pt>
                <c:pt idx="72">
                  <c:v>0.024351</c:v>
                </c:pt>
                <c:pt idx="73">
                  <c:v>0.026623</c:v>
                </c:pt>
                <c:pt idx="74">
                  <c:v>0.028872</c:v>
                </c:pt>
                <c:pt idx="75">
                  <c:v>0.0309</c:v>
                </c:pt>
                <c:pt idx="76">
                  <c:v>0.033361</c:v>
                </c:pt>
                <c:pt idx="77">
                  <c:v>0.036237</c:v>
                </c:pt>
                <c:pt idx="78">
                  <c:v>0.039321</c:v>
                </c:pt>
                <c:pt idx="79">
                  <c:v>0.043268</c:v>
                </c:pt>
                <c:pt idx="80">
                  <c:v>0.047091</c:v>
                </c:pt>
                <c:pt idx="81">
                  <c:v>0.052034</c:v>
                </c:pt>
                <c:pt idx="82">
                  <c:v>0.058257</c:v>
                </c:pt>
                <c:pt idx="83">
                  <c:v>0.064053</c:v>
                </c:pt>
                <c:pt idx="84">
                  <c:v>0.071757</c:v>
                </c:pt>
                <c:pt idx="85">
                  <c:v>0.079624</c:v>
                </c:pt>
                <c:pt idx="86">
                  <c:v>0.090916</c:v>
                </c:pt>
                <c:pt idx="87">
                  <c:v>0.100796</c:v>
                </c:pt>
                <c:pt idx="88">
                  <c:v>0.113473</c:v>
                </c:pt>
                <c:pt idx="89">
                  <c:v>0.129923</c:v>
                </c:pt>
                <c:pt idx="90">
                  <c:v>0.147191</c:v>
                </c:pt>
                <c:pt idx="91">
                  <c:v>0.167994</c:v>
                </c:pt>
                <c:pt idx="92">
                  <c:v>0.189614</c:v>
                </c:pt>
                <c:pt idx="93">
                  <c:v>0.218839</c:v>
                </c:pt>
                <c:pt idx="94">
                  <c:v>0.268761</c:v>
                </c:pt>
                <c:pt idx="95">
                  <c:v>0.329265</c:v>
                </c:pt>
                <c:pt idx="96">
                  <c:v>0.42494</c:v>
                </c:pt>
                <c:pt idx="97">
                  <c:v>0.571665</c:v>
                </c:pt>
                <c:pt idx="98">
                  <c:v>0.779005</c:v>
                </c:pt>
                <c:pt idx="99">
                  <c:v>0.957499</c:v>
                </c:pt>
                <c:pt idx="100">
                  <c:v>0.995838</c:v>
                </c:pt>
                <c:pt idx="101">
                  <c:v>0.999078</c:v>
                </c:pt>
              </c:numCache>
            </c:numRef>
          </c:xVal>
          <c:yVal>
            <c:numRef>
              <c:f>'Chart Data'!$D$2:$D$103</c:f>
              <c:numCache>
                <c:formatCode>0.0</c:formatCode>
                <c:ptCount val="102"/>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0.994924</c:v>
                </c:pt>
                <c:pt idx="19">
                  <c:v>0.994924</c:v>
                </c:pt>
                <c:pt idx="20">
                  <c:v>0.994924</c:v>
                </c:pt>
                <c:pt idx="21">
                  <c:v>0.994924</c:v>
                </c:pt>
                <c:pt idx="22">
                  <c:v>0.994924</c:v>
                </c:pt>
                <c:pt idx="23">
                  <c:v>0.994924</c:v>
                </c:pt>
                <c:pt idx="24">
                  <c:v>0.994924</c:v>
                </c:pt>
                <c:pt idx="25">
                  <c:v>0.994924</c:v>
                </c:pt>
                <c:pt idx="26">
                  <c:v>0.994924</c:v>
                </c:pt>
                <c:pt idx="27">
                  <c:v>0.994924</c:v>
                </c:pt>
                <c:pt idx="28">
                  <c:v>0.992386</c:v>
                </c:pt>
                <c:pt idx="29">
                  <c:v>0.989848</c:v>
                </c:pt>
                <c:pt idx="30">
                  <c:v>0.989848</c:v>
                </c:pt>
                <c:pt idx="31">
                  <c:v>0.98731</c:v>
                </c:pt>
                <c:pt idx="32">
                  <c:v>0.98731</c:v>
                </c:pt>
                <c:pt idx="33">
                  <c:v>0.984772</c:v>
                </c:pt>
                <c:pt idx="34">
                  <c:v>0.982234</c:v>
                </c:pt>
                <c:pt idx="35">
                  <c:v>0.982234</c:v>
                </c:pt>
                <c:pt idx="36">
                  <c:v>0.979695</c:v>
                </c:pt>
                <c:pt idx="37">
                  <c:v>0.979695</c:v>
                </c:pt>
                <c:pt idx="38">
                  <c:v>0.979695</c:v>
                </c:pt>
                <c:pt idx="39">
                  <c:v>0.979695</c:v>
                </c:pt>
                <c:pt idx="40">
                  <c:v>0.979695</c:v>
                </c:pt>
                <c:pt idx="41">
                  <c:v>0.977157</c:v>
                </c:pt>
                <c:pt idx="42">
                  <c:v>0.969543</c:v>
                </c:pt>
                <c:pt idx="43">
                  <c:v>0.969543</c:v>
                </c:pt>
                <c:pt idx="44">
                  <c:v>0.969543</c:v>
                </c:pt>
                <c:pt idx="45">
                  <c:v>0.969543</c:v>
                </c:pt>
                <c:pt idx="46">
                  <c:v>0.969543</c:v>
                </c:pt>
                <c:pt idx="47">
                  <c:v>0.967005</c:v>
                </c:pt>
                <c:pt idx="48">
                  <c:v>0.964467</c:v>
                </c:pt>
                <c:pt idx="49">
                  <c:v>0.961929</c:v>
                </c:pt>
                <c:pt idx="50">
                  <c:v>0.959391</c:v>
                </c:pt>
                <c:pt idx="51">
                  <c:v>0.956853</c:v>
                </c:pt>
                <c:pt idx="52">
                  <c:v>0.954315</c:v>
                </c:pt>
                <c:pt idx="53">
                  <c:v>0.949239</c:v>
                </c:pt>
                <c:pt idx="54">
                  <c:v>0.949239</c:v>
                </c:pt>
                <c:pt idx="55">
                  <c:v>0.944162</c:v>
                </c:pt>
                <c:pt idx="56">
                  <c:v>0.944162</c:v>
                </c:pt>
                <c:pt idx="57">
                  <c:v>0.941624</c:v>
                </c:pt>
                <c:pt idx="58">
                  <c:v>0.93401</c:v>
                </c:pt>
                <c:pt idx="59">
                  <c:v>0.931472</c:v>
                </c:pt>
                <c:pt idx="60">
                  <c:v>0.931472</c:v>
                </c:pt>
                <c:pt idx="61">
                  <c:v>0.926396</c:v>
                </c:pt>
                <c:pt idx="62">
                  <c:v>0.926396</c:v>
                </c:pt>
                <c:pt idx="63">
                  <c:v>0.913706</c:v>
                </c:pt>
                <c:pt idx="64">
                  <c:v>0.913706</c:v>
                </c:pt>
                <c:pt idx="65">
                  <c:v>0.911168</c:v>
                </c:pt>
                <c:pt idx="66">
                  <c:v>0.906091</c:v>
                </c:pt>
                <c:pt idx="67">
                  <c:v>0.906091</c:v>
                </c:pt>
                <c:pt idx="68">
                  <c:v>0.903553</c:v>
                </c:pt>
                <c:pt idx="69">
                  <c:v>0.898477</c:v>
                </c:pt>
                <c:pt idx="70">
                  <c:v>0.893401</c:v>
                </c:pt>
                <c:pt idx="71">
                  <c:v>0.890863</c:v>
                </c:pt>
                <c:pt idx="72">
                  <c:v>0.885787</c:v>
                </c:pt>
                <c:pt idx="73">
                  <c:v>0.875635</c:v>
                </c:pt>
                <c:pt idx="74">
                  <c:v>0.862944</c:v>
                </c:pt>
                <c:pt idx="75">
                  <c:v>0.85533</c:v>
                </c:pt>
                <c:pt idx="76">
                  <c:v>0.847716</c:v>
                </c:pt>
                <c:pt idx="77">
                  <c:v>0.837563</c:v>
                </c:pt>
                <c:pt idx="78">
                  <c:v>0.829949</c:v>
                </c:pt>
                <c:pt idx="79">
                  <c:v>0.824873</c:v>
                </c:pt>
                <c:pt idx="80">
                  <c:v>0.819797</c:v>
                </c:pt>
                <c:pt idx="81">
                  <c:v>0.812183</c:v>
                </c:pt>
                <c:pt idx="82">
                  <c:v>0.804569</c:v>
                </c:pt>
                <c:pt idx="83">
                  <c:v>0.796954</c:v>
                </c:pt>
                <c:pt idx="84">
                  <c:v>0.786802</c:v>
                </c:pt>
                <c:pt idx="85">
                  <c:v>0.774112</c:v>
                </c:pt>
                <c:pt idx="86">
                  <c:v>0.756345</c:v>
                </c:pt>
                <c:pt idx="87">
                  <c:v>0.748731</c:v>
                </c:pt>
                <c:pt idx="88">
                  <c:v>0.72335</c:v>
                </c:pt>
                <c:pt idx="89">
                  <c:v>0.718274</c:v>
                </c:pt>
                <c:pt idx="90">
                  <c:v>0.705584</c:v>
                </c:pt>
                <c:pt idx="91">
                  <c:v>0.695431</c:v>
                </c:pt>
                <c:pt idx="92">
                  <c:v>0.672589</c:v>
                </c:pt>
                <c:pt idx="93">
                  <c:v>0.639594</c:v>
                </c:pt>
                <c:pt idx="94">
                  <c:v>0.604061</c:v>
                </c:pt>
                <c:pt idx="95">
                  <c:v>0.576142</c:v>
                </c:pt>
                <c:pt idx="96">
                  <c:v>0.558376</c:v>
                </c:pt>
                <c:pt idx="97">
                  <c:v>0.494924</c:v>
                </c:pt>
                <c:pt idx="98">
                  <c:v>0.403553</c:v>
                </c:pt>
                <c:pt idx="99">
                  <c:v>0.269036</c:v>
                </c:pt>
                <c:pt idx="100">
                  <c:v>0.068528</c:v>
                </c:pt>
                <c:pt idx="101">
                  <c:v>0.002538</c:v>
                </c:pt>
              </c:numCache>
            </c:numRef>
          </c:yVal>
        </c:ser>
        <c:ser>
          <c:idx val="2"/>
          <c:order val="2"/>
          <c:tx>
            <c:v>F2</c:v>
          </c:tx>
          <c:spPr>
            <a:ln xmlns:a="http://schemas.openxmlformats.org/drawingml/2006/main" w="19050">
              <a:solidFill>
                <a:srgbClr val="C35A43"/>
              </a:solidFill>
            </a:ln>
          </c:spPr>
          <c:marker>
            <c:symbol val="none"/>
          </c:marker>
          <c:xVal>
            <c:numRef>
              <c:f>'Chart Data'!$E$2:$E$103</c:f>
              <c:numCache>
                <c:formatCode>General</c:formatCode>
                <c:ptCount val="102"/>
                <c:pt idx="0">
                  <c:v>5E-06</c:v>
                </c:pt>
                <c:pt idx="1">
                  <c:v>0.000125</c:v>
                </c:pt>
                <c:pt idx="2">
                  <c:v>0.000196</c:v>
                </c:pt>
                <c:pt idx="3">
                  <c:v>0.000247</c:v>
                </c:pt>
                <c:pt idx="4">
                  <c:v>0.000298</c:v>
                </c:pt>
                <c:pt idx="5">
                  <c:v>0.000339</c:v>
                </c:pt>
                <c:pt idx="6">
                  <c:v>0.000386</c:v>
                </c:pt>
                <c:pt idx="7">
                  <c:v>0.000431</c:v>
                </c:pt>
                <c:pt idx="8">
                  <c:v>0.000469</c:v>
                </c:pt>
                <c:pt idx="9">
                  <c:v>0.000514</c:v>
                </c:pt>
                <c:pt idx="10">
                  <c:v>0.00056</c:v>
                </c:pt>
                <c:pt idx="11">
                  <c:v>0.000604</c:v>
                </c:pt>
                <c:pt idx="12">
                  <c:v>0.000663</c:v>
                </c:pt>
                <c:pt idx="13">
                  <c:v>0.000727</c:v>
                </c:pt>
                <c:pt idx="14">
                  <c:v>0.000775</c:v>
                </c:pt>
                <c:pt idx="15">
                  <c:v>0.000827</c:v>
                </c:pt>
                <c:pt idx="16">
                  <c:v>0.000878</c:v>
                </c:pt>
                <c:pt idx="17">
                  <c:v>0.000937</c:v>
                </c:pt>
                <c:pt idx="18">
                  <c:v>0.000995</c:v>
                </c:pt>
                <c:pt idx="19">
                  <c:v>0.001048</c:v>
                </c:pt>
                <c:pt idx="20">
                  <c:v>0.001111</c:v>
                </c:pt>
                <c:pt idx="21">
                  <c:v>0.001182</c:v>
                </c:pt>
                <c:pt idx="22">
                  <c:v>0.001254</c:v>
                </c:pt>
                <c:pt idx="23">
                  <c:v>0.001331</c:v>
                </c:pt>
                <c:pt idx="24">
                  <c:v>0.001406</c:v>
                </c:pt>
                <c:pt idx="25">
                  <c:v>0.001487</c:v>
                </c:pt>
                <c:pt idx="26">
                  <c:v>0.001581</c:v>
                </c:pt>
                <c:pt idx="27">
                  <c:v>0.001664</c:v>
                </c:pt>
                <c:pt idx="28">
                  <c:v>0.001748</c:v>
                </c:pt>
                <c:pt idx="29">
                  <c:v>0.001871</c:v>
                </c:pt>
                <c:pt idx="30">
                  <c:v>0.001987</c:v>
                </c:pt>
                <c:pt idx="31">
                  <c:v>0.002103</c:v>
                </c:pt>
                <c:pt idx="32">
                  <c:v>0.002235</c:v>
                </c:pt>
                <c:pt idx="33">
                  <c:v>0.002361</c:v>
                </c:pt>
                <c:pt idx="34">
                  <c:v>0.002484</c:v>
                </c:pt>
                <c:pt idx="35">
                  <c:v>0.002602</c:v>
                </c:pt>
                <c:pt idx="36">
                  <c:v>0.002768</c:v>
                </c:pt>
                <c:pt idx="37">
                  <c:v>0.002976</c:v>
                </c:pt>
                <c:pt idx="38">
                  <c:v>0.003107</c:v>
                </c:pt>
                <c:pt idx="39">
                  <c:v>0.003265</c:v>
                </c:pt>
                <c:pt idx="40">
                  <c:v>0.003449</c:v>
                </c:pt>
                <c:pt idx="41">
                  <c:v>0.003661</c:v>
                </c:pt>
                <c:pt idx="42">
                  <c:v>0.003873</c:v>
                </c:pt>
                <c:pt idx="43">
                  <c:v>0.004095</c:v>
                </c:pt>
                <c:pt idx="44">
                  <c:v>0.004296</c:v>
                </c:pt>
                <c:pt idx="45">
                  <c:v>0.004515</c:v>
                </c:pt>
                <c:pt idx="46">
                  <c:v>0.004776</c:v>
                </c:pt>
                <c:pt idx="47">
                  <c:v>0.005123</c:v>
                </c:pt>
                <c:pt idx="48">
                  <c:v>0.005465</c:v>
                </c:pt>
                <c:pt idx="49">
                  <c:v>0.005749</c:v>
                </c:pt>
                <c:pt idx="50">
                  <c:v>0.006052</c:v>
                </c:pt>
                <c:pt idx="51">
                  <c:v>0.006417</c:v>
                </c:pt>
                <c:pt idx="52">
                  <c:v>0.006891</c:v>
                </c:pt>
                <c:pt idx="53">
                  <c:v>0.007331</c:v>
                </c:pt>
                <c:pt idx="54">
                  <c:v>0.007787</c:v>
                </c:pt>
                <c:pt idx="55">
                  <c:v>0.008334</c:v>
                </c:pt>
                <c:pt idx="56">
                  <c:v>0.008805</c:v>
                </c:pt>
                <c:pt idx="57">
                  <c:v>0.009326</c:v>
                </c:pt>
                <c:pt idx="58">
                  <c:v>0.009901</c:v>
                </c:pt>
                <c:pt idx="59">
                  <c:v>0.01055</c:v>
                </c:pt>
                <c:pt idx="60">
                  <c:v>0.011148</c:v>
                </c:pt>
                <c:pt idx="61">
                  <c:v>0.011797</c:v>
                </c:pt>
                <c:pt idx="62">
                  <c:v>0.012623</c:v>
                </c:pt>
                <c:pt idx="63">
                  <c:v>0.013465</c:v>
                </c:pt>
                <c:pt idx="64">
                  <c:v>0.014349</c:v>
                </c:pt>
                <c:pt idx="65">
                  <c:v>0.015286</c:v>
                </c:pt>
                <c:pt idx="66">
                  <c:v>0.016157</c:v>
                </c:pt>
                <c:pt idx="67">
                  <c:v>0.017178</c:v>
                </c:pt>
                <c:pt idx="68">
                  <c:v>0.018362</c:v>
                </c:pt>
                <c:pt idx="69">
                  <c:v>0.019795</c:v>
                </c:pt>
                <c:pt idx="70">
                  <c:v>0.021247</c:v>
                </c:pt>
                <c:pt idx="71">
                  <c:v>0.022312</c:v>
                </c:pt>
                <c:pt idx="72">
                  <c:v>0.024351</c:v>
                </c:pt>
                <c:pt idx="73">
                  <c:v>0.026623</c:v>
                </c:pt>
                <c:pt idx="74">
                  <c:v>0.028872</c:v>
                </c:pt>
                <c:pt idx="75">
                  <c:v>0.0309</c:v>
                </c:pt>
                <c:pt idx="76">
                  <c:v>0.033361</c:v>
                </c:pt>
                <c:pt idx="77">
                  <c:v>0.036237</c:v>
                </c:pt>
                <c:pt idx="78">
                  <c:v>0.039321</c:v>
                </c:pt>
                <c:pt idx="79">
                  <c:v>0.043268</c:v>
                </c:pt>
                <c:pt idx="80">
                  <c:v>0.047091</c:v>
                </c:pt>
                <c:pt idx="81">
                  <c:v>0.052034</c:v>
                </c:pt>
                <c:pt idx="82">
                  <c:v>0.058257</c:v>
                </c:pt>
                <c:pt idx="83">
                  <c:v>0.064053</c:v>
                </c:pt>
                <c:pt idx="84">
                  <c:v>0.071757</c:v>
                </c:pt>
                <c:pt idx="85">
                  <c:v>0.079624</c:v>
                </c:pt>
                <c:pt idx="86">
                  <c:v>0.090916</c:v>
                </c:pt>
                <c:pt idx="87">
                  <c:v>0.100796</c:v>
                </c:pt>
                <c:pt idx="88">
                  <c:v>0.113473</c:v>
                </c:pt>
                <c:pt idx="89">
                  <c:v>0.129923</c:v>
                </c:pt>
                <c:pt idx="90">
                  <c:v>0.147191</c:v>
                </c:pt>
                <c:pt idx="91">
                  <c:v>0.167994</c:v>
                </c:pt>
                <c:pt idx="92">
                  <c:v>0.189614</c:v>
                </c:pt>
                <c:pt idx="93">
                  <c:v>0.218839</c:v>
                </c:pt>
                <c:pt idx="94">
                  <c:v>0.268761</c:v>
                </c:pt>
                <c:pt idx="95">
                  <c:v>0.329265</c:v>
                </c:pt>
                <c:pt idx="96">
                  <c:v>0.42494</c:v>
                </c:pt>
                <c:pt idx="97">
                  <c:v>0.571665</c:v>
                </c:pt>
                <c:pt idx="98">
                  <c:v>0.779005</c:v>
                </c:pt>
                <c:pt idx="99">
                  <c:v>0.957499</c:v>
                </c:pt>
                <c:pt idx="100">
                  <c:v>0.995838</c:v>
                </c:pt>
                <c:pt idx="101">
                  <c:v>0.999078</c:v>
                </c:pt>
              </c:numCache>
            </c:numRef>
          </c:xVal>
          <c:yVal>
            <c:numRef>
              <c:f>'Chart Data'!$F$2:$F$103</c:f>
              <c:numCache>
                <c:formatCode>0.0</c:formatCode>
                <c:ptCount val="102"/>
                <c:pt idx="0">
                  <c:v>0.198829</c:v>
                </c:pt>
                <c:pt idx="1">
                  <c:v>0.200509</c:v>
                </c:pt>
                <c:pt idx="2">
                  <c:v>0.202217</c:v>
                </c:pt>
                <c:pt idx="3">
                  <c:v>0.203955</c:v>
                </c:pt>
                <c:pt idx="4">
                  <c:v>0.205723</c:v>
                </c:pt>
                <c:pt idx="5">
                  <c:v>0.207521</c:v>
                </c:pt>
                <c:pt idx="6">
                  <c:v>0.209352</c:v>
                </c:pt>
                <c:pt idx="7">
                  <c:v>0.211215</c:v>
                </c:pt>
                <c:pt idx="8">
                  <c:v>0.213111</c:v>
                </c:pt>
                <c:pt idx="9">
                  <c:v>0.215042</c:v>
                </c:pt>
                <c:pt idx="10">
                  <c:v>0.217008</c:v>
                </c:pt>
                <c:pt idx="11">
                  <c:v>0.219011</c:v>
                </c:pt>
                <c:pt idx="12">
                  <c:v>0.22105</c:v>
                </c:pt>
                <c:pt idx="13">
                  <c:v>0.223128</c:v>
                </c:pt>
                <c:pt idx="14">
                  <c:v>0.225246</c:v>
                </c:pt>
                <c:pt idx="15">
                  <c:v>0.227404</c:v>
                </c:pt>
                <c:pt idx="16">
                  <c:v>0.229604</c:v>
                </c:pt>
                <c:pt idx="17">
                  <c:v>0.231847</c:v>
                </c:pt>
                <c:pt idx="18">
                  <c:v>0.232945</c:v>
                </c:pt>
                <c:pt idx="19">
                  <c:v>0.235266</c:v>
                </c:pt>
                <c:pt idx="20">
                  <c:v>0.237633</c:v>
                </c:pt>
                <c:pt idx="21">
                  <c:v>0.240049</c:v>
                </c:pt>
                <c:pt idx="22">
                  <c:v>0.242514</c:v>
                </c:pt>
                <c:pt idx="23">
                  <c:v>0.245031</c:v>
                </c:pt>
                <c:pt idx="24">
                  <c:v>0.2476</c:v>
                </c:pt>
                <c:pt idx="25">
                  <c:v>0.250223</c:v>
                </c:pt>
                <c:pt idx="26">
                  <c:v>0.252903</c:v>
                </c:pt>
                <c:pt idx="27">
                  <c:v>0.255641</c:v>
                </c:pt>
                <c:pt idx="28">
                  <c:v>0.25778</c:v>
                </c:pt>
                <c:pt idx="29">
                  <c:v>0.259965</c:v>
                </c:pt>
                <c:pt idx="30">
                  <c:v>0.26291</c:v>
                </c:pt>
                <c:pt idx="31">
                  <c:v>0.265203</c:v>
                </c:pt>
                <c:pt idx="32">
                  <c:v>0.268239</c:v>
                </c:pt>
                <c:pt idx="33">
                  <c:v>0.270647</c:v>
                </c:pt>
                <c:pt idx="34">
                  <c:v>0.273112</c:v>
                </c:pt>
                <c:pt idx="35">
                  <c:v>0.276389</c:v>
                </c:pt>
                <c:pt idx="36">
                  <c:v>0.278982</c:v>
                </c:pt>
                <c:pt idx="37">
                  <c:v>0.28237</c:v>
                </c:pt>
                <c:pt idx="38">
                  <c:v>0.285841</c:v>
                </c:pt>
                <c:pt idx="39">
                  <c:v>0.289399</c:v>
                </c:pt>
                <c:pt idx="40">
                  <c:v>0.293046</c:v>
                </c:pt>
                <c:pt idx="41">
                  <c:v>0.296017</c:v>
                </c:pt>
                <c:pt idx="42">
                  <c:v>0.297508</c:v>
                </c:pt>
                <c:pt idx="43">
                  <c:v>0.301404</c:v>
                </c:pt>
                <c:pt idx="44">
                  <c:v>0.305405</c:v>
                </c:pt>
                <c:pt idx="45">
                  <c:v>0.309512</c:v>
                </c:pt>
                <c:pt idx="46">
                  <c:v>0.313732</c:v>
                </c:pt>
                <c:pt idx="47">
                  <c:v>0.317236</c:v>
                </c:pt>
                <c:pt idx="48">
                  <c:v>0.320838</c:v>
                </c:pt>
                <c:pt idx="49">
                  <c:v>0.324542</c:v>
                </c:pt>
                <c:pt idx="50">
                  <c:v>0.328353</c:v>
                </c:pt>
                <c:pt idx="51">
                  <c:v>0.332276</c:v>
                </c:pt>
                <c:pt idx="52">
                  <c:v>0.336315</c:v>
                </c:pt>
                <c:pt idx="53">
                  <c:v>0.339568</c:v>
                </c:pt>
                <c:pt idx="54">
                  <c:v>0.344764</c:v>
                </c:pt>
                <c:pt idx="55">
                  <c:v>0.348249</c:v>
                </c:pt>
                <c:pt idx="56">
                  <c:v>0.353747</c:v>
                </c:pt>
                <c:pt idx="57">
                  <c:v>0.358454</c:v>
                </c:pt>
                <c:pt idx="58">
                  <c:v>0.361351</c:v>
                </c:pt>
                <c:pt idx="59">
                  <c:v>0.366341</c:v>
                </c:pt>
                <c:pt idx="60">
                  <c:v>0.372589</c:v>
                </c:pt>
                <c:pt idx="61">
                  <c:v>0.37691</c:v>
                </c:pt>
                <c:pt idx="62">
                  <c:v>0.383484</c:v>
                </c:pt>
                <c:pt idx="63">
                  <c:v>0.385027</c:v>
                </c:pt>
                <c:pt idx="64">
                  <c:v>0.391986</c:v>
                </c:pt>
                <c:pt idx="65">
                  <c:v>0.398093</c:v>
                </c:pt>
                <c:pt idx="66">
                  <c:v>0.403299</c:v>
                </c:pt>
                <c:pt idx="67">
                  <c:v>0.411006</c:v>
                </c:pt>
                <c:pt idx="68">
                  <c:v>0.41784</c:v>
                </c:pt>
                <c:pt idx="69">
                  <c:v>0.423749</c:v>
                </c:pt>
                <c:pt idx="70">
                  <c:v>0.430002</c:v>
                </c:pt>
                <c:pt idx="71">
                  <c:v>0.437656</c:v>
                </c:pt>
                <c:pt idx="72">
                  <c:v>0.44436</c:v>
                </c:pt>
                <c:pt idx="73">
                  <c:v>0.448751</c:v>
                </c:pt>
                <c:pt idx="74">
                  <c:v>0.452007</c:v>
                </c:pt>
                <c:pt idx="75">
                  <c:v>0.458129</c:v>
                </c:pt>
                <c:pt idx="76">
                  <c:v>0.464534</c:v>
                </c:pt>
                <c:pt idx="77">
                  <c:v>0.469818</c:v>
                </c:pt>
                <c:pt idx="78">
                  <c:v>0.476815</c:v>
                </c:pt>
                <c:pt idx="79">
                  <c:v>0.485655</c:v>
                </c:pt>
                <c:pt idx="80">
                  <c:v>0.494943</c:v>
                </c:pt>
                <c:pt idx="81">
                  <c:v>0.503145</c:v>
                </c:pt>
                <c:pt idx="82">
                  <c:v>0.511786</c:v>
                </c:pt>
                <c:pt idx="83">
                  <c:v>0.520902</c:v>
                </c:pt>
                <c:pt idx="84">
                  <c:v>0.52883</c:v>
                </c:pt>
                <c:pt idx="85">
                  <c:v>0.535463</c:v>
                </c:pt>
                <c:pt idx="86">
                  <c:v>0.538879</c:v>
                </c:pt>
                <c:pt idx="87">
                  <c:v>0.549963</c:v>
                </c:pt>
                <c:pt idx="88">
                  <c:v>0.548288</c:v>
                </c:pt>
                <c:pt idx="89">
                  <c:v>0.562401</c:v>
                </c:pt>
                <c:pt idx="90">
                  <c:v>0.571311</c:v>
                </c:pt>
                <c:pt idx="91">
                  <c:v>0.582979</c:v>
                </c:pt>
                <c:pt idx="92">
                  <c:v>0.584473</c:v>
                </c:pt>
                <c:pt idx="93">
                  <c:v>0.576923</c:v>
                </c:pt>
                <c:pt idx="94">
                  <c:v>0.566397</c:v>
                </c:pt>
                <c:pt idx="95">
                  <c:v>0.562438</c:v>
                </c:pt>
                <c:pt idx="96">
                  <c:v>0.568475</c:v>
                </c:pt>
                <c:pt idx="97">
                  <c:v>0.526458</c:v>
                </c:pt>
                <c:pt idx="98">
                  <c:v>0.449406</c:v>
                </c:pt>
                <c:pt idx="99">
                  <c:v>0.314353</c:v>
                </c:pt>
                <c:pt idx="100">
                  <c:v>0.084217</c:v>
                </c:pt>
                <c:pt idx="101">
                  <c:v>0.003171</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5715">
              <a:solidFill>
                <a:srgbClr val="D7E0DE"/>
              </a:solidFill>
            </a:ln>
          </c:spPr>
        </c:majorGridlines>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Calibri"/>
                    <a:ea typeface="Calibri"/>
                    <a:cs typeface="Calibri"/>
                  </a:rPr>
                  <a:t>Decision threshold</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valAx>
      <c:spPr>
        <a:solidFill xmlns:a="http://schemas.openxmlformats.org/drawingml/2006/main">
          <a:srgbClr val="F5F4E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5F4E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varyColors val="0"/>
        <c:ser>
          <c:idx val="0"/>
          <c:order val="0"/>
          <c:tx>
            <c:v>Precision-recall</c:v>
          </c:tx>
          <c:spPr>
            <a:ln xmlns:a="http://schemas.openxmlformats.org/drawingml/2006/main" w="28575">
              <a:solidFill>
                <a:srgbClr val="007F78"/>
              </a:solidFill>
            </a:ln>
          </c:spPr>
          <c:marker>
            <c:symbol val="none"/>
          </c:marker>
          <c:xVal>
            <c:numRef>
              <c:f>'Chart Data'!$A$2:$A$93</c:f>
              <c:numCache>
                <c:formatCode>General</c:formatCode>
                <c:ptCount val="92"/>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0.979798</c:v>
                </c:pt>
                <c:pt idx="61">
                  <c:v>0.979798</c:v>
                </c:pt>
                <c:pt idx="62">
                  <c:v>0.979798</c:v>
                </c:pt>
                <c:pt idx="63">
                  <c:v>0.979798</c:v>
                </c:pt>
                <c:pt idx="64">
                  <c:v>0.979798</c:v>
                </c:pt>
                <c:pt idx="65">
                  <c:v>0.979798</c:v>
                </c:pt>
                <c:pt idx="66">
                  <c:v>0.979798</c:v>
                </c:pt>
                <c:pt idx="67">
                  <c:v>0.979798</c:v>
                </c:pt>
                <c:pt idx="68">
                  <c:v>0.979798</c:v>
                </c:pt>
                <c:pt idx="69">
                  <c:v>0.979798</c:v>
                </c:pt>
                <c:pt idx="70">
                  <c:v>0.979798</c:v>
                </c:pt>
                <c:pt idx="71">
                  <c:v>0.959596</c:v>
                </c:pt>
                <c:pt idx="72">
                  <c:v>0.939394</c:v>
                </c:pt>
                <c:pt idx="73">
                  <c:v>0.939394</c:v>
                </c:pt>
                <c:pt idx="74">
                  <c:v>0.929293</c:v>
                </c:pt>
                <c:pt idx="75">
                  <c:v>0.919192</c:v>
                </c:pt>
                <c:pt idx="76">
                  <c:v>0.919192</c:v>
                </c:pt>
                <c:pt idx="77">
                  <c:v>0.909091</c:v>
                </c:pt>
                <c:pt idx="78">
                  <c:v>0.888889</c:v>
                </c:pt>
                <c:pt idx="79">
                  <c:v>0.878788</c:v>
                </c:pt>
                <c:pt idx="80">
                  <c:v>0.848485</c:v>
                </c:pt>
                <c:pt idx="81">
                  <c:v>0.838384</c:v>
                </c:pt>
                <c:pt idx="82">
                  <c:v>0.818182</c:v>
                </c:pt>
                <c:pt idx="83">
                  <c:v>0.808081</c:v>
                </c:pt>
                <c:pt idx="84">
                  <c:v>0.767677</c:v>
                </c:pt>
                <c:pt idx="85">
                  <c:v>0.747475</c:v>
                </c:pt>
                <c:pt idx="86">
                  <c:v>0.686869</c:v>
                </c:pt>
                <c:pt idx="87">
                  <c:v>0.626263</c:v>
                </c:pt>
                <c:pt idx="88">
                  <c:v>0.515152</c:v>
                </c:pt>
                <c:pt idx="89">
                  <c:v>0.353535</c:v>
                </c:pt>
                <c:pt idx="90">
                  <c:v>0.141414</c:v>
                </c:pt>
                <c:pt idx="91">
                  <c:v>0</c:v>
                </c:pt>
              </c:numCache>
            </c:numRef>
          </c:xVal>
          <c:yVal>
            <c:numRef>
              <c:f>'Chart Data'!$B$2:$B$93</c:f>
              <c:numCache>
                <c:formatCode>0.0</c:formatCode>
                <c:ptCount val="92"/>
                <c:pt idx="0">
                  <c:v>0.047505</c:v>
                </c:pt>
                <c:pt idx="1">
                  <c:v>0.048035</c:v>
                </c:pt>
                <c:pt idx="2">
                  <c:v>0.048577</c:v>
                </c:pt>
                <c:pt idx="3">
                  <c:v>0.049132</c:v>
                </c:pt>
                <c:pt idx="4">
                  <c:v>0.049699</c:v>
                </c:pt>
                <c:pt idx="5">
                  <c:v>0.050279</c:v>
                </c:pt>
                <c:pt idx="6">
                  <c:v>0.050874</c:v>
                </c:pt>
                <c:pt idx="7">
                  <c:v>0.051482</c:v>
                </c:pt>
                <c:pt idx="8">
                  <c:v>0.052105</c:v>
                </c:pt>
                <c:pt idx="9">
                  <c:v>0.052744</c:v>
                </c:pt>
                <c:pt idx="10">
                  <c:v>0.053398</c:v>
                </c:pt>
                <c:pt idx="11">
                  <c:v>0.054069</c:v>
                </c:pt>
                <c:pt idx="12">
                  <c:v>0.054757</c:v>
                </c:pt>
                <c:pt idx="13">
                  <c:v>0.055462</c:v>
                </c:pt>
                <c:pt idx="14">
                  <c:v>0.056186</c:v>
                </c:pt>
                <c:pt idx="15">
                  <c:v>0.056929</c:v>
                </c:pt>
                <c:pt idx="16">
                  <c:v>0.057692</c:v>
                </c:pt>
                <c:pt idx="17">
                  <c:v>0.058476</c:v>
                </c:pt>
                <c:pt idx="18">
                  <c:v>0.059281</c:v>
                </c:pt>
                <c:pt idx="19">
                  <c:v>0.060109</c:v>
                </c:pt>
                <c:pt idx="20">
                  <c:v>0.060961</c:v>
                </c:pt>
                <c:pt idx="21">
                  <c:v>0.061836</c:v>
                </c:pt>
                <c:pt idx="22">
                  <c:v>0.062738</c:v>
                </c:pt>
                <c:pt idx="23">
                  <c:v>0.063666</c:v>
                </c:pt>
                <c:pt idx="24">
                  <c:v>0.064621</c:v>
                </c:pt>
                <c:pt idx="25">
                  <c:v>0.065606</c:v>
                </c:pt>
                <c:pt idx="26">
                  <c:v>0.066622</c:v>
                </c:pt>
                <c:pt idx="27">
                  <c:v>0.067669</c:v>
                </c:pt>
                <c:pt idx="28">
                  <c:v>0.06875</c:v>
                </c:pt>
                <c:pt idx="29">
                  <c:v>0.069866</c:v>
                </c:pt>
                <c:pt idx="30">
                  <c:v>0.071019</c:v>
                </c:pt>
                <c:pt idx="31">
                  <c:v>0.07221</c:v>
                </c:pt>
                <c:pt idx="32">
                  <c:v>0.073442</c:v>
                </c:pt>
                <c:pt idx="33">
                  <c:v>0.074717</c:v>
                </c:pt>
                <c:pt idx="34">
                  <c:v>0.076037</c:v>
                </c:pt>
                <c:pt idx="35">
                  <c:v>0.077404</c:v>
                </c:pt>
                <c:pt idx="36">
                  <c:v>0.078822</c:v>
                </c:pt>
                <c:pt idx="37">
                  <c:v>0.080292</c:v>
                </c:pt>
                <c:pt idx="38">
                  <c:v>0.081818</c:v>
                </c:pt>
                <c:pt idx="39">
                  <c:v>0.083404</c:v>
                </c:pt>
                <c:pt idx="40">
                  <c:v>0.085052</c:v>
                </c:pt>
                <c:pt idx="41">
                  <c:v>0.086766</c:v>
                </c:pt>
                <c:pt idx="42">
                  <c:v>0.088551</c:v>
                </c:pt>
                <c:pt idx="43">
                  <c:v>0.090411</c:v>
                </c:pt>
                <c:pt idx="44">
                  <c:v>0.092351</c:v>
                </c:pt>
                <c:pt idx="45">
                  <c:v>0.094376</c:v>
                </c:pt>
                <c:pt idx="46">
                  <c:v>0.096491</c:v>
                </c:pt>
                <c:pt idx="47">
                  <c:v>0.098704</c:v>
                </c:pt>
                <c:pt idx="48">
                  <c:v>0.10102</c:v>
                </c:pt>
                <c:pt idx="49">
                  <c:v>0.103448</c:v>
                </c:pt>
                <c:pt idx="50">
                  <c:v>0.105996</c:v>
                </c:pt>
                <c:pt idx="51">
                  <c:v>0.108672</c:v>
                </c:pt>
                <c:pt idx="52">
                  <c:v>0.111486</c:v>
                </c:pt>
                <c:pt idx="53">
                  <c:v>0.114451</c:v>
                </c:pt>
                <c:pt idx="54">
                  <c:v>0.117577</c:v>
                </c:pt>
                <c:pt idx="55">
                  <c:v>0.120879</c:v>
                </c:pt>
                <c:pt idx="56">
                  <c:v>0.124372</c:v>
                </c:pt>
                <c:pt idx="57">
                  <c:v>0.128072</c:v>
                </c:pt>
                <c:pt idx="58">
                  <c:v>0.132</c:v>
                </c:pt>
                <c:pt idx="59">
                  <c:v>0.136176</c:v>
                </c:pt>
                <c:pt idx="60">
                  <c:v>0.137784</c:v>
                </c:pt>
                <c:pt idx="61">
                  <c:v>0.142438</c:v>
                </c:pt>
                <c:pt idx="62">
                  <c:v>0.147416</c:v>
                </c:pt>
                <c:pt idx="63">
                  <c:v>0.152756</c:v>
                </c:pt>
                <c:pt idx="64">
                  <c:v>0.158497</c:v>
                </c:pt>
                <c:pt idx="65">
                  <c:v>0.164686</c:v>
                </c:pt>
                <c:pt idx="66">
                  <c:v>0.171378</c:v>
                </c:pt>
                <c:pt idx="67">
                  <c:v>0.178637</c:v>
                </c:pt>
                <c:pt idx="68">
                  <c:v>0.186538</c:v>
                </c:pt>
                <c:pt idx="69">
                  <c:v>0.195171</c:v>
                </c:pt>
                <c:pt idx="70">
                  <c:v>0.204641</c:v>
                </c:pt>
                <c:pt idx="71">
                  <c:v>0.210643</c:v>
                </c:pt>
                <c:pt idx="72">
                  <c:v>0.21729</c:v>
                </c:pt>
                <c:pt idx="73">
                  <c:v>0.22963</c:v>
                </c:pt>
                <c:pt idx="74">
                  <c:v>0.240838</c:v>
                </c:pt>
                <c:pt idx="75">
                  <c:v>0.253482</c:v>
                </c:pt>
                <c:pt idx="76">
                  <c:v>0.270833</c:v>
                </c:pt>
                <c:pt idx="77">
                  <c:v>0.28754</c:v>
                </c:pt>
                <c:pt idx="78">
                  <c:v>0.303448</c:v>
                </c:pt>
                <c:pt idx="79">
                  <c:v>0.325843</c:v>
                </c:pt>
                <c:pt idx="80">
                  <c:v>0.344262</c:v>
                </c:pt>
                <c:pt idx="81">
                  <c:v>0.375566</c:v>
                </c:pt>
                <c:pt idx="82">
                  <c:v>0.409091</c:v>
                </c:pt>
                <c:pt idx="83">
                  <c:v>0.457143</c:v>
                </c:pt>
                <c:pt idx="84">
                  <c:v>0.5</c:v>
                </c:pt>
                <c:pt idx="85">
                  <c:v>0.573643</c:v>
                </c:pt>
                <c:pt idx="86">
                  <c:v>0.641509</c:v>
                </c:pt>
                <c:pt idx="87">
                  <c:v>0.746988</c:v>
                </c:pt>
                <c:pt idx="88">
                  <c:v>0.85</c:v>
                </c:pt>
                <c:pt idx="89">
                  <c:v>0.945946</c:v>
                </c:pt>
                <c:pt idx="90">
                  <c:v>1</c:v>
                </c:pt>
                <c:pt idx="91">
                  <c:v>1</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5715">
              <a:solidFill>
                <a:srgbClr val="D7E0DE"/>
              </a:solidFill>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Precision</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Calibri"/>
                    <a:ea typeface="Calibri"/>
                    <a:cs typeface="Calibri"/>
                  </a:rPr>
                  <a:t>Recall</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varyColors val="0"/>
        <c:ser>
          <c:idx val="0"/>
          <c:order val="0"/>
          <c:tx>
            <c:v>ROC</c:v>
          </c:tx>
          <c:spPr>
            <a:ln xmlns:a="http://schemas.openxmlformats.org/drawingml/2006/main" w="28575">
              <a:solidFill>
                <a:srgbClr val="007F78"/>
              </a:solidFill>
            </a:ln>
          </c:spPr>
          <c:marker>
            <c:symbol val="none"/>
          </c:marker>
          <c:xVal>
            <c:numRef>
              <c:f>'Chart Data'!$A$2:$A$93</c:f>
              <c:numCache>
                <c:formatCode>General</c:formatCode>
                <c:ptCount val="92"/>
                <c:pt idx="0">
                  <c:v>0</c:v>
                </c:pt>
                <c:pt idx="1">
                  <c:v>0</c:v>
                </c:pt>
                <c:pt idx="2">
                  <c:v>0</c:v>
                </c:pt>
                <c:pt idx="3">
                  <c:v>0.000504</c:v>
                </c:pt>
                <c:pt idx="4">
                  <c:v>0.000504</c:v>
                </c:pt>
                <c:pt idx="5">
                  <c:v>0.001008</c:v>
                </c:pt>
                <c:pt idx="6">
                  <c:v>0.001008</c:v>
                </c:pt>
                <c:pt idx="7">
                  <c:v>0.001511</c:v>
                </c:pt>
                <c:pt idx="8">
                  <c:v>0.001511</c:v>
                </c:pt>
                <c:pt idx="9">
                  <c:v>0.002015</c:v>
                </c:pt>
                <c:pt idx="10">
                  <c:v>0.002015</c:v>
                </c:pt>
                <c:pt idx="11">
                  <c:v>0.003526</c:v>
                </c:pt>
                <c:pt idx="12">
                  <c:v>0.003526</c:v>
                </c:pt>
                <c:pt idx="13">
                  <c:v>0.005038</c:v>
                </c:pt>
                <c:pt idx="14">
                  <c:v>0.005038</c:v>
                </c:pt>
                <c:pt idx="15">
                  <c:v>0.005542</c:v>
                </c:pt>
                <c:pt idx="16">
                  <c:v>0.005542</c:v>
                </c:pt>
                <c:pt idx="17">
                  <c:v>0.006045</c:v>
                </c:pt>
                <c:pt idx="18">
                  <c:v>0.006045</c:v>
                </c:pt>
                <c:pt idx="19">
                  <c:v>0.007053</c:v>
                </c:pt>
                <c:pt idx="20">
                  <c:v>0.007053</c:v>
                </c:pt>
                <c:pt idx="21">
                  <c:v>0.00806</c:v>
                </c:pt>
                <c:pt idx="22">
                  <c:v>0.00806</c:v>
                </c:pt>
                <c:pt idx="23">
                  <c:v>0.008564</c:v>
                </c:pt>
                <c:pt idx="24">
                  <c:v>0.008564</c:v>
                </c:pt>
                <c:pt idx="25">
                  <c:v>0.010076</c:v>
                </c:pt>
                <c:pt idx="26">
                  <c:v>0.010076</c:v>
                </c:pt>
                <c:pt idx="27">
                  <c:v>0.011083</c:v>
                </c:pt>
                <c:pt idx="28">
                  <c:v>0.011083</c:v>
                </c:pt>
                <c:pt idx="29">
                  <c:v>0.013602</c:v>
                </c:pt>
                <c:pt idx="30">
                  <c:v>0.013602</c:v>
                </c:pt>
                <c:pt idx="31">
                  <c:v>0.01461</c:v>
                </c:pt>
                <c:pt idx="32">
                  <c:v>0.01461</c:v>
                </c:pt>
                <c:pt idx="33">
                  <c:v>0.015617</c:v>
                </c:pt>
                <c:pt idx="34">
                  <c:v>0.015617</c:v>
                </c:pt>
                <c:pt idx="35">
                  <c:v>0.017632</c:v>
                </c:pt>
                <c:pt idx="36">
                  <c:v>0.017632</c:v>
                </c:pt>
                <c:pt idx="37">
                  <c:v>0.019144</c:v>
                </c:pt>
                <c:pt idx="38">
                  <c:v>0.019144</c:v>
                </c:pt>
                <c:pt idx="39">
                  <c:v>0.023678</c:v>
                </c:pt>
                <c:pt idx="40">
                  <c:v>0.023678</c:v>
                </c:pt>
                <c:pt idx="41">
                  <c:v>0.026196</c:v>
                </c:pt>
                <c:pt idx="42">
                  <c:v>0.026196</c:v>
                </c:pt>
                <c:pt idx="43">
                  <c:v>0.027204</c:v>
                </c:pt>
                <c:pt idx="44">
                  <c:v>0.027204</c:v>
                </c:pt>
                <c:pt idx="45">
                  <c:v>0.035768</c:v>
                </c:pt>
                <c:pt idx="46">
                  <c:v>0.035768</c:v>
                </c:pt>
                <c:pt idx="47">
                  <c:v>0.038287</c:v>
                </c:pt>
                <c:pt idx="48">
                  <c:v>0.038287</c:v>
                </c:pt>
                <c:pt idx="49">
                  <c:v>0.042821</c:v>
                </c:pt>
                <c:pt idx="50">
                  <c:v>0.042821</c:v>
                </c:pt>
                <c:pt idx="51">
                  <c:v>0.044332</c:v>
                </c:pt>
                <c:pt idx="52">
                  <c:v>0.044332</c:v>
                </c:pt>
                <c:pt idx="53">
                  <c:v>0.045844</c:v>
                </c:pt>
                <c:pt idx="54">
                  <c:v>0.045844</c:v>
                </c:pt>
                <c:pt idx="55">
                  <c:v>0.056927</c:v>
                </c:pt>
                <c:pt idx="56">
                  <c:v>0.056927</c:v>
                </c:pt>
                <c:pt idx="57">
                  <c:v>0.061965</c:v>
                </c:pt>
                <c:pt idx="58">
                  <c:v>0.061965</c:v>
                </c:pt>
                <c:pt idx="59">
                  <c:v>0.069018</c:v>
                </c:pt>
                <c:pt idx="60">
                  <c:v>0.069018</c:v>
                </c:pt>
                <c:pt idx="61">
                  <c:v>0.075567</c:v>
                </c:pt>
                <c:pt idx="62">
                  <c:v>0.075567</c:v>
                </c:pt>
                <c:pt idx="63">
                  <c:v>0.081612</c:v>
                </c:pt>
                <c:pt idx="64">
                  <c:v>0.081612</c:v>
                </c:pt>
                <c:pt idx="65">
                  <c:v>0.08665</c:v>
                </c:pt>
                <c:pt idx="66">
                  <c:v>0.08665</c:v>
                </c:pt>
                <c:pt idx="67">
                  <c:v>0.087154</c:v>
                </c:pt>
                <c:pt idx="68">
                  <c:v>0.087154</c:v>
                </c:pt>
                <c:pt idx="69">
                  <c:v>0.09068</c:v>
                </c:pt>
                <c:pt idx="70">
                  <c:v>0.09068</c:v>
                </c:pt>
                <c:pt idx="71">
                  <c:v>0.107305</c:v>
                </c:pt>
                <c:pt idx="72">
                  <c:v>0.107305</c:v>
                </c:pt>
                <c:pt idx="73">
                  <c:v>0.107809</c:v>
                </c:pt>
                <c:pt idx="74">
                  <c:v>0.107809</c:v>
                </c:pt>
                <c:pt idx="75">
                  <c:v>0.116877</c:v>
                </c:pt>
                <c:pt idx="76">
                  <c:v>0.116877</c:v>
                </c:pt>
                <c:pt idx="77">
                  <c:v>0.144584</c:v>
                </c:pt>
                <c:pt idx="78">
                  <c:v>0.144584</c:v>
                </c:pt>
                <c:pt idx="79">
                  <c:v>0.150126</c:v>
                </c:pt>
                <c:pt idx="80">
                  <c:v>0.150126</c:v>
                </c:pt>
                <c:pt idx="81">
                  <c:v>0.1733</c:v>
                </c:pt>
                <c:pt idx="82">
                  <c:v>0.1733</c:v>
                </c:pt>
                <c:pt idx="83">
                  <c:v>0.175315</c:v>
                </c:pt>
                <c:pt idx="84">
                  <c:v>0.175315</c:v>
                </c:pt>
                <c:pt idx="85">
                  <c:v>0.186398</c:v>
                </c:pt>
                <c:pt idx="86">
                  <c:v>0.186398</c:v>
                </c:pt>
                <c:pt idx="87">
                  <c:v>0.312846</c:v>
                </c:pt>
                <c:pt idx="88">
                  <c:v>0.312846</c:v>
                </c:pt>
                <c:pt idx="89">
                  <c:v>0.315365</c:v>
                </c:pt>
                <c:pt idx="90">
                  <c:v>0.315365</c:v>
                </c:pt>
                <c:pt idx="91">
                  <c:v>1</c:v>
                </c:pt>
              </c:numCache>
            </c:numRef>
          </c:xVal>
          <c:yVal>
            <c:numRef>
              <c:f>'Chart Data'!$B$2:$B$93</c:f>
              <c:numCache>
                <c:formatCode>0.0</c:formatCode>
                <c:ptCount val="92"/>
                <c:pt idx="0">
                  <c:v>0</c:v>
                </c:pt>
                <c:pt idx="1">
                  <c:v>0.010101</c:v>
                </c:pt>
                <c:pt idx="2">
                  <c:v>0.242424</c:v>
                </c:pt>
                <c:pt idx="3">
                  <c:v>0.242424</c:v>
                </c:pt>
                <c:pt idx="4">
                  <c:v>0.353535</c:v>
                </c:pt>
                <c:pt idx="5">
                  <c:v>0.353535</c:v>
                </c:pt>
                <c:pt idx="6">
                  <c:v>0.414141</c:v>
                </c:pt>
                <c:pt idx="7">
                  <c:v>0.414141</c:v>
                </c:pt>
                <c:pt idx="8">
                  <c:v>0.464646</c:v>
                </c:pt>
                <c:pt idx="9">
                  <c:v>0.464646</c:v>
                </c:pt>
                <c:pt idx="10">
                  <c:v>0.474747</c:v>
                </c:pt>
                <c:pt idx="11">
                  <c:v>0.474747</c:v>
                </c:pt>
                <c:pt idx="12">
                  <c:v>0.515152</c:v>
                </c:pt>
                <c:pt idx="13">
                  <c:v>0.515152</c:v>
                </c:pt>
                <c:pt idx="14">
                  <c:v>0.525253</c:v>
                </c:pt>
                <c:pt idx="15">
                  <c:v>0.525253</c:v>
                </c:pt>
                <c:pt idx="16">
                  <c:v>0.535354</c:v>
                </c:pt>
                <c:pt idx="17">
                  <c:v>0.535354</c:v>
                </c:pt>
                <c:pt idx="18">
                  <c:v>0.565657</c:v>
                </c:pt>
                <c:pt idx="19">
                  <c:v>0.565657</c:v>
                </c:pt>
                <c:pt idx="20">
                  <c:v>0.575758</c:v>
                </c:pt>
                <c:pt idx="21">
                  <c:v>0.575758</c:v>
                </c:pt>
                <c:pt idx="22">
                  <c:v>0.585859</c:v>
                </c:pt>
                <c:pt idx="23">
                  <c:v>0.585859</c:v>
                </c:pt>
                <c:pt idx="24">
                  <c:v>0.616162</c:v>
                </c:pt>
                <c:pt idx="25">
                  <c:v>0.616162</c:v>
                </c:pt>
                <c:pt idx="26">
                  <c:v>0.626263</c:v>
                </c:pt>
                <c:pt idx="27">
                  <c:v>0.626263</c:v>
                </c:pt>
                <c:pt idx="28">
                  <c:v>0.636364</c:v>
                </c:pt>
                <c:pt idx="29">
                  <c:v>0.636364</c:v>
                </c:pt>
                <c:pt idx="30">
                  <c:v>0.646465</c:v>
                </c:pt>
                <c:pt idx="31">
                  <c:v>0.646465</c:v>
                </c:pt>
                <c:pt idx="32">
                  <c:v>0.656566</c:v>
                </c:pt>
                <c:pt idx="33">
                  <c:v>0.656566</c:v>
                </c:pt>
                <c:pt idx="34">
                  <c:v>0.666667</c:v>
                </c:pt>
                <c:pt idx="35">
                  <c:v>0.666667</c:v>
                </c:pt>
                <c:pt idx="36">
                  <c:v>0.686869</c:v>
                </c:pt>
                <c:pt idx="37">
                  <c:v>0.686869</c:v>
                </c:pt>
                <c:pt idx="38">
                  <c:v>0.69697</c:v>
                </c:pt>
                <c:pt idx="39">
                  <c:v>0.69697</c:v>
                </c:pt>
                <c:pt idx="40">
                  <c:v>0.707071</c:v>
                </c:pt>
                <c:pt idx="41">
                  <c:v>0.707071</c:v>
                </c:pt>
                <c:pt idx="42">
                  <c:v>0.727273</c:v>
                </c:pt>
                <c:pt idx="43">
                  <c:v>0.727273</c:v>
                </c:pt>
                <c:pt idx="44">
                  <c:v>0.747475</c:v>
                </c:pt>
                <c:pt idx="45">
                  <c:v>0.747475</c:v>
                </c:pt>
                <c:pt idx="46">
                  <c:v>0.757576</c:v>
                </c:pt>
                <c:pt idx="47">
                  <c:v>0.757576</c:v>
                </c:pt>
                <c:pt idx="48">
                  <c:v>0.767677</c:v>
                </c:pt>
                <c:pt idx="49">
                  <c:v>0.767677</c:v>
                </c:pt>
                <c:pt idx="50">
                  <c:v>0.777778</c:v>
                </c:pt>
                <c:pt idx="51">
                  <c:v>0.777778</c:v>
                </c:pt>
                <c:pt idx="52">
                  <c:v>0.787879</c:v>
                </c:pt>
                <c:pt idx="53">
                  <c:v>0.787879</c:v>
                </c:pt>
                <c:pt idx="54">
                  <c:v>0.808081</c:v>
                </c:pt>
                <c:pt idx="55">
                  <c:v>0.808081</c:v>
                </c:pt>
                <c:pt idx="56">
                  <c:v>0.818182</c:v>
                </c:pt>
                <c:pt idx="57">
                  <c:v>0.818182</c:v>
                </c:pt>
                <c:pt idx="58">
                  <c:v>0.828283</c:v>
                </c:pt>
                <c:pt idx="59">
                  <c:v>0.828283</c:v>
                </c:pt>
                <c:pt idx="60">
                  <c:v>0.838384</c:v>
                </c:pt>
                <c:pt idx="61">
                  <c:v>0.838384</c:v>
                </c:pt>
                <c:pt idx="62">
                  <c:v>0.848485</c:v>
                </c:pt>
                <c:pt idx="63">
                  <c:v>0.848485</c:v>
                </c:pt>
                <c:pt idx="64">
                  <c:v>0.858586</c:v>
                </c:pt>
                <c:pt idx="65">
                  <c:v>0.858586</c:v>
                </c:pt>
                <c:pt idx="66">
                  <c:v>0.868687</c:v>
                </c:pt>
                <c:pt idx="67">
                  <c:v>0.868687</c:v>
                </c:pt>
                <c:pt idx="68">
                  <c:v>0.878788</c:v>
                </c:pt>
                <c:pt idx="69">
                  <c:v>0.878788</c:v>
                </c:pt>
                <c:pt idx="70">
                  <c:v>0.888889</c:v>
                </c:pt>
                <c:pt idx="71">
                  <c:v>0.888889</c:v>
                </c:pt>
                <c:pt idx="72">
                  <c:v>0.89899</c:v>
                </c:pt>
                <c:pt idx="73">
                  <c:v>0.89899</c:v>
                </c:pt>
                <c:pt idx="74">
                  <c:v>0.909091</c:v>
                </c:pt>
                <c:pt idx="75">
                  <c:v>0.909091</c:v>
                </c:pt>
                <c:pt idx="76">
                  <c:v>0.919192</c:v>
                </c:pt>
                <c:pt idx="77">
                  <c:v>0.919192</c:v>
                </c:pt>
                <c:pt idx="78">
                  <c:v>0.929293</c:v>
                </c:pt>
                <c:pt idx="79">
                  <c:v>0.929293</c:v>
                </c:pt>
                <c:pt idx="80">
                  <c:v>0.939394</c:v>
                </c:pt>
                <c:pt idx="81">
                  <c:v>0.939394</c:v>
                </c:pt>
                <c:pt idx="82">
                  <c:v>0.949495</c:v>
                </c:pt>
                <c:pt idx="83">
                  <c:v>0.949495</c:v>
                </c:pt>
                <c:pt idx="84">
                  <c:v>0.959596</c:v>
                </c:pt>
                <c:pt idx="85">
                  <c:v>0.959596</c:v>
                </c:pt>
                <c:pt idx="86">
                  <c:v>0.979798</c:v>
                </c:pt>
                <c:pt idx="87">
                  <c:v>0.979798</c:v>
                </c:pt>
                <c:pt idx="88">
                  <c:v>0.989899</c:v>
                </c:pt>
                <c:pt idx="89">
                  <c:v>0.989899</c:v>
                </c:pt>
                <c:pt idx="90">
                  <c:v>1</c:v>
                </c:pt>
                <c:pt idx="91">
                  <c:v>1</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5715">
              <a:solidFill>
                <a:srgbClr val="D7E0DE"/>
              </a:solidFill>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True positive rate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Calibri"/>
                    <a:ea typeface="Calibri"/>
                    <a:cs typeface="Calibri"/>
                  </a:rPr>
                  <a:t>False positive rate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Decrease in AP</c:v>
          </c:tx>
          <c:spPr>
            <a:solidFill xmlns:a="http://schemas.openxmlformats.org/drawingml/2006/main">
              <a:srgbClr val="007F78"/>
            </a:solidFill>
          </c:spPr>
          <c:cat>
            <c:strRef>
              <c:f>'Chart Data'!$A$2:$A$6</c:f>
              <c:strCache>
                <c:ptCount val="5"/>
                <c:pt idx="0">
                  <c:v>X27</c:v>
                </c:pt>
                <c:pt idx="1">
                  <c:v>X34</c:v>
                </c:pt>
                <c:pt idx="2">
                  <c:v>X46</c:v>
                </c:pt>
                <c:pt idx="3">
                  <c:v>X58</c:v>
                </c:pt>
                <c:pt idx="4">
                  <c:v>X21</c:v>
                </c:pt>
              </c:strCache>
            </c:strRef>
          </c:cat>
          <c:val>
            <c:numRef>
              <c:f>'Chart Data'!$B$2:$B$6</c:f>
              <c:numCache>
                <c:formatCode>0.0</c:formatCode>
                <c:ptCount val="5"/>
                <c:pt idx="0">
                  <c:v>0.546727</c:v>
                </c:pt>
                <c:pt idx="1">
                  <c:v>0.266484</c:v>
                </c:pt>
                <c:pt idx="2">
                  <c:v>0.140734</c:v>
                </c:pt>
                <c:pt idx="3">
                  <c:v>0.085162</c:v>
                </c:pt>
                <c:pt idx="4">
                  <c:v>0.072939</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75">
                  <a:solidFill>
                    <a:srgbClr val="142C42"/>
                  </a:solidFill>
                  <a:latin typeface="Calibri"/>
                  <a:ea typeface="Calibri"/>
                  <a:cs typeface="Calibri"/>
                </a:defRPr>
              </a:pPr>
            </a:p>
          </c:txPr>
          <c:dLblPos val="outEnd"/>
          <c:showLegendKey val="0"/>
          <c:showVal val="1"/>
          <c:showCatName val="0"/>
          <c:showSerName val="0"/>
          <c:showPercent val="0"/>
          <c:showBubbleSize val="0"/>
          <c:showLeaderLines val="0"/>
        </c:dLbls>
        <c:gapWidth val="58"/>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72768"/>
      </c:catAx>
      <c:valAx>
        <c:axId val="48672768"/>
        <c:scaling>
          <c:orientation val="minMax"/>
          <c:max val="0.65"/>
          <c:min val="0"/>
        </c:scaling>
        <c:delete val="0"/>
        <c:axPos val="b"/>
        <c:majorGridlines>
          <c:spPr>
            <a:ln xmlns:a="http://schemas.openxmlformats.org/drawingml/2006/main" w="5715">
              <a:solidFill>
                <a:srgbClr val="D7E0DE"/>
              </a:solidFill>
            </a:ln>
          </c:spPr>
        </c:majorGridlines>
        <c:numFmt formatCode="0.0"/>
        <c:majorTickMark val="none"/>
        <c:minorTickMark val="none"/>
        <c:spPr>
          <a:ln xmlns:a="http://schemas.openxmlformats.org/drawingml/2006/main" w="9525">
            <a:solidFill>
              <a:srgbClr val="D7E0DE"/>
            </a:solidFill>
          </a:ln>
        </c:spPr>
        <c:txPr>
          <a:bodyPr xmlns:a="http://schemas.openxmlformats.org/drawingml/2006/main" anchorCtr="1"/>
          <a:lstStyle xmlns:a="http://schemas.openxmlformats.org/drawingml/2006/main"/>
          <a:p xmlns:a="http://schemas.openxmlformats.org/drawingml/2006/main">
            <a:pPr>
              <a:defRPr sz="1500">
                <a:solidFill>
                  <a:srgbClr val="617384"/>
                </a:solidFill>
                <a:latin typeface="Calibri"/>
                <a:ea typeface="Calibri"/>
                <a:cs typeface="Calibri"/>
              </a:defRPr>
            </a:pPr>
          </a:p>
        </c:txPr>
        <c:crossAx val="48650112"/>
        <c:crossBetween val="between"/>
        <c:majorUnit val="0.1"/>
      </c:valAx>
      <c:spPr>
        <a:solidFill xmlns:a="http://schemas.openxmlformats.org/drawingml/2006/main">
          <a:srgbClr val="F5F4EF"/>
        </a:solidFill>
      </c:spPr>
    </c:plotArea>
    <c:plotVisOnly val="1"/>
  </c:chart>
  <c:spPr>
    <a:solidFill xmlns:a="http://schemas.openxmlformats.org/drawingml/2006/main">
      <a:srgbClr val="F5F4E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C4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9DD2F36-19FB-41C9-9B3C-3DE35AE2C8B5}"/>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01</a:t>
            </a:r>
          </a:p>
        </p:txBody>
      </p:sp>
      <p:sp>
        <p:nvSpPr>
          <p:cNvPr id="2" name="">
            <a:extLst xmlns:a="http://schemas.openxmlformats.org/drawingml/2006/main">
              <a:ext uri="{FF2B5EF4-FFF2-40B4-BE49-F238E27FC236}">
                <a16:creationId xmlns:a16="http://schemas.microsoft.com/office/drawing/2014/main" id="{E24B89D1-8FBA-4B8A-ADB8-F248BD69D350}"/>
              </a:ext>
            </a:extLst>
          </p:cNvPr>
          <p:cNvSpPr>
            <a:spLocks xmlns:a="http://schemas.openxmlformats.org/drawingml/2006/main" noGrp="1"/>
          </p:cNvSpPr>
          <p:nvPr/>
        </p:nvSpPr>
        <p:spPr>
          <a:xfrm xmlns:a="http://schemas.openxmlformats.org/drawingml/2006/main">
            <a:off x="685800" y="6858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9EC9C5"/>
                </a:solidFill>
                <a:latin typeface="Calibri"/>
                <a:ea typeface="Calibri"/>
                <a:cs typeface="Calibri"/>
              </a:defRPr>
            </a:defPPr>
          </a:lstStyle>
          <a:p xmlns:a="http://schemas.openxmlformats.org/drawingml/2006/main">
            <a:pPr>
              <a:defRPr sz="1500" b="0">
                <a:solidFill>
                  <a:srgbClr val="9EC9C5"/>
                </a:solidFill>
                <a:latin typeface="Calibri"/>
                <a:ea typeface="Calibri"/>
                <a:cs typeface="Calibri"/>
              </a:defRPr>
            </a:pPr>
            <a:r>
              <a:rPr sz="1500" b="0">
                <a:solidFill>
                  <a:srgbClr val="9EC9C5"/>
                </a:solidFill>
                <a:latin typeface="Calibri"/>
                <a:ea typeface="Calibri"/>
                <a:cs typeface="Calibri"/>
              </a:rPr>
              <a:t>UE24CS352A  /  MACHINE LEARNING</a:t>
            </a:r>
          </a:p>
        </p:txBody>
      </p:sp>
      <p:sp>
        <p:nvSpPr>
          <p:cNvPr id="3" name="">
            <a:extLst xmlns:a="http://schemas.openxmlformats.org/drawingml/2006/main">
              <a:ext uri="{FF2B5EF4-FFF2-40B4-BE49-F238E27FC236}">
                <a16:creationId xmlns:a16="http://schemas.microsoft.com/office/drawing/2014/main" id="{4481A010-26C1-41FE-B1D3-D62EF094DC17}"/>
              </a:ext>
            </a:extLst>
          </p:cNvPr>
          <p:cNvSpPr>
            <a:spLocks xmlns:a="http://schemas.openxmlformats.org/drawingml/2006/main" noGrp="1"/>
          </p:cNvSpPr>
          <p:nvPr/>
        </p:nvSpPr>
        <p:spPr>
          <a:xfrm xmlns:a="http://schemas.openxmlformats.org/drawingml/2006/main">
            <a:off x="647700" y="1809750"/>
            <a:ext cx="104775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400" b="1">
                <a:solidFill>
                  <a:srgbClr val="FFFFFF"/>
                </a:solidFill>
                <a:latin typeface="Calibri"/>
                <a:ea typeface="Calibri"/>
                <a:cs typeface="Calibri"/>
              </a:defRPr>
            </a:defPPr>
          </a:lstStyle>
          <a:p xmlns:a="http://schemas.openxmlformats.org/drawingml/2006/main">
            <a:pPr>
              <a:defRPr sz="5400" b="1">
                <a:solidFill>
                  <a:srgbClr val="FFFFFF"/>
                </a:solidFill>
                <a:latin typeface="Calibri"/>
                <a:ea typeface="Calibri"/>
                <a:cs typeface="Calibri"/>
              </a:defRPr>
            </a:pPr>
            <a:r>
              <a:rPr sz="5400" b="1">
                <a:solidFill>
                  <a:srgbClr val="FFFFFF"/>
                </a:solidFill>
                <a:latin typeface="Calibri"/>
                <a:ea typeface="Calibri"/>
                <a:cs typeface="Calibri"/>
              </a:rPr>
              <a:t>Corporate Bankruptcy</a:t>
            </a:r>
          </a:p>
          <a:p xmlns:a="http://schemas.openxmlformats.org/drawingml/2006/main">
            <a:pPr>
              <a:defRPr sz="5400" b="1">
                <a:solidFill>
                  <a:srgbClr val="FFFFFF"/>
                </a:solidFill>
                <a:latin typeface="Calibri"/>
                <a:ea typeface="Calibri"/>
                <a:cs typeface="Calibri"/>
              </a:defRPr>
            </a:pPr>
            <a:r>
              <a:rPr sz="5400" b="1">
                <a:solidFill>
                  <a:srgbClr val="FFFFFF"/>
                </a:solidFill>
                <a:latin typeface="Calibri"/>
                <a:ea typeface="Calibri"/>
                <a:cs typeface="Calibri"/>
              </a:rPr>
              <a:t>Prediction</a:t>
            </a:r>
          </a:p>
        </p:txBody>
      </p:sp>
      <p:sp>
        <p:nvSpPr>
          <p:cNvPr id="4" name="">
            <a:extLst xmlns:a="http://schemas.openxmlformats.org/drawingml/2006/main">
              <a:ext uri="{FF2B5EF4-FFF2-40B4-BE49-F238E27FC236}">
                <a16:creationId xmlns:a16="http://schemas.microsoft.com/office/drawing/2014/main" id="{9FFB19CA-BD35-4020-80DB-61DC6BF189F4}"/>
              </a:ext>
            </a:extLst>
          </p:cNvPr>
          <p:cNvSpPr>
            <a:spLocks xmlns:a="http://schemas.openxmlformats.org/drawingml/2006/main" noGrp="1"/>
          </p:cNvSpPr>
          <p:nvPr/>
        </p:nvSpPr>
        <p:spPr>
          <a:xfrm xmlns:a="http://schemas.openxmlformats.org/drawingml/2006/main">
            <a:off x="685800" y="3943350"/>
            <a:ext cx="1028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CCDCDF"/>
                </a:solidFill>
                <a:latin typeface="Calibri"/>
                <a:ea typeface="Calibri"/>
                <a:cs typeface="Calibri"/>
              </a:defRPr>
            </a:defPPr>
          </a:lstStyle>
          <a:p xmlns:a="http://schemas.openxmlformats.org/drawingml/2006/main">
            <a:pPr>
              <a:defRPr sz="2250" b="0">
                <a:solidFill>
                  <a:srgbClr val="CCDCDF"/>
                </a:solidFill>
                <a:latin typeface="Calibri"/>
                <a:ea typeface="Calibri"/>
                <a:cs typeface="Calibri"/>
              </a:defRPr>
            </a:pPr>
            <a:r>
              <a:rPr sz="2250" b="0">
                <a:solidFill>
                  <a:srgbClr val="CCDCDF"/>
                </a:solidFill>
                <a:latin typeface="Calibri"/>
                <a:ea typeface="Calibri"/>
                <a:cs typeface="Calibri"/>
              </a:rPr>
              <a:t>Financial ratios, rare outcomes, and a reproducible evaluation</a:t>
            </a:r>
          </a:p>
        </p:txBody>
      </p:sp>
      <p:sp>
        <p:nvSpPr>
          <p:cNvPr id="5" name="">
            <a:extLst xmlns:a="http://schemas.openxmlformats.org/drawingml/2006/main">
              <a:ext uri="{FF2B5EF4-FFF2-40B4-BE49-F238E27FC236}">
                <a16:creationId xmlns:a16="http://schemas.microsoft.com/office/drawing/2014/main" id="{F617E456-6FB9-40D1-ACA7-55A90DB69015}"/>
              </a:ext>
            </a:extLst>
          </p:cNvPr>
          <p:cNvSpPr>
            <a:spLocks xmlns:a="http://schemas.openxmlformats.org/drawingml/2006/main" noGrp="1"/>
          </p:cNvSpPr>
          <p:nvPr/>
        </p:nvSpPr>
        <p:spPr>
          <a:xfrm xmlns:a="http://schemas.openxmlformats.org/drawingml/2006/main">
            <a:off x="685800" y="5381625"/>
            <a:ext cx="1009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CCDCDF"/>
                </a:solidFill>
                <a:latin typeface="Calibri"/>
                <a:ea typeface="Calibri"/>
                <a:cs typeface="Calibri"/>
              </a:defRPr>
            </a:defPPr>
          </a:lstStyle>
          <a:p xmlns:a="http://schemas.openxmlformats.org/drawingml/2006/main">
            <a:pPr>
              <a:defRPr sz="1650" b="0">
                <a:solidFill>
                  <a:srgbClr val="CCDCDF"/>
                </a:solidFill>
                <a:latin typeface="Calibri"/>
                <a:ea typeface="Calibri"/>
                <a:cs typeface="Calibri"/>
              </a:defRPr>
            </a:pPr>
            <a:r>
              <a:rPr sz="1650" b="0">
                <a:solidFill>
                  <a:srgbClr val="CCDCDF"/>
                </a:solidFill>
                <a:latin typeface="Calibri"/>
                <a:ea typeface="Calibri"/>
                <a:cs typeface="Calibri"/>
              </a:rPr>
              <a:t>Atharva Ashish Vyas   /   PES1UG24CS093</a:t>
            </a:r>
          </a:p>
          <a:p xmlns:a="http://schemas.openxmlformats.org/drawingml/2006/main">
            <a:pPr>
              <a:defRPr sz="1650" b="0">
                <a:solidFill>
                  <a:srgbClr val="CCDCDF"/>
                </a:solidFill>
                <a:latin typeface="Calibri"/>
                <a:ea typeface="Calibri"/>
                <a:cs typeface="Calibri"/>
              </a:defRPr>
            </a:pPr>
            <a:r>
              <a:rPr sz="1650" b="0">
                <a:solidFill>
                  <a:srgbClr val="CCDCDF"/>
                </a:solidFill>
                <a:latin typeface="Calibri"/>
                <a:ea typeface="Calibri"/>
                <a:cs typeface="Calibri"/>
              </a:rPr>
              <a:t>Atharva Rakesh Bhidre   /   PES1UG24CS095</a:t>
            </a:r>
          </a:p>
        </p:txBody>
      </p:sp>
    </p:spTree>
    <p:extLst>
      <p:ext uri="{BB962C8B-B14F-4D97-AF65-F5344CB8AC3E}">
        <p14:creationId xmlns:p14="http://schemas.microsoft.com/office/powerpoint/2010/main" val="1909387379"/>
      </p:ext>
    </p:extLst>
  </p:cSld>
</p:sld>
</file>

<file path=ppt/slides/slide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EE9706-B24C-417D-811E-C60C9B9FE0E9}"/>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The prediction problem</a:t>
            </a:r>
          </a:p>
        </p:txBody>
      </p:sp>
      <p:sp>
        <p:nvSpPr>
          <p:cNvPr id="2" name="">
            <a:extLst xmlns:a="http://schemas.openxmlformats.org/drawingml/2006/main">
              <a:ext uri="{FF2B5EF4-FFF2-40B4-BE49-F238E27FC236}">
                <a16:creationId xmlns:a16="http://schemas.microsoft.com/office/drawing/2014/main" id="{3137EB12-F92E-4097-8421-6D883A26E70B}"/>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02</a:t>
            </a:r>
          </a:p>
        </p:txBody>
      </p:sp>
      <p:sp>
        <p:nvSpPr>
          <p:cNvPr id="3" name="">
            <a:extLst xmlns:a="http://schemas.openxmlformats.org/drawingml/2006/main">
              <a:ext uri="{FF2B5EF4-FFF2-40B4-BE49-F238E27FC236}">
                <a16:creationId xmlns:a16="http://schemas.microsoft.com/office/drawing/2014/main" id="{81DEF2FC-5338-4EAF-937E-B0C9AECD6CA4}"/>
              </a:ext>
            </a:extLst>
          </p:cNvPr>
          <p:cNvSpPr>
            <a:spLocks xmlns:a="http://schemas.openxmlformats.org/drawingml/2006/main" noGrp="1"/>
          </p:cNvSpPr>
          <p:nvPr/>
        </p:nvSpPr>
        <p:spPr>
          <a:xfrm xmlns:a="http://schemas.openxmlformats.org/drawingml/2006/main">
            <a:off x="647700" y="14763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142C42"/>
                </a:solidFill>
                <a:latin typeface="Calibri"/>
                <a:ea typeface="Calibri"/>
                <a:cs typeface="Calibri"/>
              </a:defRPr>
            </a:defPPr>
          </a:lstStyle>
          <a:p xmlns:a="http://schemas.openxmlformats.org/drawingml/2006/main">
            <a:pPr>
              <a:defRPr sz="2775" b="1">
                <a:solidFill>
                  <a:srgbClr val="142C42"/>
                </a:solidFill>
                <a:latin typeface="Calibri"/>
                <a:ea typeface="Calibri"/>
                <a:cs typeface="Calibri"/>
              </a:defRPr>
            </a:pPr>
            <a:r>
              <a:rPr sz="2775" b="1">
                <a:solidFill>
                  <a:srgbClr val="142C42"/>
                </a:solidFill>
                <a:latin typeface="Calibri"/>
                <a:ea typeface="Calibri"/>
                <a:cs typeface="Calibri"/>
              </a:rPr>
              <a:t>Bankruptcy within three years</a:t>
            </a:r>
          </a:p>
        </p:txBody>
      </p:sp>
      <p:sp>
        <p:nvSpPr>
          <p:cNvPr id="4" name="">
            <a:extLst xmlns:a="http://schemas.openxmlformats.org/drawingml/2006/main">
              <a:ext uri="{FF2B5EF4-FFF2-40B4-BE49-F238E27FC236}">
                <a16:creationId xmlns:a16="http://schemas.microsoft.com/office/drawing/2014/main" id="{90D38AC0-13F9-479A-98D0-340E1BDB4027}"/>
              </a:ext>
            </a:extLst>
          </p:cNvPr>
          <p:cNvSpPr>
            <a:spLocks xmlns:a="http://schemas.openxmlformats.org/drawingml/2006/main" noGrp="1"/>
          </p:cNvSpPr>
          <p:nvPr/>
        </p:nvSpPr>
        <p:spPr>
          <a:xfrm xmlns:a="http://schemas.openxmlformats.org/drawingml/2006/main">
            <a:off x="647700" y="22383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64 financial ratios describe each company statement.</a:t>
            </a:r>
          </a:p>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The target is 1 for bankruptcy and 0 otherwise.</a:t>
            </a:r>
          </a:p>
        </p:txBody>
      </p:sp>
      <p:sp>
        <p:nvSpPr>
          <p:cNvPr id="5" name="">
            <a:extLst xmlns:a="http://schemas.openxmlformats.org/drawingml/2006/main">
              <a:ext uri="{FF2B5EF4-FFF2-40B4-BE49-F238E27FC236}">
                <a16:creationId xmlns:a16="http://schemas.microsoft.com/office/drawing/2014/main" id="{E9A46ECF-18EE-4F7E-88F3-9DF6868C0DF9}"/>
              </a:ext>
            </a:extLst>
          </p:cNvPr>
          <p:cNvSpPr>
            <a:spLocks xmlns:a="http://schemas.openxmlformats.org/drawingml/2006/main" noGrp="1"/>
          </p:cNvSpPr>
          <p:nvPr/>
        </p:nvSpPr>
        <p:spPr>
          <a:xfrm xmlns:a="http://schemas.openxmlformats.org/drawingml/2006/main">
            <a:off x="666750" y="3781425"/>
            <a:ext cx="342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6150" b="1">
                <a:solidFill>
                  <a:srgbClr val="007F78"/>
                </a:solidFill>
                <a:latin typeface="Calibri"/>
                <a:ea typeface="Calibri"/>
                <a:cs typeface="Calibri"/>
              </a:defRPr>
            </a:defPPr>
          </a:lstStyle>
          <a:p xmlns:a="http://schemas.openxmlformats.org/drawingml/2006/main">
            <a:pPr>
              <a:defRPr sz="6150" b="1">
                <a:solidFill>
                  <a:srgbClr val="007F78"/>
                </a:solidFill>
                <a:latin typeface="Calibri"/>
                <a:ea typeface="Calibri"/>
                <a:cs typeface="Calibri"/>
              </a:defRPr>
            </a:pPr>
            <a:r>
              <a:rPr sz="6150" b="1">
                <a:solidFill>
                  <a:srgbClr val="007F78"/>
                </a:solidFill>
                <a:latin typeface="Calibri"/>
                <a:ea typeface="Calibri"/>
                <a:cs typeface="Calibri"/>
              </a:rPr>
              <a:t>4.73%</a:t>
            </a:r>
          </a:p>
        </p:txBody>
      </p:sp>
      <p:sp>
        <p:nvSpPr>
          <p:cNvPr id="6" name="">
            <a:extLst xmlns:a="http://schemas.openxmlformats.org/drawingml/2006/main">
              <a:ext uri="{FF2B5EF4-FFF2-40B4-BE49-F238E27FC236}">
                <a16:creationId xmlns:a16="http://schemas.microsoft.com/office/drawing/2014/main" id="{798372C5-5266-4A81-B26F-D8C1D60AE9CD}"/>
              </a:ext>
            </a:extLst>
          </p:cNvPr>
          <p:cNvSpPr>
            <a:spLocks xmlns:a="http://schemas.openxmlformats.org/drawingml/2006/main" noGrp="1"/>
          </p:cNvSpPr>
          <p:nvPr/>
        </p:nvSpPr>
        <p:spPr>
          <a:xfrm xmlns:a="http://schemas.openxmlformats.org/drawingml/2006/main">
            <a:off x="685800" y="4838700"/>
            <a:ext cx="419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17384"/>
                </a:solidFill>
                <a:latin typeface="Calibri"/>
                <a:ea typeface="Calibri"/>
                <a:cs typeface="Calibri"/>
              </a:defRPr>
            </a:defPPr>
          </a:lstStyle>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positive labels after cleaning</a:t>
            </a:r>
          </a:p>
        </p:txBody>
      </p:sp>
      <p:graphicFrame>
        <p:nvGraphicFramePr>
          <p:cNvPr id="7" name="Chart">
            <a:extLst xmlns:a="http://schemas.openxmlformats.org/drawingml/2006/main">
              <a:ext uri="{FF2B5EF4-FFF2-40B4-BE49-F238E27FC236}">
                <a16:creationId xmlns:a16="http://schemas.microsoft.com/office/drawing/2014/main" id="{B75E6D02-7100-4DCD-9C57-E71053DF8FE1}"/>
              </a:ext>
            </a:extLst>
          </p:cNvPr>
          <p:cNvGraphicFramePr/>
          <p:nvPr/>
        </p:nvGraphicFramePr>
        <p:xfrm>
          <a:off xmlns:a="http://schemas.openxmlformats.org/drawingml/2006/main" x="5238750" y="3352800"/>
          <a:ext xmlns:a="http://schemas.openxmlformats.org/drawingml/2006/main" cx="6191250" cy="2333625"/>
        </p:xfrm>
        <a:graphic xmlns:a="http://schemas.openxmlformats.org/drawingml/2006/main">
          <a:graphicData uri="http://schemas.openxmlformats.org/drawingml/2006/chart">
            <c:chart xmlns:r="http://schemas.openxmlformats.org/officeDocument/2006/relationships" xmlns:c="http://schemas.openxmlformats.org/drawingml/2006/chart" r:id="R60be8e89f2b447d2"/>
          </a:graphicData>
        </a:graphic>
      </p:graphicFrame>
      <p:sp>
        <p:nvSpPr>
          <p:cNvPr id="8" name="">
            <a:extLst xmlns:a="http://schemas.openxmlformats.org/drawingml/2006/main">
              <a:ext uri="{FF2B5EF4-FFF2-40B4-BE49-F238E27FC236}">
                <a16:creationId xmlns:a16="http://schemas.microsoft.com/office/drawing/2014/main" id="{1B369293-B77D-4B69-B14F-1E6093EB5D6D}"/>
              </a:ext>
            </a:extLst>
          </p:cNvPr>
          <p:cNvSpPr>
            <a:spLocks xmlns:a="http://schemas.openxmlformats.org/drawingml/2006/main" noGrp="1"/>
          </p:cNvSpPr>
          <p:nvPr/>
        </p:nvSpPr>
        <p:spPr>
          <a:xfrm xmlns:a="http://schemas.openxmlformats.org/drawingml/2006/main">
            <a:off x="685800" y="57912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17384"/>
                </a:solidFill>
                <a:latin typeface="Calibri"/>
                <a:ea typeface="Calibri"/>
                <a:cs typeface="Calibri"/>
              </a:defRPr>
            </a:defPPr>
          </a:lstStyle>
          <a:p xmlns:a="http://schemas.openxmlformats.org/drawingml/2006/main">
            <a:pPr>
              <a:defRPr sz="1800" b="0">
                <a:solidFill>
                  <a:srgbClr val="617384"/>
                </a:solidFill>
                <a:latin typeface="Calibri"/>
                <a:ea typeface="Calibri"/>
                <a:cs typeface="Calibri"/>
              </a:defRPr>
            </a:pPr>
            <a:r>
              <a:rPr sz="1800" b="0">
                <a:solidFill>
                  <a:srgbClr val="617384"/>
                </a:solidFill>
                <a:latin typeface="Calibri"/>
                <a:ea typeface="Calibri"/>
                <a:cs typeface="Calibri"/>
              </a:rPr>
              <a:t>An always non-bankrupt model can exceed 95% accuracy while detecting no failures.</a:t>
            </a:r>
          </a:p>
        </p:txBody>
      </p:sp>
    </p:spTree>
    <p:extLst>
      <p:ext uri="{BB962C8B-B14F-4D97-AF65-F5344CB8AC3E}">
        <p14:creationId xmlns:p14="http://schemas.microsoft.com/office/powerpoint/2010/main" val="1121045169"/>
      </p:ext>
    </p:extLst>
  </p:cSld>
</p:sld>
</file>

<file path=ppt/slides/slide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E229FCF-E3AF-424D-8EF2-0ED36F824D01}"/>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Data quality before modeling</a:t>
            </a:r>
          </a:p>
        </p:txBody>
      </p:sp>
      <p:sp>
        <p:nvSpPr>
          <p:cNvPr id="2" name="">
            <a:extLst xmlns:a="http://schemas.openxmlformats.org/drawingml/2006/main">
              <a:ext uri="{FF2B5EF4-FFF2-40B4-BE49-F238E27FC236}">
                <a16:creationId xmlns:a16="http://schemas.microsoft.com/office/drawing/2014/main" id="{0CA183BC-DC1A-4728-B81E-13C6CB54BC3C}"/>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03</a:t>
            </a:r>
          </a:p>
        </p:txBody>
      </p:sp>
      <p:graphicFrame>
        <p:nvGraphicFramePr>
          <p:cNvPr id="3" name="">
            <a:extLst xmlns:a="http://schemas.openxmlformats.org/drawingml/2006/main">
              <a:ext uri="{FF2B5EF4-FFF2-40B4-BE49-F238E27FC236}">
                <a16:creationId xmlns:a16="http://schemas.microsoft.com/office/drawing/2014/main" id="{98321708-E967-4BCC-8705-F32E7C608B2B}"/>
              </a:ext>
            </a:extLst>
          </p:cNvPr>
          <p:cNvGraphicFramePr/>
          <p:nvPr/>
        </p:nvGraphicFramePr>
        <p:xfrm>
          <a:off xmlns:a="http://schemas.openxmlformats.org/drawingml/2006/main" x="647700" y="1524000"/>
          <a:ext xmlns:a="http://schemas.openxmlformats.org/drawingml/2006/main" cx="10858500" cy="3476625"/>
        </p:xfrm>
        <a:graphic xmlns:a="http://schemas.openxmlformats.org/drawingml/2006/main">
          <a:graphicData uri="http://schemas.openxmlformats.org/drawingml/2006/table">
            <a:tbl>
              <a:tblPr/>
              <a:tblGrid>
                <a:gridCol w="6858000"/>
                <a:gridCol w="4000500"/>
              </a:tblGrid>
              <a:tr h="579438">
                <a:tc>
                  <a:txBody>
                    <a:bodyPr lIns="114300" tIns="114300" rIns="114300" bIns="114300"/>
                    <a:lstStyle/>
                    <a:p>
                      <a:r>
                        <a:rPr sz="1875" b="1">
                          <a:solidFill>
                            <a:srgbClr val="FFFFFF"/>
                          </a:solidFill>
                          <a:latin typeface="Calibri"/>
                          <a:ea typeface="Calibri"/>
                          <a:cs typeface="Calibri"/>
                        </a:rPr>
                        <a:t>Audit item</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Verified finding</a:t>
                      </a:r>
                    </a:p>
                  </a:txBody>
                  <a:tcPr marL="91440" marR="91440" marT="45720" marB="45720" anchor="ctr">
                    <a:solidFill>
                      <a:srgbClr val="142C42"/>
                    </a:solidFill>
                  </a:tcPr>
                </a:tc>
              </a:tr>
              <a:tr h="579438">
                <a:tc>
                  <a:txBody>
                    <a:bodyPr lIns="114300" tIns="114300" rIns="114300" bIns="114300"/>
                    <a:lstStyle/>
                    <a:p>
                      <a:r>
                        <a:rPr sz="1875" b="0">
                          <a:solidFill>
                            <a:srgbClr val="142C42"/>
                          </a:solidFill>
                          <a:latin typeface="Calibri"/>
                          <a:ea typeface="Calibri"/>
                          <a:cs typeface="Calibri"/>
                        </a:rPr>
                        <a:t>Raw statements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10,503</a:t>
                      </a:r>
                    </a:p>
                  </a:txBody>
                  <a:tcPr marL="91440" marR="91440" marT="45720" marB="45720" anchor="ctr">
                    <a:solidFill>
                      <a:srgbClr val="FFFFFF"/>
                    </a:solidFill>
                  </a:tcPr>
                </a:tc>
              </a:tr>
              <a:tr h="579438">
                <a:tc>
                  <a:txBody>
                    <a:bodyPr lIns="114300" tIns="114300" rIns="114300" bIns="114300"/>
                    <a:lstStyle/>
                    <a:p>
                      <a:r>
                        <a:rPr sz="1875" b="0">
                          <a:solidFill>
                            <a:srgbClr val="142C42"/>
                          </a:solidFill>
                          <a:latin typeface="Calibri"/>
                          <a:ea typeface="Calibri"/>
                          <a:cs typeface="Calibri"/>
                        </a:rPr>
                        <a:t>Exact duplicate rows removed</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87</a:t>
                      </a:r>
                    </a:p>
                  </a:txBody>
                  <a:tcPr marL="91440" marR="91440" marT="45720" marB="45720" anchor="ctr">
                    <a:solidFill>
                      <a:srgbClr val="F5F4EF"/>
                    </a:solidFill>
                  </a:tcPr>
                </a:tc>
              </a:tr>
              <a:tr h="579438">
                <a:tc>
                  <a:txBody>
                    <a:bodyPr lIns="114300" tIns="114300" rIns="114300" bIns="114300"/>
                    <a:lstStyle/>
                    <a:p>
                      <a:r>
                        <a:rPr sz="1875" b="0">
                          <a:solidFill>
                            <a:srgbClr val="142C42"/>
                          </a:solidFill>
                          <a:latin typeface="Calibri"/>
                          <a:ea typeface="Calibri"/>
                          <a:cs typeface="Calibri"/>
                        </a:rPr>
                        <a:t>Clean statements / bankrupt labels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10,416 / 493</a:t>
                      </a:r>
                    </a:p>
                  </a:txBody>
                  <a:tcPr marL="91440" marR="91440" marT="45720" marB="45720" anchor="ctr">
                    <a:solidFill>
                      <a:srgbClr val="FFFFFF"/>
                    </a:solidFill>
                  </a:tcPr>
                </a:tc>
              </a:tr>
              <a:tr h="579438">
                <a:tc>
                  <a:txBody>
                    <a:bodyPr lIns="114300" tIns="114300" rIns="114300" bIns="114300"/>
                    <a:lstStyle/>
                    <a:p>
                      <a:r>
                        <a:rPr sz="1875" b="0">
                          <a:solidFill>
                            <a:srgbClr val="142C42"/>
                          </a:solidFill>
                          <a:latin typeface="Calibri"/>
                          <a:ea typeface="Calibri"/>
                          <a:cs typeface="Calibri"/>
                        </a:rPr>
                        <a:t>Missing predictor cells after cleaning</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9,833</a:t>
                      </a:r>
                    </a:p>
                  </a:txBody>
                  <a:tcPr marL="91440" marR="91440" marT="45720" marB="45720" anchor="ctr">
                    <a:solidFill>
                      <a:srgbClr val="F5F4EF"/>
                    </a:solidFill>
                  </a:tcPr>
                </a:tc>
              </a:tr>
              <a:tr h="579438">
                <a:tc>
                  <a:txBody>
                    <a:bodyPr lIns="114300" tIns="114300" rIns="114300" bIns="114300"/>
                    <a:lstStyle/>
                    <a:p>
                      <a:r>
                        <a:rPr sz="1875" b="0">
                          <a:solidFill>
                            <a:srgbClr val="142C42"/>
                          </a:solidFill>
                          <a:latin typeface="Calibri"/>
                          <a:ea typeface="Calibri"/>
                          <a:cs typeface="Calibri"/>
                        </a:rPr>
                        <a:t>Conflicting identical feature vectors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0</a:t>
                      </a:r>
                    </a:p>
                  </a:txBody>
                  <a:tcPr marL="91440" marR="91440" marT="45720" marB="4572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2D359BE3-D726-42D6-84A2-71C1FFC850EF}"/>
              </a:ext>
            </a:extLst>
          </p:cNvPr>
          <p:cNvSpPr>
            <a:spLocks xmlns:a="http://schemas.openxmlformats.org/drawingml/2006/main" noGrp="1"/>
          </p:cNvSpPr>
          <p:nvPr/>
        </p:nvSpPr>
        <p:spPr>
          <a:xfrm xmlns:a="http://schemas.openxmlformats.org/drawingml/2006/main">
            <a:off x="666750" y="5353050"/>
            <a:ext cx="10620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17384"/>
                </a:solidFill>
                <a:latin typeface="Calibri"/>
                <a:ea typeface="Calibri"/>
                <a:cs typeface="Calibri"/>
              </a:defRPr>
            </a:defPPr>
          </a:lstStyle>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Missing values are retained for training-time treatment.</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Company IDs are unavailable, so company-level separation cannot be verified.</a:t>
            </a:r>
          </a:p>
        </p:txBody>
      </p:sp>
    </p:spTree>
    <p:extLst>
      <p:ext uri="{BB962C8B-B14F-4D97-AF65-F5344CB8AC3E}">
        <p14:creationId xmlns:p14="http://schemas.microsoft.com/office/powerpoint/2010/main" val="246421115"/>
      </p:ext>
    </p:extLst>
  </p:cSld>
</p:sld>
</file>

<file path=ppt/slides/slide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D803BF-8D22-4284-9169-2071931612CD}"/>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Experimental design</a:t>
            </a:r>
          </a:p>
        </p:txBody>
      </p:sp>
      <p:sp>
        <p:nvSpPr>
          <p:cNvPr id="2" name="">
            <a:extLst xmlns:a="http://schemas.openxmlformats.org/drawingml/2006/main">
              <a:ext uri="{FF2B5EF4-FFF2-40B4-BE49-F238E27FC236}">
                <a16:creationId xmlns:a16="http://schemas.microsoft.com/office/drawing/2014/main" id="{05B325F6-91A3-4369-B9D6-81E572EC6274}"/>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04</a:t>
            </a:r>
          </a:p>
        </p:txBody>
      </p:sp>
      <p:sp>
        <p:nvSpPr>
          <p:cNvPr id="3" name="">
            <a:extLst xmlns:a="http://schemas.openxmlformats.org/drawingml/2006/main">
              <a:ext uri="{FF2B5EF4-FFF2-40B4-BE49-F238E27FC236}">
                <a16:creationId xmlns:a16="http://schemas.microsoft.com/office/drawing/2014/main" id="{645EFEC1-6DF9-4F1B-B09E-8D8FC178607C}"/>
              </a:ext>
            </a:extLst>
          </p:cNvPr>
          <p:cNvSpPr>
            <a:spLocks xmlns:a="http://schemas.openxmlformats.org/drawingml/2006/main" noGrp="1"/>
          </p:cNvSpPr>
          <p:nvPr/>
        </p:nvSpPr>
        <p:spPr>
          <a:xfrm xmlns:a="http://schemas.openxmlformats.org/drawingml/2006/main">
            <a:off x="685800" y="158115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007F78"/>
                </a:solidFill>
                <a:latin typeface="Calibri"/>
                <a:ea typeface="Calibri"/>
                <a:cs typeface="Calibri"/>
              </a:defRPr>
            </a:defPPr>
          </a:lstStyle>
          <a:p xmlns:a="http://schemas.openxmlformats.org/drawingml/2006/main">
            <a:pPr>
              <a:defRPr sz="5100" b="1">
                <a:solidFill>
                  <a:srgbClr val="007F78"/>
                </a:solidFill>
                <a:latin typeface="Calibri"/>
                <a:ea typeface="Calibri"/>
                <a:cs typeface="Calibri"/>
              </a:defRPr>
            </a:pPr>
            <a:r>
              <a:rPr sz="5100" b="1">
                <a:solidFill>
                  <a:srgbClr val="007F78"/>
                </a:solidFill>
                <a:latin typeface="Calibri"/>
                <a:ea typeface="Calibri"/>
                <a:cs typeface="Calibri"/>
              </a:rPr>
              <a:t>8,332</a:t>
            </a:r>
          </a:p>
        </p:txBody>
      </p:sp>
      <p:sp>
        <p:nvSpPr>
          <p:cNvPr id="4" name="">
            <a:extLst xmlns:a="http://schemas.openxmlformats.org/drawingml/2006/main">
              <a:ext uri="{FF2B5EF4-FFF2-40B4-BE49-F238E27FC236}">
                <a16:creationId xmlns:a16="http://schemas.microsoft.com/office/drawing/2014/main" id="{24708866-E829-4794-80CD-BC28B899DCD0}"/>
              </a:ext>
            </a:extLst>
          </p:cNvPr>
          <p:cNvSpPr>
            <a:spLocks xmlns:a="http://schemas.openxmlformats.org/drawingml/2006/main" noGrp="1"/>
          </p:cNvSpPr>
          <p:nvPr/>
        </p:nvSpPr>
        <p:spPr>
          <a:xfrm xmlns:a="http://schemas.openxmlformats.org/drawingml/2006/main">
            <a:off x="685800" y="2447925"/>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development rows</a:t>
            </a:r>
          </a:p>
        </p:txBody>
      </p:sp>
      <p:sp>
        <p:nvSpPr>
          <p:cNvPr id="5" name="">
            <a:extLst xmlns:a="http://schemas.openxmlformats.org/drawingml/2006/main">
              <a:ext uri="{FF2B5EF4-FFF2-40B4-BE49-F238E27FC236}">
                <a16:creationId xmlns:a16="http://schemas.microsoft.com/office/drawing/2014/main" id="{C1930FA0-EEE2-4B90-9BAC-BEBDE16DCC53}"/>
              </a:ext>
            </a:extLst>
          </p:cNvPr>
          <p:cNvSpPr>
            <a:spLocks xmlns:a="http://schemas.openxmlformats.org/drawingml/2006/main" noGrp="1"/>
          </p:cNvSpPr>
          <p:nvPr/>
        </p:nvSpPr>
        <p:spPr>
          <a:xfrm xmlns:a="http://schemas.openxmlformats.org/drawingml/2006/main">
            <a:off x="6810375" y="1581150"/>
            <a:ext cx="4286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142C42"/>
                </a:solidFill>
                <a:latin typeface="Calibri"/>
                <a:ea typeface="Calibri"/>
                <a:cs typeface="Calibri"/>
              </a:defRPr>
            </a:defPPr>
          </a:lstStyle>
          <a:p xmlns:a="http://schemas.openxmlformats.org/drawingml/2006/main">
            <a:pPr>
              <a:defRPr sz="5100" b="1">
                <a:solidFill>
                  <a:srgbClr val="142C42"/>
                </a:solidFill>
                <a:latin typeface="Calibri"/>
                <a:ea typeface="Calibri"/>
                <a:cs typeface="Calibri"/>
              </a:defRPr>
            </a:pPr>
            <a:r>
              <a:rPr sz="5100" b="1">
                <a:solidFill>
                  <a:srgbClr val="142C42"/>
                </a:solidFill>
                <a:latin typeface="Calibri"/>
                <a:ea typeface="Calibri"/>
                <a:cs typeface="Calibri"/>
              </a:rPr>
              <a:t>2,084</a:t>
            </a:r>
          </a:p>
        </p:txBody>
      </p:sp>
      <p:sp>
        <p:nvSpPr>
          <p:cNvPr id="6" name="">
            <a:extLst xmlns:a="http://schemas.openxmlformats.org/drawingml/2006/main">
              <a:ext uri="{FF2B5EF4-FFF2-40B4-BE49-F238E27FC236}">
                <a16:creationId xmlns:a16="http://schemas.microsoft.com/office/drawing/2014/main" id="{ABBEA379-4CC9-48DD-B2B2-49A102FD4E59}"/>
              </a:ext>
            </a:extLst>
          </p:cNvPr>
          <p:cNvSpPr>
            <a:spLocks xmlns:a="http://schemas.openxmlformats.org/drawingml/2006/main" noGrp="1"/>
          </p:cNvSpPr>
          <p:nvPr/>
        </p:nvSpPr>
        <p:spPr>
          <a:xfrm xmlns:a="http://schemas.openxmlformats.org/drawingml/2006/main">
            <a:off x="6810375" y="244792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held-out test rows</a:t>
            </a:r>
          </a:p>
        </p:txBody>
      </p:sp>
      <p:graphicFrame>
        <p:nvGraphicFramePr>
          <p:cNvPr id="7" name="">
            <a:extLst xmlns:a="http://schemas.openxmlformats.org/drawingml/2006/main">
              <a:ext uri="{FF2B5EF4-FFF2-40B4-BE49-F238E27FC236}">
                <a16:creationId xmlns:a16="http://schemas.microsoft.com/office/drawing/2014/main" id="{BB46D6C6-E7AA-4977-9317-54FE770ADB8D}"/>
              </a:ext>
            </a:extLst>
          </p:cNvPr>
          <p:cNvGraphicFramePr/>
          <p:nvPr/>
        </p:nvGraphicFramePr>
        <p:xfrm>
          <a:off xmlns:a="http://schemas.openxmlformats.org/drawingml/2006/main" x="666750" y="3257550"/>
          <a:ext xmlns:a="http://schemas.openxmlformats.org/drawingml/2006/main" cx="10810875" cy="2362200"/>
        </p:xfrm>
        <a:graphic xmlns:a="http://schemas.openxmlformats.org/drawingml/2006/main">
          <a:graphicData uri="http://schemas.openxmlformats.org/drawingml/2006/table">
            <a:tbl>
              <a:tblPr/>
              <a:tblGrid>
                <a:gridCol w="6096000"/>
                <a:gridCol w="4714875"/>
              </a:tblGrid>
              <a:tr h="590550">
                <a:tc>
                  <a:txBody>
                    <a:bodyPr lIns="114300" tIns="114300" rIns="114300" bIns="114300"/>
                    <a:lstStyle/>
                    <a:p>
                      <a:r>
                        <a:rPr sz="1875" b="1">
                          <a:solidFill>
                            <a:srgbClr val="FFFFFF"/>
                          </a:solidFill>
                          <a:latin typeface="Calibri"/>
                          <a:ea typeface="Calibri"/>
                          <a:cs typeface="Calibri"/>
                        </a:rPr>
                        <a:t>Development only</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Final evaluation</a:t>
                      </a:r>
                    </a:p>
                  </a:txBody>
                  <a:tcPr marL="91440" marR="91440" marT="45720" marB="45720" anchor="ctr">
                    <a:solidFill>
                      <a:srgbClr val="142C42"/>
                    </a:solidFill>
                  </a:tcPr>
                </a:tc>
              </a:tr>
              <a:tr h="590550">
                <a:tc>
                  <a:txBody>
                    <a:bodyPr lIns="114300" tIns="114300" rIns="114300" bIns="114300"/>
                    <a:lstStyle/>
                    <a:p>
                      <a:r>
                        <a:rPr sz="1875" b="0">
                          <a:solidFill>
                            <a:srgbClr val="142C42"/>
                          </a:solidFill>
                          <a:latin typeface="Calibri"/>
                          <a:ea typeface="Calibri"/>
                          <a:cs typeface="Calibri"/>
                        </a:rPr>
                        <a:t>Three stratified folds</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One untouched stratified holdout</a:t>
                      </a:r>
                    </a:p>
                  </a:txBody>
                  <a:tcPr marL="91440" marR="91440" marT="45720" marB="45720" anchor="ctr">
                    <a:solidFill>
                      <a:srgbClr val="FFFFFF"/>
                    </a:solidFill>
                  </a:tcPr>
                </a:tc>
              </a:tr>
              <a:tr h="590550">
                <a:tc>
                  <a:txBody>
                    <a:bodyPr lIns="114300" tIns="114300" rIns="114300" bIns="114300"/>
                    <a:lstStyle/>
                    <a:p>
                      <a:r>
                        <a:rPr sz="1875" b="0">
                          <a:solidFill>
                            <a:srgbClr val="142C42"/>
                          </a:solidFill>
                          <a:latin typeface="Calibri"/>
                          <a:ea typeface="Calibri"/>
                          <a:cs typeface="Calibri"/>
                        </a:rPr>
                        <a:t>Select model by mean average precision</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Evaluate the frozen model</a:t>
                      </a:r>
                    </a:p>
                  </a:txBody>
                  <a:tcPr marL="91440" marR="91440" marT="45720" marB="45720" anchor="ctr">
                    <a:solidFill>
                      <a:srgbClr val="F5F4EF"/>
                    </a:solidFill>
                  </a:tcPr>
                </a:tc>
              </a:tr>
              <a:tr h="590550">
                <a:tc>
                  <a:txBody>
                    <a:bodyPr lIns="114300" tIns="114300" rIns="114300" bIns="114300"/>
                    <a:lstStyle/>
                    <a:p>
                      <a:r>
                        <a:rPr sz="1875" b="0">
                          <a:solidFill>
                            <a:srgbClr val="142C42"/>
                          </a:solidFill>
                          <a:latin typeface="Calibri"/>
                          <a:ea typeface="Calibri"/>
                          <a:cs typeface="Calibri"/>
                        </a:rPr>
                        <a:t>Choose threshold by OOF F2</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Report detections and errors</a:t>
                      </a:r>
                    </a:p>
                  </a:txBody>
                  <a:tcPr marL="91440" marR="91440" marT="45720" marB="45720" anchor="ctr">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9EC9948C-14FE-44D9-8FF5-5F6F9BA8F936}"/>
              </a:ext>
            </a:extLst>
          </p:cNvPr>
          <p:cNvSpPr>
            <a:spLocks xmlns:a="http://schemas.openxmlformats.org/drawingml/2006/main" noGrp="1"/>
          </p:cNvSpPr>
          <p:nvPr/>
        </p:nvSpPr>
        <p:spPr>
          <a:xfrm xmlns:a="http://schemas.openxmlformats.org/drawingml/2006/main">
            <a:off x="685800" y="59245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17384"/>
                </a:solidFill>
                <a:latin typeface="Calibri"/>
                <a:ea typeface="Calibri"/>
                <a:cs typeface="Calibri"/>
              </a:defRPr>
            </a:defPPr>
          </a:lstStyle>
          <a:p xmlns:a="http://schemas.openxmlformats.org/drawingml/2006/main">
            <a:pPr>
              <a:defRPr sz="1725" b="0">
                <a:solidFill>
                  <a:srgbClr val="617384"/>
                </a:solidFill>
                <a:latin typeface="Calibri"/>
                <a:ea typeface="Calibri"/>
                <a:cs typeface="Calibri"/>
              </a:defRPr>
            </a:pPr>
            <a:r>
              <a:rPr sz="1725" b="0">
                <a:solidFill>
                  <a:srgbClr val="617384"/>
                </a:solidFill>
                <a:latin typeface="Calibri"/>
                <a:ea typeface="Calibri"/>
                <a:cs typeface="Calibri"/>
              </a:rPr>
              <a:t>Seed 42. Learned preprocessing is fitted separately inside every training fold.</a:t>
            </a:r>
          </a:p>
        </p:txBody>
      </p:sp>
    </p:spTree>
    <p:extLst>
      <p:ext uri="{BB962C8B-B14F-4D97-AF65-F5344CB8AC3E}">
        <p14:creationId xmlns:p14="http://schemas.microsoft.com/office/powerpoint/2010/main" val="1192256790"/>
      </p:ext>
    </p:extLst>
  </p:cSld>
</p:sld>
</file>

<file path=ppt/slides/slide5.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26BFD3F-866F-48DA-B276-8635E225C6C8}"/>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Six classifiers, consistent evaluation</a:t>
            </a:r>
          </a:p>
        </p:txBody>
      </p:sp>
      <p:sp>
        <p:nvSpPr>
          <p:cNvPr id="2" name="">
            <a:extLst xmlns:a="http://schemas.openxmlformats.org/drawingml/2006/main">
              <a:ext uri="{FF2B5EF4-FFF2-40B4-BE49-F238E27FC236}">
                <a16:creationId xmlns:a16="http://schemas.microsoft.com/office/drawing/2014/main" id="{98DCF97E-0990-465E-92B5-CF03CB211E51}"/>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05</a:t>
            </a:r>
          </a:p>
        </p:txBody>
      </p:sp>
      <p:graphicFrame>
        <p:nvGraphicFramePr>
          <p:cNvPr id="3" name="">
            <a:extLst xmlns:a="http://schemas.openxmlformats.org/drawingml/2006/main">
              <a:ext uri="{FF2B5EF4-FFF2-40B4-BE49-F238E27FC236}">
                <a16:creationId xmlns:a16="http://schemas.microsoft.com/office/drawing/2014/main" id="{2EDEB0EA-A2D3-4641-A3D8-FF8EF97CA571}"/>
              </a:ext>
            </a:extLst>
          </p:cNvPr>
          <p:cNvGraphicFramePr/>
          <p:nvPr/>
        </p:nvGraphicFramePr>
        <p:xfrm>
          <a:off xmlns:a="http://schemas.openxmlformats.org/drawingml/2006/main" x="647700" y="1504950"/>
          <a:ext xmlns:a="http://schemas.openxmlformats.org/drawingml/2006/main" cx="10858500" cy="3962400"/>
        </p:xfrm>
        <a:graphic xmlns:a="http://schemas.openxmlformats.org/drawingml/2006/main">
          <a:graphicData uri="http://schemas.openxmlformats.org/drawingml/2006/table">
            <a:tbl>
              <a:tblPr/>
              <a:tblGrid>
                <a:gridCol w="4619625"/>
                <a:gridCol w="6238875"/>
              </a:tblGrid>
              <a:tr h="566057">
                <a:tc>
                  <a:txBody>
                    <a:bodyPr lIns="114300" tIns="114300" rIns="114300" bIns="114300"/>
                    <a:lstStyle/>
                    <a:p>
                      <a:r>
                        <a:rPr sz="1725" b="1">
                          <a:solidFill>
                            <a:srgbClr val="FFFFFF"/>
                          </a:solidFill>
                          <a:latin typeface="Calibri"/>
                          <a:ea typeface="Calibri"/>
                          <a:cs typeface="Calibri"/>
                        </a:rPr>
                        <a:t>Model family</a:t>
                      </a:r>
                    </a:p>
                  </a:txBody>
                  <a:tcPr marL="91440" marR="91440" marT="45720" marB="45720" anchor="ctr">
                    <a:solidFill>
                      <a:srgbClr val="142C42"/>
                    </a:solidFill>
                  </a:tcPr>
                </a:tc>
                <a:tc>
                  <a:txBody>
                    <a:bodyPr lIns="114300" tIns="114300" rIns="114300" bIns="114300"/>
                    <a:lstStyle/>
                    <a:p>
                      <a:r>
                        <a:rPr sz="1725" b="1">
                          <a:solidFill>
                            <a:srgbClr val="FFFFFF"/>
                          </a:solidFill>
                          <a:latin typeface="Calibri"/>
                          <a:ea typeface="Calibri"/>
                          <a:cs typeface="Calibri"/>
                        </a:rPr>
                        <a:t>Preprocessing / imbalance treatment</a:t>
                      </a:r>
                    </a:p>
                  </a:txBody>
                  <a:tcPr marL="91440" marR="91440" marT="45720" marB="45720" anchor="ctr">
                    <a:solidFill>
                      <a:srgbClr val="142C42"/>
                    </a:solidFill>
                  </a:tcPr>
                </a:tc>
              </a:tr>
              <a:tr h="566057">
                <a:tc>
                  <a:txBody>
                    <a:bodyPr lIns="114300" tIns="114300" rIns="114300" bIns="114300"/>
                    <a:lstStyle/>
                    <a:p>
                      <a:r>
                        <a:rPr sz="1725" b="0">
                          <a:solidFill>
                            <a:srgbClr val="142C42"/>
                          </a:solidFill>
                          <a:latin typeface="Calibri"/>
                          <a:ea typeface="Calibri"/>
                          <a:cs typeface="Calibri"/>
                        </a:rPr>
                        <a:t>Logistic regression</a:t>
                      </a:r>
                    </a:p>
                  </a:txBody>
                  <a:tcPr marL="91440" marR="91440" marT="45720" marB="45720" anchor="ctr">
                    <a:solidFill>
                      <a:srgbClr val="FFFFFF"/>
                    </a:solidFill>
                  </a:tcPr>
                </a:tc>
                <a:tc>
                  <a:txBody>
                    <a:bodyPr lIns="114300" tIns="114300" rIns="114300" bIns="114300"/>
                    <a:lstStyle/>
                    <a:p>
                      <a:r>
                        <a:rPr sz="1725" b="0">
                          <a:solidFill>
                            <a:srgbClr val="142C42"/>
                          </a:solidFill>
                          <a:latin typeface="Calibri"/>
                          <a:ea typeface="Calibri"/>
                          <a:cs typeface="Calibri"/>
                        </a:rPr>
                        <a:t>Impute, transform, scale; balanced weights</a:t>
                      </a:r>
                    </a:p>
                  </a:txBody>
                  <a:tcPr marL="91440" marR="91440" marT="45720" marB="45720" anchor="ctr">
                    <a:solidFill>
                      <a:srgbClr val="FFFFFF"/>
                    </a:solidFill>
                  </a:tcPr>
                </a:tc>
              </a:tr>
              <a:tr h="566057">
                <a:tc>
                  <a:txBody>
                    <a:bodyPr lIns="114300" tIns="114300" rIns="114300" bIns="114300"/>
                    <a:lstStyle/>
                    <a:p>
                      <a:r>
                        <a:rPr sz="1725" b="0">
                          <a:solidFill>
                            <a:srgbClr val="142C42"/>
                          </a:solidFill>
                          <a:latin typeface="Calibri"/>
                          <a:ea typeface="Calibri"/>
                          <a:cs typeface="Calibri"/>
                        </a:rPr>
                        <a:t>Gaussian naive Bayes</a:t>
                      </a:r>
                    </a:p>
                  </a:txBody>
                  <a:tcPr marL="91440" marR="91440" marT="45720" marB="45720" anchor="ctr">
                    <a:solidFill>
                      <a:srgbClr val="F5F4EF"/>
                    </a:solidFill>
                  </a:tcPr>
                </a:tc>
                <a:tc>
                  <a:txBody>
                    <a:bodyPr lIns="114300" tIns="114300" rIns="114300" bIns="114300"/>
                    <a:lstStyle/>
                    <a:p>
                      <a:r>
                        <a:rPr sz="1725" b="0">
                          <a:solidFill>
                            <a:srgbClr val="142C42"/>
                          </a:solidFill>
                          <a:latin typeface="Calibri"/>
                          <a:ea typeface="Calibri"/>
                          <a:cs typeface="Calibri"/>
                        </a:rPr>
                        <a:t>Impute, transform, scale</a:t>
                      </a:r>
                    </a:p>
                  </a:txBody>
                  <a:tcPr marL="91440" marR="91440" marT="45720" marB="45720" anchor="ctr">
                    <a:solidFill>
                      <a:srgbClr val="F5F4EF"/>
                    </a:solidFill>
                  </a:tcPr>
                </a:tc>
              </a:tr>
              <a:tr h="566057">
                <a:tc>
                  <a:txBody>
                    <a:bodyPr lIns="114300" tIns="114300" rIns="114300" bIns="114300"/>
                    <a:lstStyle/>
                    <a:p>
                      <a:r>
                        <a:rPr sz="1725" b="0">
                          <a:solidFill>
                            <a:srgbClr val="142C42"/>
                          </a:solidFill>
                          <a:latin typeface="Calibri"/>
                          <a:ea typeface="Calibri"/>
                          <a:cs typeface="Calibri"/>
                        </a:rPr>
                        <a:t>RBF support vector machine</a:t>
                      </a:r>
                    </a:p>
                  </a:txBody>
                  <a:tcPr marL="91440" marR="91440" marT="45720" marB="45720" anchor="ctr">
                    <a:solidFill>
                      <a:srgbClr val="FFFFFF"/>
                    </a:solidFill>
                  </a:tcPr>
                </a:tc>
                <a:tc>
                  <a:txBody>
                    <a:bodyPr lIns="114300" tIns="114300" rIns="114300" bIns="114300"/>
                    <a:lstStyle/>
                    <a:p>
                      <a:r>
                        <a:rPr sz="1725" b="0">
                          <a:solidFill>
                            <a:srgbClr val="142C42"/>
                          </a:solidFill>
                          <a:latin typeface="Calibri"/>
                          <a:ea typeface="Calibri"/>
                          <a:cs typeface="Calibri"/>
                        </a:rPr>
                        <a:t>Impute, transform, scale; balanced weights</a:t>
                      </a:r>
                    </a:p>
                  </a:txBody>
                  <a:tcPr marL="91440" marR="91440" marT="45720" marB="45720" anchor="ctr">
                    <a:solidFill>
                      <a:srgbClr val="FFFFFF"/>
                    </a:solidFill>
                  </a:tcPr>
                </a:tc>
              </a:tr>
              <a:tr h="566057">
                <a:tc>
                  <a:txBody>
                    <a:bodyPr lIns="114300" tIns="114300" rIns="114300" bIns="114300"/>
                    <a:lstStyle/>
                    <a:p>
                      <a:r>
                        <a:rPr sz="1725" b="0">
                          <a:solidFill>
                            <a:srgbClr val="142C42"/>
                          </a:solidFill>
                          <a:latin typeface="Calibri"/>
                          <a:ea typeface="Calibri"/>
                          <a:cs typeface="Calibri"/>
                        </a:rPr>
                        <a:t>Random forest</a:t>
                      </a:r>
                    </a:p>
                  </a:txBody>
                  <a:tcPr marL="91440" marR="91440" marT="45720" marB="45720" anchor="ctr">
                    <a:solidFill>
                      <a:srgbClr val="F5F4EF"/>
                    </a:solidFill>
                  </a:tcPr>
                </a:tc>
                <a:tc>
                  <a:txBody>
                    <a:bodyPr lIns="114300" tIns="114300" rIns="114300" bIns="114300"/>
                    <a:lstStyle/>
                    <a:p>
                      <a:r>
                        <a:rPr sz="1725" b="0">
                          <a:solidFill>
                            <a:srgbClr val="142C42"/>
                          </a:solidFill>
                          <a:latin typeface="Calibri"/>
                          <a:ea typeface="Calibri"/>
                          <a:cs typeface="Calibri"/>
                        </a:rPr>
                        <a:t>Impute + missing indicators; balanced weights</a:t>
                      </a:r>
                    </a:p>
                  </a:txBody>
                  <a:tcPr marL="91440" marR="91440" marT="45720" marB="45720" anchor="ctr">
                    <a:solidFill>
                      <a:srgbClr val="F5F4EF"/>
                    </a:solidFill>
                  </a:tcPr>
                </a:tc>
              </a:tr>
              <a:tr h="566057">
                <a:tc>
                  <a:txBody>
                    <a:bodyPr lIns="114300" tIns="114300" rIns="114300" bIns="114300"/>
                    <a:lstStyle/>
                    <a:p>
                      <a:r>
                        <a:rPr sz="1725" b="0">
                          <a:solidFill>
                            <a:srgbClr val="142C42"/>
                          </a:solidFill>
                          <a:latin typeface="Calibri"/>
                          <a:ea typeface="Calibri"/>
                          <a:cs typeface="Calibri"/>
                        </a:rPr>
                        <a:t>Extra trees</a:t>
                      </a:r>
                    </a:p>
                  </a:txBody>
                  <a:tcPr marL="91440" marR="91440" marT="45720" marB="45720" anchor="ctr">
                    <a:solidFill>
                      <a:srgbClr val="FFFFFF"/>
                    </a:solidFill>
                  </a:tcPr>
                </a:tc>
                <a:tc>
                  <a:txBody>
                    <a:bodyPr lIns="114300" tIns="114300" rIns="114300" bIns="114300"/>
                    <a:lstStyle/>
                    <a:p>
                      <a:r>
                        <a:rPr sz="1725" b="0">
                          <a:solidFill>
                            <a:srgbClr val="142C42"/>
                          </a:solidFill>
                          <a:latin typeface="Calibri"/>
                          <a:ea typeface="Calibri"/>
                          <a:cs typeface="Calibri"/>
                        </a:rPr>
                        <a:t>Impute + missing indicators; balanced weights</a:t>
                      </a:r>
                    </a:p>
                  </a:txBody>
                  <a:tcPr marL="91440" marR="91440" marT="45720" marB="45720" anchor="ctr">
                    <a:solidFill>
                      <a:srgbClr val="FFFFFF"/>
                    </a:solidFill>
                  </a:tcPr>
                </a:tc>
              </a:tr>
              <a:tr h="566057">
                <a:tc>
                  <a:txBody>
                    <a:bodyPr lIns="114300" tIns="114300" rIns="114300" bIns="114300"/>
                    <a:lstStyle/>
                    <a:p>
                      <a:r>
                        <a:rPr sz="1725" b="0">
                          <a:solidFill>
                            <a:srgbClr val="142C42"/>
                          </a:solidFill>
                          <a:latin typeface="Calibri"/>
                          <a:ea typeface="Calibri"/>
                          <a:cs typeface="Calibri"/>
                        </a:rPr>
                        <a:t>Histogram gradient boosting</a:t>
                      </a:r>
                    </a:p>
                  </a:txBody>
                  <a:tcPr marL="91440" marR="91440" marT="45720" marB="45720" anchor="ctr">
                    <a:solidFill>
                      <a:srgbClr val="F5F4EF"/>
                    </a:solidFill>
                  </a:tcPr>
                </a:tc>
                <a:tc>
                  <a:txBody>
                    <a:bodyPr lIns="114300" tIns="114300" rIns="114300" bIns="114300"/>
                    <a:lstStyle/>
                    <a:p>
                      <a:r>
                        <a:rPr sz="1725" b="0">
                          <a:solidFill>
                            <a:srgbClr val="142C42"/>
                          </a:solidFill>
                          <a:latin typeface="Calibri"/>
                          <a:ea typeface="Calibri"/>
                          <a:cs typeface="Calibri"/>
                        </a:rPr>
                        <a:t>Native missing values; balanced weights</a:t>
                      </a:r>
                    </a:p>
                  </a:txBody>
                  <a:tcPr marL="91440" marR="91440" marT="45720" marB="45720" anchor="ctr">
                    <a:solidFill>
                      <a:srgbClr val="F5F4EF"/>
                    </a:solidFill>
                  </a:tcPr>
                </a:tc>
              </a:tr>
            </a:tbl>
          </a:graphicData>
        </a:graphic>
      </p:graphicFrame>
      <p:sp>
        <p:nvSpPr>
          <p:cNvPr id="4" name="">
            <a:extLst xmlns:a="http://schemas.openxmlformats.org/drawingml/2006/main">
              <a:ext uri="{FF2B5EF4-FFF2-40B4-BE49-F238E27FC236}">
                <a16:creationId xmlns:a16="http://schemas.microsoft.com/office/drawing/2014/main" id="{2CB46806-6856-4E76-BA15-90B612322860}"/>
              </a:ext>
            </a:extLst>
          </p:cNvPr>
          <p:cNvSpPr>
            <a:spLocks xmlns:a="http://schemas.openxmlformats.org/drawingml/2006/main" noGrp="1"/>
          </p:cNvSpPr>
          <p:nvPr/>
        </p:nvSpPr>
        <p:spPr>
          <a:xfrm xmlns:a="http://schemas.openxmlformats.org/drawingml/2006/main">
            <a:off x="685800" y="58578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7F78"/>
                </a:solidFill>
                <a:latin typeface="Calibri"/>
                <a:ea typeface="Calibri"/>
                <a:cs typeface="Calibri"/>
              </a:defRPr>
            </a:defPPr>
          </a:lstStyle>
          <a:p xmlns:a="http://schemas.openxmlformats.org/drawingml/2006/main">
            <a:pPr>
              <a:defRPr sz="1875" b="1">
                <a:solidFill>
                  <a:srgbClr val="007F78"/>
                </a:solidFill>
                <a:latin typeface="Calibri"/>
                <a:ea typeface="Calibri"/>
                <a:cs typeface="Calibri"/>
              </a:defRPr>
            </a:pPr>
            <a:r>
              <a:rPr sz="1875" b="1">
                <a:solidFill>
                  <a:srgbClr val="007F78"/>
                </a:solidFill>
                <a:latin typeface="Calibri"/>
                <a:ea typeface="Calibri"/>
                <a:cs typeface="Calibri"/>
              </a:rPr>
              <a:t>Average precision is the primary selection metric because bankruptcy is rare.</a:t>
            </a:r>
          </a:p>
        </p:txBody>
      </p:sp>
    </p:spTree>
    <p:extLst>
      <p:ext uri="{BB962C8B-B14F-4D97-AF65-F5344CB8AC3E}">
        <p14:creationId xmlns:p14="http://schemas.microsoft.com/office/powerpoint/2010/main" val="601889492"/>
      </p:ext>
    </p:extLst>
  </p:cSld>
</p:sld>
</file>

<file path=ppt/slides/slide6.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0DB6AC8-3BBC-4058-B851-FC88EC16E36B}"/>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Histogram boosting leads cross-validation</a:t>
            </a:r>
          </a:p>
        </p:txBody>
      </p:sp>
      <p:sp>
        <p:nvSpPr>
          <p:cNvPr id="2" name="">
            <a:extLst xmlns:a="http://schemas.openxmlformats.org/drawingml/2006/main">
              <a:ext uri="{FF2B5EF4-FFF2-40B4-BE49-F238E27FC236}">
                <a16:creationId xmlns:a16="http://schemas.microsoft.com/office/drawing/2014/main" id="{6094D1FD-30F6-4D1B-AF5C-426F1836856D}"/>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06</a:t>
            </a:r>
          </a:p>
        </p:txBody>
      </p:sp>
      <p:sp>
        <p:nvSpPr>
          <p:cNvPr id="3" name="">
            <a:extLst xmlns:a="http://schemas.openxmlformats.org/drawingml/2006/main">
              <a:ext uri="{FF2B5EF4-FFF2-40B4-BE49-F238E27FC236}">
                <a16:creationId xmlns:a16="http://schemas.microsoft.com/office/drawing/2014/main" id="{99E8B0EB-F3DC-4C18-98D5-5BF4AEFB2ECE}"/>
              </a:ext>
            </a:extLst>
          </p:cNvPr>
          <p:cNvSpPr>
            <a:spLocks xmlns:a="http://schemas.openxmlformats.org/drawingml/2006/main" noGrp="1"/>
          </p:cNvSpPr>
          <p:nvPr/>
        </p:nvSpPr>
        <p:spPr>
          <a:xfrm xmlns:a="http://schemas.openxmlformats.org/drawingml/2006/main">
            <a:off x="638175" y="12573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17384"/>
                </a:solidFill>
                <a:latin typeface="Calibri"/>
                <a:ea typeface="Calibri"/>
                <a:cs typeface="Calibri"/>
              </a:defRPr>
            </a:defPPr>
          </a:lstStyle>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Mean average precision across three development folds</a:t>
            </a:r>
          </a:p>
        </p:txBody>
      </p:sp>
      <p:graphicFrame>
        <p:nvGraphicFramePr>
          <p:cNvPr id="4" name="Chart">
            <a:extLst xmlns:a="http://schemas.openxmlformats.org/drawingml/2006/main">
              <a:ext uri="{FF2B5EF4-FFF2-40B4-BE49-F238E27FC236}">
                <a16:creationId xmlns:a16="http://schemas.microsoft.com/office/drawing/2014/main" id="{6F841117-F308-4AF4-AB0F-3F9B8A319592}"/>
              </a:ext>
            </a:extLst>
          </p:cNvPr>
          <p:cNvGraphicFramePr/>
          <p:nvPr/>
        </p:nvGraphicFramePr>
        <p:xfrm>
          <a:off xmlns:a="http://schemas.openxmlformats.org/drawingml/2006/main" x="647700" y="2009775"/>
          <a:ext xmlns:a="http://schemas.openxmlformats.org/drawingml/2006/main" cx="10810875" cy="3429000"/>
        </p:xfrm>
        <a:graphic xmlns:a="http://schemas.openxmlformats.org/drawingml/2006/main">
          <a:graphicData uri="http://schemas.openxmlformats.org/drawingml/2006/chart">
            <c:chart xmlns:r="http://schemas.openxmlformats.org/officeDocument/2006/relationships" xmlns:c="http://schemas.openxmlformats.org/drawingml/2006/chart" r:id="Rc759ed88295f4bb7"/>
          </a:graphicData>
        </a:graphic>
      </p:graphicFrame>
      <p:sp>
        <p:nvSpPr>
          <p:cNvPr id="5" name="">
            <a:extLst xmlns:a="http://schemas.openxmlformats.org/drawingml/2006/main">
              <a:ext uri="{FF2B5EF4-FFF2-40B4-BE49-F238E27FC236}">
                <a16:creationId xmlns:a16="http://schemas.microsoft.com/office/drawing/2014/main" id="{86A4B7E5-1981-4BAD-BD08-EAE3806F8883}"/>
              </a:ext>
            </a:extLst>
          </p:cNvPr>
          <p:cNvSpPr>
            <a:spLocks xmlns:a="http://schemas.openxmlformats.org/drawingml/2006/main" noGrp="1"/>
          </p:cNvSpPr>
          <p:nvPr/>
        </p:nvSpPr>
        <p:spPr>
          <a:xfrm xmlns:a="http://schemas.openxmlformats.org/drawingml/2006/main">
            <a:off x="685800"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42C42"/>
                </a:solidFill>
                <a:latin typeface="Calibri"/>
                <a:ea typeface="Calibri"/>
                <a:cs typeface="Calibri"/>
              </a:defRPr>
            </a:defPPr>
          </a:lstStyle>
          <a:p xmlns:a="http://schemas.openxmlformats.org/drawingml/2006/main">
            <a:pPr>
              <a:defRPr sz="2175" b="1">
                <a:solidFill>
                  <a:srgbClr val="142C42"/>
                </a:solidFill>
                <a:latin typeface="Calibri"/>
                <a:ea typeface="Calibri"/>
                <a:cs typeface="Calibri"/>
              </a:defRPr>
            </a:pPr>
            <a:r>
              <a:rPr sz="2175" b="1">
                <a:solidFill>
                  <a:srgbClr val="142C42"/>
                </a:solidFill>
                <a:latin typeface="Calibri"/>
                <a:ea typeface="Calibri"/>
                <a:cs typeface="Calibri"/>
              </a:rPr>
              <a:t>Selected model: mean AP 0.619, fold SD 0.037</a:t>
            </a:r>
          </a:p>
        </p:txBody>
      </p:sp>
    </p:spTree>
    <p:extLst>
      <p:ext uri="{BB962C8B-B14F-4D97-AF65-F5344CB8AC3E}">
        <p14:creationId xmlns:p14="http://schemas.microsoft.com/office/powerpoint/2010/main" val="224997587"/>
      </p:ext>
    </p:extLst>
  </p:cSld>
</p:sld>
</file>

<file path=ppt/slides/slide7.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CA7EB03-8005-4979-9217-0A52230C5438}"/>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The threshold sets the screening trade-off</a:t>
            </a:r>
          </a:p>
        </p:txBody>
      </p:sp>
      <p:sp>
        <p:nvSpPr>
          <p:cNvPr id="2" name="">
            <a:extLst xmlns:a="http://schemas.openxmlformats.org/drawingml/2006/main">
              <a:ext uri="{FF2B5EF4-FFF2-40B4-BE49-F238E27FC236}">
                <a16:creationId xmlns:a16="http://schemas.microsoft.com/office/drawing/2014/main" id="{FFEACC71-4EC7-4F50-BFCB-FA7C2B93843E}"/>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07</a:t>
            </a:r>
          </a:p>
        </p:txBody>
      </p:sp>
      <p:graphicFrame>
        <p:nvGraphicFramePr>
          <p:cNvPr id="3" name="Chart">
            <a:extLst xmlns:a="http://schemas.openxmlformats.org/drawingml/2006/main">
              <a:ext uri="{FF2B5EF4-FFF2-40B4-BE49-F238E27FC236}">
                <a16:creationId xmlns:a16="http://schemas.microsoft.com/office/drawing/2014/main" id="{A498DB34-478C-48AF-8B82-9D0B8B2E8619}"/>
              </a:ext>
            </a:extLst>
          </p:cNvPr>
          <p:cNvGraphicFramePr/>
          <p:nvPr/>
        </p:nvGraphicFramePr>
        <p:xfrm>
          <a:off xmlns:a="http://schemas.openxmlformats.org/drawingml/2006/main" x="619125" y="1695450"/>
          <a:ext xmlns:a="http://schemas.openxmlformats.org/drawingml/2006/main" cx="7143750" cy="3857625"/>
        </p:xfrm>
        <a:graphic xmlns:a="http://schemas.openxmlformats.org/drawingml/2006/main">
          <a:graphicData uri="http://schemas.openxmlformats.org/drawingml/2006/chart">
            <c:chart xmlns:r="http://schemas.openxmlformats.org/officeDocument/2006/relationships" xmlns:c="http://schemas.openxmlformats.org/drawingml/2006/chart" r:id="Rf1d83628f3ef4b33"/>
          </a:graphicData>
        </a:graphic>
      </p:graphicFrame>
      <p:sp>
        <p:nvSpPr>
          <p:cNvPr id="4" name="">
            <a:extLst xmlns:a="http://schemas.openxmlformats.org/drawingml/2006/main">
              <a:ext uri="{FF2B5EF4-FFF2-40B4-BE49-F238E27FC236}">
                <a16:creationId xmlns:a16="http://schemas.microsoft.com/office/drawing/2014/main" id="{531F77C9-2990-44E7-B0A0-FB55B57F0F20}"/>
              </a:ext>
            </a:extLst>
          </p:cNvPr>
          <p:cNvSpPr>
            <a:spLocks xmlns:a="http://schemas.openxmlformats.org/drawingml/2006/main" noGrp="1"/>
          </p:cNvSpPr>
          <p:nvPr/>
        </p:nvSpPr>
        <p:spPr>
          <a:xfrm xmlns:a="http://schemas.openxmlformats.org/drawingml/2006/main">
            <a:off x="8267700" y="2019300"/>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007F78"/>
                </a:solidFill>
                <a:latin typeface="Calibri"/>
                <a:ea typeface="Calibri"/>
                <a:cs typeface="Calibri"/>
              </a:defRPr>
            </a:defPPr>
          </a:lstStyle>
          <a:p xmlns:a="http://schemas.openxmlformats.org/drawingml/2006/main">
            <a:pPr>
              <a:defRPr sz="4950" b="1">
                <a:solidFill>
                  <a:srgbClr val="007F78"/>
                </a:solidFill>
                <a:latin typeface="Calibri"/>
                <a:ea typeface="Calibri"/>
                <a:cs typeface="Calibri"/>
              </a:defRPr>
            </a:pPr>
            <a:r>
              <a:rPr sz="4950" b="1">
                <a:solidFill>
                  <a:srgbClr val="007F78"/>
                </a:solidFill>
                <a:latin typeface="Calibri"/>
                <a:ea typeface="Calibri"/>
                <a:cs typeface="Calibri"/>
              </a:rPr>
              <a:t>0.1980</a:t>
            </a:r>
          </a:p>
        </p:txBody>
      </p:sp>
      <p:sp>
        <p:nvSpPr>
          <p:cNvPr id="5" name="">
            <a:extLst xmlns:a="http://schemas.openxmlformats.org/drawingml/2006/main">
              <a:ext uri="{FF2B5EF4-FFF2-40B4-BE49-F238E27FC236}">
                <a16:creationId xmlns:a16="http://schemas.microsoft.com/office/drawing/2014/main" id="{3176B0FF-7F3A-4D3C-9FDF-193F763D7731}"/>
              </a:ext>
            </a:extLst>
          </p:cNvPr>
          <p:cNvSpPr>
            <a:spLocks xmlns:a="http://schemas.openxmlformats.org/drawingml/2006/main" noGrp="1"/>
          </p:cNvSpPr>
          <p:nvPr/>
        </p:nvSpPr>
        <p:spPr>
          <a:xfrm xmlns:a="http://schemas.openxmlformats.org/drawingml/2006/main">
            <a:off x="8305800" y="3048000"/>
            <a:ext cx="3162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chosen from development</a:t>
            </a:r>
          </a:p>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out-of-fold predictions</a:t>
            </a:r>
          </a:p>
        </p:txBody>
      </p:sp>
      <p:sp>
        <p:nvSpPr>
          <p:cNvPr id="6" name="">
            <a:extLst xmlns:a="http://schemas.openxmlformats.org/drawingml/2006/main">
              <a:ext uri="{FF2B5EF4-FFF2-40B4-BE49-F238E27FC236}">
                <a16:creationId xmlns:a16="http://schemas.microsoft.com/office/drawing/2014/main" id="{F2B35200-BB55-4A6B-90E5-967D26EBD5BF}"/>
              </a:ext>
            </a:extLst>
          </p:cNvPr>
          <p:cNvSpPr>
            <a:spLocks xmlns:a="http://schemas.openxmlformats.org/drawingml/2006/main" noGrp="1"/>
          </p:cNvSpPr>
          <p:nvPr/>
        </p:nvSpPr>
        <p:spPr>
          <a:xfrm xmlns:a="http://schemas.openxmlformats.org/drawingml/2006/main">
            <a:off x="8305800" y="4362450"/>
            <a:ext cx="309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42C42"/>
                </a:solidFill>
                <a:latin typeface="Calibri"/>
                <a:ea typeface="Calibri"/>
                <a:cs typeface="Calibri"/>
              </a:defRPr>
            </a:defPPr>
          </a:lstStyle>
          <a:p xmlns:a="http://schemas.openxmlformats.org/drawingml/2006/main">
            <a:pPr>
              <a:defRPr sz="2025" b="1">
                <a:solidFill>
                  <a:srgbClr val="142C42"/>
                </a:solidFill>
                <a:latin typeface="Calibri"/>
                <a:ea typeface="Calibri"/>
                <a:cs typeface="Calibri"/>
              </a:defRPr>
            </a:pPr>
            <a:r>
              <a:rPr sz="2025" b="1">
                <a:solidFill>
                  <a:srgbClr val="142C42"/>
                </a:solidFill>
                <a:latin typeface="Calibri"/>
                <a:ea typeface="Calibri"/>
                <a:cs typeface="Calibri"/>
              </a:rPr>
              <a:t>F2 emphasizes recall</a:t>
            </a:r>
          </a:p>
        </p:txBody>
      </p:sp>
      <p:sp>
        <p:nvSpPr>
          <p:cNvPr id="7" name="">
            <a:extLst xmlns:a="http://schemas.openxmlformats.org/drawingml/2006/main">
              <a:ext uri="{FF2B5EF4-FFF2-40B4-BE49-F238E27FC236}">
                <a16:creationId xmlns:a16="http://schemas.microsoft.com/office/drawing/2014/main" id="{FAD82AB0-62C3-48C2-9A44-5FA7C81F41A9}"/>
              </a:ext>
            </a:extLst>
          </p:cNvPr>
          <p:cNvSpPr>
            <a:spLocks xmlns:a="http://schemas.openxmlformats.org/drawingml/2006/main" noGrp="1"/>
          </p:cNvSpPr>
          <p:nvPr/>
        </p:nvSpPr>
        <p:spPr>
          <a:xfrm xmlns:a="http://schemas.openxmlformats.org/drawingml/2006/main">
            <a:off x="8305800" y="4943475"/>
            <a:ext cx="309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17384"/>
                </a:solidFill>
                <a:latin typeface="Calibri"/>
                <a:ea typeface="Calibri"/>
                <a:cs typeface="Calibri"/>
              </a:defRPr>
            </a:defPPr>
          </a:lstStyle>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The test set does not</a:t>
            </a:r>
          </a:p>
          <a:p xmlns:a="http://schemas.openxmlformats.org/drawingml/2006/main">
            <a:pPr>
              <a:defRPr sz="1875" b="0">
                <a:solidFill>
                  <a:srgbClr val="617384"/>
                </a:solidFill>
                <a:latin typeface="Calibri"/>
                <a:ea typeface="Calibri"/>
                <a:cs typeface="Calibri"/>
              </a:defRPr>
            </a:pPr>
            <a:r>
              <a:rPr sz="1875" b="0">
                <a:solidFill>
                  <a:srgbClr val="617384"/>
                </a:solidFill>
                <a:latin typeface="Calibri"/>
                <a:ea typeface="Calibri"/>
                <a:cs typeface="Calibri"/>
              </a:rPr>
              <a:t>choose the threshold.</a:t>
            </a:r>
          </a:p>
        </p:txBody>
      </p:sp>
    </p:spTree>
    <p:extLst>
      <p:ext uri="{BB962C8B-B14F-4D97-AF65-F5344CB8AC3E}">
        <p14:creationId xmlns:p14="http://schemas.microsoft.com/office/powerpoint/2010/main" val="33430366"/>
      </p:ext>
    </p:extLst>
  </p:cSld>
</p:sld>
</file>

<file path=ppt/slides/slide8.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C42BD4-5079-4E07-9A51-DA8D0F47E85B}"/>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84 of 99 bankruptcies detected</a:t>
            </a:r>
          </a:p>
        </p:txBody>
      </p:sp>
      <p:sp>
        <p:nvSpPr>
          <p:cNvPr id="2" name="">
            <a:extLst xmlns:a="http://schemas.openxmlformats.org/drawingml/2006/main">
              <a:ext uri="{FF2B5EF4-FFF2-40B4-BE49-F238E27FC236}">
                <a16:creationId xmlns:a16="http://schemas.microsoft.com/office/drawing/2014/main" id="{7D01D178-F7EF-47D4-BF39-42923F639740}"/>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08</a:t>
            </a:r>
          </a:p>
        </p:txBody>
      </p:sp>
      <p:sp>
        <p:nvSpPr>
          <p:cNvPr id="3" name="">
            <a:extLst xmlns:a="http://schemas.openxmlformats.org/drawingml/2006/main">
              <a:ext uri="{FF2B5EF4-FFF2-40B4-BE49-F238E27FC236}">
                <a16:creationId xmlns:a16="http://schemas.microsoft.com/office/drawing/2014/main" id="{201767B4-1411-410C-99D9-32DFC6A2D48C}"/>
              </a:ext>
            </a:extLst>
          </p:cNvPr>
          <p:cNvSpPr>
            <a:spLocks xmlns:a="http://schemas.openxmlformats.org/drawingml/2006/main" noGrp="1"/>
          </p:cNvSpPr>
          <p:nvPr/>
        </p:nvSpPr>
        <p:spPr>
          <a:xfrm xmlns:a="http://schemas.openxmlformats.org/drawingml/2006/main">
            <a:off x="666750" y="1647825"/>
            <a:ext cx="3476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700" b="1">
                <a:solidFill>
                  <a:srgbClr val="007F78"/>
                </a:solidFill>
                <a:latin typeface="Calibri"/>
                <a:ea typeface="Calibri"/>
                <a:cs typeface="Calibri"/>
              </a:defRPr>
            </a:defPPr>
          </a:lstStyle>
          <a:p xmlns:a="http://schemas.openxmlformats.org/drawingml/2006/main">
            <a:pPr>
              <a:defRPr sz="5700" b="1">
                <a:solidFill>
                  <a:srgbClr val="007F78"/>
                </a:solidFill>
                <a:latin typeface="Calibri"/>
                <a:ea typeface="Calibri"/>
                <a:cs typeface="Calibri"/>
              </a:defRPr>
            </a:pPr>
            <a:r>
              <a:rPr sz="5700" b="1">
                <a:solidFill>
                  <a:srgbClr val="007F78"/>
                </a:solidFill>
                <a:latin typeface="Calibri"/>
                <a:ea typeface="Calibri"/>
                <a:cs typeface="Calibri"/>
              </a:rPr>
              <a:t>84.8%</a:t>
            </a:r>
          </a:p>
        </p:txBody>
      </p:sp>
      <p:sp>
        <p:nvSpPr>
          <p:cNvPr id="4" name="">
            <a:extLst xmlns:a="http://schemas.openxmlformats.org/drawingml/2006/main">
              <a:ext uri="{FF2B5EF4-FFF2-40B4-BE49-F238E27FC236}">
                <a16:creationId xmlns:a16="http://schemas.microsoft.com/office/drawing/2014/main" id="{9BCEB8A9-DA19-4662-A25E-B7868ED75517}"/>
              </a:ext>
            </a:extLst>
          </p:cNvPr>
          <p:cNvSpPr>
            <a:spLocks xmlns:a="http://schemas.openxmlformats.org/drawingml/2006/main" noGrp="1"/>
          </p:cNvSpPr>
          <p:nvPr/>
        </p:nvSpPr>
        <p:spPr>
          <a:xfrm xmlns:a="http://schemas.openxmlformats.org/drawingml/2006/main">
            <a:off x="695325" y="264795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bankruptcy recall</a:t>
            </a:r>
          </a:p>
        </p:txBody>
      </p:sp>
      <p:sp>
        <p:nvSpPr>
          <p:cNvPr id="5" name="">
            <a:extLst xmlns:a="http://schemas.openxmlformats.org/drawingml/2006/main">
              <a:ext uri="{FF2B5EF4-FFF2-40B4-BE49-F238E27FC236}">
                <a16:creationId xmlns:a16="http://schemas.microsoft.com/office/drawing/2014/main" id="{8F134C50-64CD-417A-97A4-D6DF1167DC2D}"/>
              </a:ext>
            </a:extLst>
          </p:cNvPr>
          <p:cNvSpPr>
            <a:spLocks xmlns:a="http://schemas.openxmlformats.org/drawingml/2006/main" noGrp="1"/>
          </p:cNvSpPr>
          <p:nvPr/>
        </p:nvSpPr>
        <p:spPr>
          <a:xfrm xmlns:a="http://schemas.openxmlformats.org/drawingml/2006/main">
            <a:off x="666750" y="3695700"/>
            <a:ext cx="3476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700" b="1">
                <a:solidFill>
                  <a:srgbClr val="142C42"/>
                </a:solidFill>
                <a:latin typeface="Calibri"/>
                <a:ea typeface="Calibri"/>
                <a:cs typeface="Calibri"/>
              </a:defRPr>
            </a:defPPr>
          </a:lstStyle>
          <a:p xmlns:a="http://schemas.openxmlformats.org/drawingml/2006/main">
            <a:pPr>
              <a:defRPr sz="5700" b="1">
                <a:solidFill>
                  <a:srgbClr val="142C42"/>
                </a:solidFill>
                <a:latin typeface="Calibri"/>
                <a:ea typeface="Calibri"/>
                <a:cs typeface="Calibri"/>
              </a:defRPr>
            </a:pPr>
            <a:r>
              <a:rPr sz="5700" b="1">
                <a:solidFill>
                  <a:srgbClr val="142C42"/>
                </a:solidFill>
                <a:latin typeface="Calibri"/>
                <a:ea typeface="Calibri"/>
                <a:cs typeface="Calibri"/>
              </a:rPr>
              <a:t>34.3%</a:t>
            </a:r>
          </a:p>
        </p:txBody>
      </p:sp>
      <p:sp>
        <p:nvSpPr>
          <p:cNvPr id="6" name="">
            <a:extLst xmlns:a="http://schemas.openxmlformats.org/drawingml/2006/main">
              <a:ext uri="{FF2B5EF4-FFF2-40B4-BE49-F238E27FC236}">
                <a16:creationId xmlns:a16="http://schemas.microsoft.com/office/drawing/2014/main" id="{EFA549AB-CD15-49EE-AA48-4FFD492E285E}"/>
              </a:ext>
            </a:extLst>
          </p:cNvPr>
          <p:cNvSpPr>
            <a:spLocks xmlns:a="http://schemas.openxmlformats.org/drawingml/2006/main" noGrp="1"/>
          </p:cNvSpPr>
          <p:nvPr/>
        </p:nvSpPr>
        <p:spPr>
          <a:xfrm xmlns:a="http://schemas.openxmlformats.org/drawingml/2006/main">
            <a:off x="695325" y="469582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precision</a:t>
            </a:r>
          </a:p>
        </p:txBody>
      </p:sp>
      <p:graphicFrame>
        <p:nvGraphicFramePr>
          <p:cNvPr id="7" name="">
            <a:extLst xmlns:a="http://schemas.openxmlformats.org/drawingml/2006/main">
              <a:ext uri="{FF2B5EF4-FFF2-40B4-BE49-F238E27FC236}">
                <a16:creationId xmlns:a16="http://schemas.microsoft.com/office/drawing/2014/main" id="{25FA3919-AF35-4E4A-97BD-39A7633E0983}"/>
              </a:ext>
            </a:extLst>
          </p:cNvPr>
          <p:cNvGraphicFramePr/>
          <p:nvPr/>
        </p:nvGraphicFramePr>
        <p:xfrm>
          <a:off xmlns:a="http://schemas.openxmlformats.org/drawingml/2006/main" x="4857750" y="1905000"/>
          <a:ext xmlns:a="http://schemas.openxmlformats.org/drawingml/2006/main" cx="6572250" cy="2857500"/>
        </p:xfrm>
        <a:graphic xmlns:a="http://schemas.openxmlformats.org/drawingml/2006/main">
          <a:graphicData uri="http://schemas.openxmlformats.org/drawingml/2006/table">
            <a:tbl>
              <a:tblPr/>
              <a:tblGrid>
                <a:gridCol w="2857500"/>
                <a:gridCol w="1857375"/>
                <a:gridCol w="1857375"/>
              </a:tblGrid>
              <a:tr h="952500">
                <a:tc>
                  <a:txBody>
                    <a:bodyPr lIns="114300" tIns="114300" rIns="114300" bIns="114300"/>
                    <a:lstStyle/>
                    <a:p>
                      <a:r>
                        <a:rPr sz="2025" b="1">
                          <a:solidFill>
                            <a:srgbClr val="FFFFFF"/>
                          </a:solidFill>
                          <a:latin typeface="Calibri"/>
                          <a:ea typeface="Calibri"/>
                          <a:cs typeface="Calibri"/>
                        </a:rPr>
                        <a:t>Actual / predicted</a:t>
                      </a:r>
                    </a:p>
                  </a:txBody>
                  <a:tcPr marL="91440" marR="91440" marT="45720" marB="45720" anchor="ctr">
                    <a:solidFill>
                      <a:srgbClr val="142C42"/>
                    </a:solidFill>
                  </a:tcPr>
                </a:tc>
                <a:tc>
                  <a:txBody>
                    <a:bodyPr lIns="114300" tIns="114300" rIns="114300" bIns="114300"/>
                    <a:lstStyle/>
                    <a:p>
                      <a:r>
                        <a:rPr sz="2025" b="1">
                          <a:solidFill>
                            <a:srgbClr val="FFFFFF"/>
                          </a:solidFill>
                          <a:latin typeface="Calibri"/>
                          <a:ea typeface="Calibri"/>
                          <a:cs typeface="Calibri"/>
                        </a:rPr>
                        <a:t>Non-bankrupt</a:t>
                      </a:r>
                    </a:p>
                  </a:txBody>
                  <a:tcPr marL="91440" marR="91440" marT="45720" marB="45720" anchor="ctr">
                    <a:solidFill>
                      <a:srgbClr val="142C42"/>
                    </a:solidFill>
                  </a:tcPr>
                </a:tc>
                <a:tc>
                  <a:txBody>
                    <a:bodyPr lIns="114300" tIns="114300" rIns="114300" bIns="114300"/>
                    <a:lstStyle/>
                    <a:p>
                      <a:r>
                        <a:rPr sz="2025" b="1">
                          <a:solidFill>
                            <a:srgbClr val="FFFFFF"/>
                          </a:solidFill>
                          <a:latin typeface="Calibri"/>
                          <a:ea typeface="Calibri"/>
                          <a:cs typeface="Calibri"/>
                        </a:rPr>
                        <a:t>Bankrupt</a:t>
                      </a:r>
                    </a:p>
                  </a:txBody>
                  <a:tcPr marL="91440" marR="91440" marT="45720" marB="45720" anchor="ctr">
                    <a:solidFill>
                      <a:srgbClr val="142C42"/>
                    </a:solidFill>
                  </a:tcPr>
                </a:tc>
              </a:tr>
              <a:tr h="952500">
                <a:tc>
                  <a:txBody>
                    <a:bodyPr lIns="114300" tIns="114300" rIns="114300" bIns="114300"/>
                    <a:lstStyle/>
                    <a:p>
                      <a:r>
                        <a:rPr sz="2025" b="0">
                          <a:solidFill>
                            <a:srgbClr val="142C42"/>
                          </a:solidFill>
                          <a:latin typeface="Calibri"/>
                          <a:ea typeface="Calibri"/>
                          <a:cs typeface="Calibri"/>
                        </a:rPr>
                        <a:t>Non-bankrupt</a:t>
                      </a:r>
                    </a:p>
                  </a:txBody>
                  <a:tcPr marL="91440" marR="91440" marT="45720" marB="45720" anchor="ctr">
                    <a:solidFill>
                      <a:srgbClr val="FFFFFF"/>
                    </a:solidFill>
                  </a:tcPr>
                </a:tc>
                <a:tc>
                  <a:txBody>
                    <a:bodyPr lIns="114300" tIns="114300" rIns="114300" bIns="114300"/>
                    <a:lstStyle/>
                    <a:p>
                      <a:r>
                        <a:rPr sz="2025" b="0">
                          <a:solidFill>
                            <a:srgbClr val="142C42"/>
                          </a:solidFill>
                          <a:latin typeface="Calibri"/>
                          <a:ea typeface="Calibri"/>
                          <a:cs typeface="Calibri"/>
                        </a:rPr>
                        <a:t>1,824</a:t>
                      </a:r>
                    </a:p>
                  </a:txBody>
                  <a:tcPr marL="91440" marR="91440" marT="45720" marB="45720" anchor="ctr">
                    <a:solidFill>
                      <a:srgbClr val="FFFFFF"/>
                    </a:solidFill>
                  </a:tcPr>
                </a:tc>
                <a:tc>
                  <a:txBody>
                    <a:bodyPr lIns="114300" tIns="114300" rIns="114300" bIns="114300"/>
                    <a:lstStyle/>
                    <a:p>
                      <a:r>
                        <a:rPr sz="2025" b="0">
                          <a:solidFill>
                            <a:srgbClr val="142C42"/>
                          </a:solidFill>
                          <a:latin typeface="Calibri"/>
                          <a:ea typeface="Calibri"/>
                          <a:cs typeface="Calibri"/>
                        </a:rPr>
                        <a:t>161</a:t>
                      </a:r>
                    </a:p>
                  </a:txBody>
                  <a:tcPr marL="91440" marR="91440" marT="45720" marB="45720" anchor="ctr">
                    <a:solidFill>
                      <a:srgbClr val="FFFFFF"/>
                    </a:solidFill>
                  </a:tcPr>
                </a:tc>
              </a:tr>
              <a:tr h="952500">
                <a:tc>
                  <a:txBody>
                    <a:bodyPr lIns="114300" tIns="114300" rIns="114300" bIns="114300"/>
                    <a:lstStyle/>
                    <a:p>
                      <a:r>
                        <a:rPr sz="2025" b="0">
                          <a:solidFill>
                            <a:srgbClr val="142C42"/>
                          </a:solidFill>
                          <a:latin typeface="Calibri"/>
                          <a:ea typeface="Calibri"/>
                          <a:cs typeface="Calibri"/>
                        </a:rPr>
                        <a:t>Bankrupt</a:t>
                      </a:r>
                    </a:p>
                  </a:txBody>
                  <a:tcPr marL="91440" marR="91440" marT="45720" marB="45720" anchor="ctr">
                    <a:solidFill>
                      <a:srgbClr val="F5F4EF"/>
                    </a:solidFill>
                  </a:tcPr>
                </a:tc>
                <a:tc>
                  <a:txBody>
                    <a:bodyPr lIns="114300" tIns="114300" rIns="114300" bIns="114300"/>
                    <a:lstStyle/>
                    <a:p>
                      <a:r>
                        <a:rPr sz="2025" b="0">
                          <a:solidFill>
                            <a:srgbClr val="142C42"/>
                          </a:solidFill>
                          <a:latin typeface="Calibri"/>
                          <a:ea typeface="Calibri"/>
                          <a:cs typeface="Calibri"/>
                        </a:rPr>
                        <a:t>15</a:t>
                      </a:r>
                    </a:p>
                  </a:txBody>
                  <a:tcPr marL="91440" marR="91440" marT="45720" marB="45720" anchor="ctr">
                    <a:solidFill>
                      <a:srgbClr val="F5F4EF"/>
                    </a:solidFill>
                  </a:tcPr>
                </a:tc>
                <a:tc>
                  <a:txBody>
                    <a:bodyPr lIns="114300" tIns="114300" rIns="114300" bIns="114300"/>
                    <a:lstStyle/>
                    <a:p>
                      <a:r>
                        <a:rPr sz="2025" b="0">
                          <a:solidFill>
                            <a:srgbClr val="142C42"/>
                          </a:solidFill>
                          <a:latin typeface="Calibri"/>
                          <a:ea typeface="Calibri"/>
                          <a:cs typeface="Calibri"/>
                        </a:rPr>
                        <a:t>84</a:t>
                      </a:r>
                    </a:p>
                  </a:txBody>
                  <a:tcPr marL="91440" marR="91440" marT="45720" marB="45720" anchor="ctr">
                    <a:solidFill>
                      <a:srgbClr val="F5F4EF"/>
                    </a:solidFill>
                  </a:tcPr>
                </a:tc>
              </a:tr>
            </a:tbl>
          </a:graphicData>
        </a:graphic>
      </p:graphicFrame>
      <p:sp>
        <p:nvSpPr>
          <p:cNvPr id="8" name="">
            <a:extLst xmlns:a="http://schemas.openxmlformats.org/drawingml/2006/main">
              <a:ext uri="{FF2B5EF4-FFF2-40B4-BE49-F238E27FC236}">
                <a16:creationId xmlns:a16="http://schemas.microsoft.com/office/drawing/2014/main" id="{223A260A-9BC4-45A0-94DD-38ABCAF7DD9F}"/>
              </a:ext>
            </a:extLst>
          </p:cNvPr>
          <p:cNvSpPr>
            <a:spLocks xmlns:a="http://schemas.openxmlformats.org/drawingml/2006/main" noGrp="1"/>
          </p:cNvSpPr>
          <p:nvPr/>
        </p:nvSpPr>
        <p:spPr>
          <a:xfrm xmlns:a="http://schemas.openxmlformats.org/drawingml/2006/main">
            <a:off x="4876800" y="5143500"/>
            <a:ext cx="6572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17384"/>
                </a:solidFill>
                <a:latin typeface="Calibri"/>
                <a:ea typeface="Calibri"/>
                <a:cs typeface="Calibri"/>
              </a:defRPr>
            </a:defPPr>
          </a:lstStyle>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15 missed bankruptcies. 161 false alarms.</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Test set: 2,084 statements with 99 positive labels.</a:t>
            </a:r>
          </a:p>
        </p:txBody>
      </p:sp>
    </p:spTree>
    <p:extLst>
      <p:ext uri="{BB962C8B-B14F-4D97-AF65-F5344CB8AC3E}">
        <p14:creationId xmlns:p14="http://schemas.microsoft.com/office/powerpoint/2010/main" val="592634975"/>
      </p:ext>
    </p:extLst>
  </p:cSld>
</p:sld>
</file>

<file path=ppt/slides/slide9.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FF853B-6DC1-484C-8EE6-E285A4F7FD11}"/>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Ranking quality on the held-out test set</a:t>
            </a:r>
          </a:p>
        </p:txBody>
      </p:sp>
      <p:sp>
        <p:nvSpPr>
          <p:cNvPr id="2" name="">
            <a:extLst xmlns:a="http://schemas.openxmlformats.org/drawingml/2006/main">
              <a:ext uri="{FF2B5EF4-FFF2-40B4-BE49-F238E27FC236}">
                <a16:creationId xmlns:a16="http://schemas.microsoft.com/office/drawing/2014/main" id="{DF313199-34B5-4781-93C8-5FD4FD43B74E}"/>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09</a:t>
            </a:r>
          </a:p>
        </p:txBody>
      </p:sp>
      <p:sp>
        <p:nvSpPr>
          <p:cNvPr id="3" name="">
            <a:extLst xmlns:a="http://schemas.openxmlformats.org/drawingml/2006/main">
              <a:ext uri="{FF2B5EF4-FFF2-40B4-BE49-F238E27FC236}">
                <a16:creationId xmlns:a16="http://schemas.microsoft.com/office/drawing/2014/main" id="{F358BFF7-F1A6-4ED9-86F0-7D06E860F89D}"/>
              </a:ext>
            </a:extLst>
          </p:cNvPr>
          <p:cNvSpPr>
            <a:spLocks xmlns:a="http://schemas.openxmlformats.org/drawingml/2006/main" noGrp="1"/>
          </p:cNvSpPr>
          <p:nvPr/>
        </p:nvSpPr>
        <p:spPr>
          <a:xfrm xmlns:a="http://schemas.openxmlformats.org/drawingml/2006/main">
            <a:off x="666750" y="14097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Average precision 0.750</a:t>
            </a:r>
          </a:p>
        </p:txBody>
      </p:sp>
      <p:sp>
        <p:nvSpPr>
          <p:cNvPr id="4" name="">
            <a:extLst xmlns:a="http://schemas.openxmlformats.org/drawingml/2006/main">
              <a:ext uri="{FF2B5EF4-FFF2-40B4-BE49-F238E27FC236}">
                <a16:creationId xmlns:a16="http://schemas.microsoft.com/office/drawing/2014/main" id="{71906A73-21A9-4700-8314-0FC449A39E8F}"/>
              </a:ext>
            </a:extLst>
          </p:cNvPr>
          <p:cNvSpPr>
            <a:spLocks xmlns:a="http://schemas.openxmlformats.org/drawingml/2006/main" noGrp="1"/>
          </p:cNvSpPr>
          <p:nvPr/>
        </p:nvSpPr>
        <p:spPr>
          <a:xfrm xmlns:a="http://schemas.openxmlformats.org/drawingml/2006/main">
            <a:off x="6648450" y="1409700"/>
            <a:ext cx="4667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ROC AUC 0.968</a:t>
            </a:r>
          </a:p>
        </p:txBody>
      </p:sp>
      <p:graphicFrame>
        <p:nvGraphicFramePr>
          <p:cNvPr id="5" name="Chart">
            <a:extLst xmlns:a="http://schemas.openxmlformats.org/drawingml/2006/main">
              <a:ext uri="{FF2B5EF4-FFF2-40B4-BE49-F238E27FC236}">
                <a16:creationId xmlns:a16="http://schemas.microsoft.com/office/drawing/2014/main" id="{0F2CA848-8D55-4099-92B1-4055CC7A7289}"/>
              </a:ext>
            </a:extLst>
          </p:cNvPr>
          <p:cNvGraphicFramePr/>
          <p:nvPr/>
        </p:nvGraphicFramePr>
        <p:xfrm>
          <a:off xmlns:a="http://schemas.openxmlformats.org/drawingml/2006/main" x="590550" y="2095500"/>
          <a:ext xmlns:a="http://schemas.openxmlformats.org/drawingml/2006/main" cx="5334000" cy="3524250"/>
        </p:xfrm>
        <a:graphic xmlns:a="http://schemas.openxmlformats.org/drawingml/2006/main">
          <a:graphicData uri="http://schemas.openxmlformats.org/drawingml/2006/chart">
            <c:chart xmlns:r="http://schemas.openxmlformats.org/officeDocument/2006/relationships" xmlns:c="http://schemas.openxmlformats.org/drawingml/2006/chart" r:id="R06f95844ec5a4a75"/>
          </a:graphicData>
        </a:graphic>
      </p:graphicFrame>
      <p:graphicFrame>
        <p:nvGraphicFramePr>
          <p:cNvPr id="6" name="Chart">
            <a:extLst xmlns:a="http://schemas.openxmlformats.org/drawingml/2006/main">
              <a:ext uri="{FF2B5EF4-FFF2-40B4-BE49-F238E27FC236}">
                <a16:creationId xmlns:a16="http://schemas.microsoft.com/office/drawing/2014/main" id="{A9214989-6012-482D-9F19-B2B9273CC17D}"/>
              </a:ext>
            </a:extLst>
          </p:cNvPr>
          <p:cNvGraphicFramePr/>
          <p:nvPr/>
        </p:nvGraphicFramePr>
        <p:xfrm>
          <a:off xmlns:a="http://schemas.openxmlformats.org/drawingml/2006/main" x="6581775" y="2095500"/>
          <a:ext xmlns:a="http://schemas.openxmlformats.org/drawingml/2006/main" cx="4953000" cy="3524250"/>
        </p:xfrm>
        <a:graphic xmlns:a="http://schemas.openxmlformats.org/drawingml/2006/main">
          <a:graphicData uri="http://schemas.openxmlformats.org/drawingml/2006/chart">
            <c:chart xmlns:r="http://schemas.openxmlformats.org/officeDocument/2006/relationships" xmlns:c="http://schemas.openxmlformats.org/drawingml/2006/chart" r:id="R78d1fa5d108141e8"/>
          </a:graphicData>
        </a:graphic>
      </p:graphicFrame>
      <p:sp>
        <p:nvSpPr>
          <p:cNvPr id="7" name="">
            <a:extLst xmlns:a="http://schemas.openxmlformats.org/drawingml/2006/main">
              <a:ext uri="{FF2B5EF4-FFF2-40B4-BE49-F238E27FC236}">
                <a16:creationId xmlns:a16="http://schemas.microsoft.com/office/drawing/2014/main" id="{0B238250-DCE6-4963-AAEF-867D70616D9A}"/>
              </a:ext>
            </a:extLst>
          </p:cNvPr>
          <p:cNvSpPr>
            <a:spLocks xmlns:a="http://schemas.openxmlformats.org/drawingml/2006/main" noGrp="1"/>
          </p:cNvSpPr>
          <p:nvPr/>
        </p:nvSpPr>
        <p:spPr>
          <a:xfrm xmlns:a="http://schemas.openxmlformats.org/drawingml/2006/main">
            <a:off x="685800" y="59531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617384"/>
                </a:solidFill>
                <a:latin typeface="Calibri"/>
                <a:ea typeface="Calibri"/>
                <a:cs typeface="Calibri"/>
              </a:defRPr>
            </a:defPPr>
          </a:lstStyle>
          <a:p xmlns:a="http://schemas.openxmlformats.org/drawingml/2006/main">
            <a:pPr>
              <a:defRPr sz="1650" b="0">
                <a:solidFill>
                  <a:srgbClr val="617384"/>
                </a:solidFill>
                <a:latin typeface="Calibri"/>
                <a:ea typeface="Calibri"/>
                <a:cs typeface="Calibri"/>
              </a:defRPr>
            </a:pPr>
            <a:r>
              <a:rPr sz="1650" b="0">
                <a:solidFill>
                  <a:srgbClr val="617384"/>
                </a:solidFill>
                <a:latin typeface="Calibri"/>
                <a:ea typeface="Calibri"/>
                <a:cs typeface="Calibri"/>
              </a:rPr>
              <a:t>Bootstrap 95% AP interval: 0.683â€“0.820, conditional on the fixed model and test split.</a:t>
            </a:r>
          </a:p>
        </p:txBody>
      </p:sp>
    </p:spTree>
    <p:extLst>
      <p:ext uri="{BB962C8B-B14F-4D97-AF65-F5344CB8AC3E}">
        <p14:creationId xmlns:p14="http://schemas.microsoft.com/office/powerpoint/2010/main" val="1944914593"/>
      </p:ext>
    </p:extLst>
  </p:cSld>
</p:sld>
</file>

<file path=ppt/slides/slide10.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9BFC2E-AB90-43CE-87DA-099A64CD2F5C}"/>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More detections also mean more false alarms</a:t>
            </a:r>
          </a:p>
        </p:txBody>
      </p:sp>
      <p:sp>
        <p:nvSpPr>
          <p:cNvPr id="2" name="">
            <a:extLst xmlns:a="http://schemas.openxmlformats.org/drawingml/2006/main">
              <a:ext uri="{FF2B5EF4-FFF2-40B4-BE49-F238E27FC236}">
                <a16:creationId xmlns:a16="http://schemas.microsoft.com/office/drawing/2014/main" id="{3D8E8FB5-E475-4A56-B449-5930C9521A67}"/>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10</a:t>
            </a:r>
          </a:p>
        </p:txBody>
      </p:sp>
      <p:graphicFrame>
        <p:nvGraphicFramePr>
          <p:cNvPr id="3" name="">
            <a:extLst xmlns:a="http://schemas.openxmlformats.org/drawingml/2006/main">
              <a:ext uri="{FF2B5EF4-FFF2-40B4-BE49-F238E27FC236}">
                <a16:creationId xmlns:a16="http://schemas.microsoft.com/office/drawing/2014/main" id="{15CBE7C4-B157-4A41-A86B-C79830965DED}"/>
              </a:ext>
            </a:extLst>
          </p:cNvPr>
          <p:cNvGraphicFramePr/>
          <p:nvPr/>
        </p:nvGraphicFramePr>
        <p:xfrm>
          <a:off xmlns:a="http://schemas.openxmlformats.org/drawingml/2006/main" x="647700" y="1714500"/>
          <a:ext xmlns:a="http://schemas.openxmlformats.org/drawingml/2006/main" cx="10858500" cy="2171700"/>
        </p:xfrm>
        <a:graphic xmlns:a="http://schemas.openxmlformats.org/drawingml/2006/main">
          <a:graphicData uri="http://schemas.openxmlformats.org/drawingml/2006/table">
            <a:tbl>
              <a:tblPr/>
              <a:tblGrid>
                <a:gridCol w="3238500"/>
                <a:gridCol w="1714500"/>
                <a:gridCol w="1714500"/>
                <a:gridCol w="2238375"/>
                <a:gridCol w="1952625"/>
              </a:tblGrid>
              <a:tr h="723900">
                <a:tc>
                  <a:txBody>
                    <a:bodyPr lIns="114300" tIns="114300" rIns="114300" bIns="114300"/>
                    <a:lstStyle/>
                    <a:p>
                      <a:r>
                        <a:rPr sz="1875" b="1">
                          <a:solidFill>
                            <a:srgbClr val="FFFFFF"/>
                          </a:solidFill>
                          <a:latin typeface="Calibri"/>
                          <a:ea typeface="Calibri"/>
                          <a:cs typeface="Calibri"/>
                        </a:rPr>
                        <a:t>Threshold</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Recall</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Precision</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False alarms</a:t>
                      </a:r>
                    </a:p>
                  </a:txBody>
                  <a:tcPr marL="91440" marR="91440" marT="45720" marB="45720" anchor="ctr">
                    <a:solidFill>
                      <a:srgbClr val="142C42"/>
                    </a:solidFill>
                  </a:tcPr>
                </a:tc>
                <a:tc>
                  <a:txBody>
                    <a:bodyPr lIns="114300" tIns="114300" rIns="114300" bIns="114300"/>
                    <a:lstStyle/>
                    <a:p>
                      <a:r>
                        <a:rPr sz="1875" b="1">
                          <a:solidFill>
                            <a:srgbClr val="FFFFFF"/>
                          </a:solidFill>
                          <a:latin typeface="Calibri"/>
                          <a:ea typeface="Calibri"/>
                          <a:cs typeface="Calibri"/>
                        </a:rPr>
                        <a:t>Missed</a:t>
                      </a:r>
                    </a:p>
                  </a:txBody>
                  <a:tcPr marL="91440" marR="91440" marT="45720" marB="45720" anchor="ctr">
                    <a:solidFill>
                      <a:srgbClr val="142C42"/>
                    </a:solidFill>
                  </a:tcPr>
                </a:tc>
              </a:tr>
              <a:tr h="723900">
                <a:tc>
                  <a:txBody>
                    <a:bodyPr lIns="114300" tIns="114300" rIns="114300" bIns="114300"/>
                    <a:lstStyle/>
                    <a:p>
                      <a:r>
                        <a:rPr sz="1875" b="0">
                          <a:solidFill>
                            <a:srgbClr val="142C42"/>
                          </a:solidFill>
                          <a:latin typeface="Calibri"/>
                          <a:ea typeface="Calibri"/>
                          <a:cs typeface="Calibri"/>
                        </a:rPr>
                        <a:t>OOF choice: 0.198</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84.8%</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34.3%</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161</a:t>
                      </a:r>
                    </a:p>
                  </a:txBody>
                  <a:tcPr marL="91440" marR="91440" marT="45720" marB="45720" anchor="ctr">
                    <a:solidFill>
                      <a:srgbClr val="FFFFFF"/>
                    </a:solidFill>
                  </a:tcPr>
                </a:tc>
                <a:tc>
                  <a:txBody>
                    <a:bodyPr lIns="114300" tIns="114300" rIns="114300" bIns="114300"/>
                    <a:lstStyle/>
                    <a:p>
                      <a:r>
                        <a:rPr sz="1875" b="0">
                          <a:solidFill>
                            <a:srgbClr val="142C42"/>
                          </a:solidFill>
                          <a:latin typeface="Calibri"/>
                          <a:ea typeface="Calibri"/>
                          <a:cs typeface="Calibri"/>
                        </a:rPr>
                        <a:t>15</a:t>
                      </a:r>
                    </a:p>
                  </a:txBody>
                  <a:tcPr marL="91440" marR="91440" marT="45720" marB="45720" anchor="ctr">
                    <a:solidFill>
                      <a:srgbClr val="FFFFFF"/>
                    </a:solidFill>
                  </a:tcPr>
                </a:tc>
              </a:tr>
              <a:tr h="723900">
                <a:tc>
                  <a:txBody>
                    <a:bodyPr lIns="114300" tIns="114300" rIns="114300" bIns="114300"/>
                    <a:lstStyle/>
                    <a:p>
                      <a:r>
                        <a:rPr sz="1875" b="0">
                          <a:solidFill>
                            <a:srgbClr val="142C42"/>
                          </a:solidFill>
                          <a:latin typeface="Calibri"/>
                          <a:ea typeface="Calibri"/>
                          <a:cs typeface="Calibri"/>
                        </a:rPr>
                        <a:t>Default: 0.500</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68.7%</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65.4%</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36</a:t>
                      </a:r>
                    </a:p>
                  </a:txBody>
                  <a:tcPr marL="91440" marR="91440" marT="45720" marB="45720" anchor="ctr">
                    <a:solidFill>
                      <a:srgbClr val="F5F4EF"/>
                    </a:solidFill>
                  </a:tcPr>
                </a:tc>
                <a:tc>
                  <a:txBody>
                    <a:bodyPr lIns="114300" tIns="114300" rIns="114300" bIns="114300"/>
                    <a:lstStyle/>
                    <a:p>
                      <a:r>
                        <a:rPr sz="1875" b="0">
                          <a:solidFill>
                            <a:srgbClr val="142C42"/>
                          </a:solidFill>
                          <a:latin typeface="Calibri"/>
                          <a:ea typeface="Calibri"/>
                          <a:cs typeface="Calibri"/>
                        </a:rPr>
                        <a:t>31</a:t>
                      </a:r>
                    </a:p>
                  </a:txBody>
                  <a:tcPr marL="91440" marR="91440" marT="45720" marB="45720" anchor="ctr">
                    <a:solidFill>
                      <a:srgbClr val="F5F4EF"/>
                    </a:solidFill>
                  </a:tcPr>
                </a:tc>
              </a:tr>
            </a:tbl>
          </a:graphicData>
        </a:graphic>
      </p:graphicFrame>
      <p:sp>
        <p:nvSpPr>
          <p:cNvPr id="4" name="">
            <a:extLst xmlns:a="http://schemas.openxmlformats.org/drawingml/2006/main">
              <a:ext uri="{FF2B5EF4-FFF2-40B4-BE49-F238E27FC236}">
                <a16:creationId xmlns:a16="http://schemas.microsoft.com/office/drawing/2014/main" id="{08CC8B88-6578-4679-BA9D-DCDC33D0B9EF}"/>
              </a:ext>
            </a:extLst>
          </p:cNvPr>
          <p:cNvSpPr>
            <a:spLocks xmlns:a="http://schemas.openxmlformats.org/drawingml/2006/main" noGrp="1"/>
          </p:cNvSpPr>
          <p:nvPr/>
        </p:nvSpPr>
        <p:spPr>
          <a:xfrm xmlns:a="http://schemas.openxmlformats.org/drawingml/2006/main">
            <a:off x="685800" y="4362450"/>
            <a:ext cx="200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007F78"/>
                </a:solidFill>
                <a:latin typeface="Calibri"/>
                <a:ea typeface="Calibri"/>
                <a:cs typeface="Calibri"/>
              </a:defRPr>
            </a:defPPr>
          </a:lstStyle>
          <a:p xmlns:a="http://schemas.openxmlformats.org/drawingml/2006/main">
            <a:pPr>
              <a:defRPr sz="4950" b="1">
                <a:solidFill>
                  <a:srgbClr val="007F78"/>
                </a:solidFill>
                <a:latin typeface="Calibri"/>
                <a:ea typeface="Calibri"/>
                <a:cs typeface="Calibri"/>
              </a:defRPr>
            </a:pPr>
            <a:r>
              <a:rPr sz="4950" b="1">
                <a:solidFill>
                  <a:srgbClr val="007F78"/>
                </a:solidFill>
                <a:latin typeface="Calibri"/>
                <a:ea typeface="Calibri"/>
                <a:cs typeface="Calibri"/>
              </a:rPr>
              <a:t>16</a:t>
            </a:r>
          </a:p>
        </p:txBody>
      </p:sp>
      <p:sp>
        <p:nvSpPr>
          <p:cNvPr id="5" name="">
            <a:extLst xmlns:a="http://schemas.openxmlformats.org/drawingml/2006/main">
              <a:ext uri="{FF2B5EF4-FFF2-40B4-BE49-F238E27FC236}">
                <a16:creationId xmlns:a16="http://schemas.microsoft.com/office/drawing/2014/main" id="{F5D054AD-5C08-4065-822A-9C139FCBA249}"/>
              </a:ext>
            </a:extLst>
          </p:cNvPr>
          <p:cNvSpPr>
            <a:spLocks xmlns:a="http://schemas.openxmlformats.org/drawingml/2006/main" noGrp="1"/>
          </p:cNvSpPr>
          <p:nvPr/>
        </p:nvSpPr>
        <p:spPr>
          <a:xfrm xmlns:a="http://schemas.openxmlformats.org/drawingml/2006/main">
            <a:off x="2619375" y="4552950"/>
            <a:ext cx="833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142C42"/>
                </a:solidFill>
                <a:latin typeface="Calibri"/>
                <a:ea typeface="Calibri"/>
                <a:cs typeface="Calibri"/>
              </a:defRPr>
            </a:defPPr>
          </a:lstStyle>
          <a:p xmlns:a="http://schemas.openxmlformats.org/drawingml/2006/main">
            <a:pPr>
              <a:defRPr sz="2475" b="0">
                <a:solidFill>
                  <a:srgbClr val="142C42"/>
                </a:solidFill>
                <a:latin typeface="Calibri"/>
                <a:ea typeface="Calibri"/>
                <a:cs typeface="Calibri"/>
              </a:defRPr>
            </a:pPr>
            <a:r>
              <a:rPr sz="2475" b="0">
                <a:solidFill>
                  <a:srgbClr val="142C42"/>
                </a:solidFill>
                <a:latin typeface="Calibri"/>
                <a:ea typeface="Calibri"/>
                <a:cs typeface="Calibri"/>
              </a:rPr>
              <a:t>additional bankruptcies detected</a:t>
            </a:r>
          </a:p>
        </p:txBody>
      </p:sp>
      <p:sp>
        <p:nvSpPr>
          <p:cNvPr id="6" name="">
            <a:extLst xmlns:a="http://schemas.openxmlformats.org/drawingml/2006/main">
              <a:ext uri="{FF2B5EF4-FFF2-40B4-BE49-F238E27FC236}">
                <a16:creationId xmlns:a16="http://schemas.microsoft.com/office/drawing/2014/main" id="{0CDEFE3E-929C-41F0-A38C-1F9067C3C0F5}"/>
              </a:ext>
            </a:extLst>
          </p:cNvPr>
          <p:cNvSpPr>
            <a:spLocks xmlns:a="http://schemas.openxmlformats.org/drawingml/2006/main" noGrp="1"/>
          </p:cNvSpPr>
          <p:nvPr/>
        </p:nvSpPr>
        <p:spPr>
          <a:xfrm xmlns:a="http://schemas.openxmlformats.org/drawingml/2006/main">
            <a:off x="685800" y="5276850"/>
            <a:ext cx="200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950" b="1">
                <a:solidFill>
                  <a:srgbClr val="C35A43"/>
                </a:solidFill>
                <a:latin typeface="Calibri"/>
                <a:ea typeface="Calibri"/>
                <a:cs typeface="Calibri"/>
              </a:defRPr>
            </a:defPPr>
          </a:lstStyle>
          <a:p xmlns:a="http://schemas.openxmlformats.org/drawingml/2006/main">
            <a:pPr>
              <a:defRPr sz="4950" b="1">
                <a:solidFill>
                  <a:srgbClr val="C35A43"/>
                </a:solidFill>
                <a:latin typeface="Calibri"/>
                <a:ea typeface="Calibri"/>
                <a:cs typeface="Calibri"/>
              </a:defRPr>
            </a:pPr>
            <a:r>
              <a:rPr sz="4950" b="1">
                <a:solidFill>
                  <a:srgbClr val="C35A43"/>
                </a:solidFill>
                <a:latin typeface="Calibri"/>
                <a:ea typeface="Calibri"/>
                <a:cs typeface="Calibri"/>
              </a:rPr>
              <a:t>125</a:t>
            </a:r>
          </a:p>
        </p:txBody>
      </p:sp>
      <p:sp>
        <p:nvSpPr>
          <p:cNvPr id="7" name="">
            <a:extLst xmlns:a="http://schemas.openxmlformats.org/drawingml/2006/main">
              <a:ext uri="{FF2B5EF4-FFF2-40B4-BE49-F238E27FC236}">
                <a16:creationId xmlns:a16="http://schemas.microsoft.com/office/drawing/2014/main" id="{43A5ADB7-E010-4CA3-B046-444D012ED0B1}"/>
              </a:ext>
            </a:extLst>
          </p:cNvPr>
          <p:cNvSpPr>
            <a:spLocks xmlns:a="http://schemas.openxmlformats.org/drawingml/2006/main" noGrp="1"/>
          </p:cNvSpPr>
          <p:nvPr/>
        </p:nvSpPr>
        <p:spPr>
          <a:xfrm xmlns:a="http://schemas.openxmlformats.org/drawingml/2006/main">
            <a:off x="2619375" y="5467350"/>
            <a:ext cx="833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75" b="0">
                <a:solidFill>
                  <a:srgbClr val="142C42"/>
                </a:solidFill>
                <a:latin typeface="Calibri"/>
                <a:ea typeface="Calibri"/>
                <a:cs typeface="Calibri"/>
              </a:defRPr>
            </a:defPPr>
          </a:lstStyle>
          <a:p xmlns:a="http://schemas.openxmlformats.org/drawingml/2006/main">
            <a:pPr>
              <a:defRPr sz="2475" b="0">
                <a:solidFill>
                  <a:srgbClr val="142C42"/>
                </a:solidFill>
                <a:latin typeface="Calibri"/>
                <a:ea typeface="Calibri"/>
                <a:cs typeface="Calibri"/>
              </a:defRPr>
            </a:pPr>
            <a:r>
              <a:rPr sz="2475" b="0">
                <a:solidFill>
                  <a:srgbClr val="142C42"/>
                </a:solidFill>
                <a:latin typeface="Calibri"/>
                <a:ea typeface="Calibri"/>
                <a:cs typeface="Calibri"/>
              </a:rPr>
              <a:t>additional false alarms</a:t>
            </a:r>
          </a:p>
        </p:txBody>
      </p:sp>
    </p:spTree>
    <p:extLst>
      <p:ext uri="{BB962C8B-B14F-4D97-AF65-F5344CB8AC3E}">
        <p14:creationId xmlns:p14="http://schemas.microsoft.com/office/powerpoint/2010/main" val="1441449225"/>
      </p:ext>
    </p:extLst>
  </p:cSld>
</p:sld>
</file>

<file path=ppt/slides/slide11.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E0D9AB-F3BE-4887-98E1-C6587F6F38AF}"/>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Which ratios influence the selected model?</a:t>
            </a:r>
          </a:p>
        </p:txBody>
      </p:sp>
      <p:sp>
        <p:nvSpPr>
          <p:cNvPr id="2" name="">
            <a:extLst xmlns:a="http://schemas.openxmlformats.org/drawingml/2006/main">
              <a:ext uri="{FF2B5EF4-FFF2-40B4-BE49-F238E27FC236}">
                <a16:creationId xmlns:a16="http://schemas.microsoft.com/office/drawing/2014/main" id="{6B0B1F01-4CF3-467C-BE19-23E9D57E64CB}"/>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11</a:t>
            </a:r>
          </a:p>
        </p:txBody>
      </p:sp>
      <p:graphicFrame>
        <p:nvGraphicFramePr>
          <p:cNvPr id="3" name="Chart">
            <a:extLst xmlns:a="http://schemas.openxmlformats.org/drawingml/2006/main">
              <a:ext uri="{FF2B5EF4-FFF2-40B4-BE49-F238E27FC236}">
                <a16:creationId xmlns:a16="http://schemas.microsoft.com/office/drawing/2014/main" id="{93E15F01-96EA-4B93-8DF3-4F8D4F758136}"/>
              </a:ext>
            </a:extLst>
          </p:cNvPr>
          <p:cNvGraphicFramePr/>
          <p:nvPr/>
        </p:nvGraphicFramePr>
        <p:xfrm>
          <a:off xmlns:a="http://schemas.openxmlformats.org/drawingml/2006/main" x="590550" y="1619250"/>
          <a:ext xmlns:a="http://schemas.openxmlformats.org/drawingml/2006/main" cx="6762750" cy="3714750"/>
        </p:xfrm>
        <a:graphic xmlns:a="http://schemas.openxmlformats.org/drawingml/2006/main">
          <a:graphicData uri="http://schemas.openxmlformats.org/drawingml/2006/chart">
            <c:chart xmlns:r="http://schemas.openxmlformats.org/officeDocument/2006/relationships" xmlns:c="http://schemas.openxmlformats.org/drawingml/2006/chart" r:id="R85099c1a09634a4e"/>
          </a:graphicData>
        </a:graphic>
      </p:graphicFrame>
      <p:sp>
        <p:nvSpPr>
          <p:cNvPr id="4" name="">
            <a:extLst xmlns:a="http://schemas.openxmlformats.org/drawingml/2006/main">
              <a:ext uri="{FF2B5EF4-FFF2-40B4-BE49-F238E27FC236}">
                <a16:creationId xmlns:a16="http://schemas.microsoft.com/office/drawing/2014/main" id="{DC7A67F9-4E22-40EA-8638-25097F1C5D6C}"/>
              </a:ext>
            </a:extLst>
          </p:cNvPr>
          <p:cNvSpPr>
            <a:spLocks xmlns:a="http://schemas.openxmlformats.org/drawingml/2006/main" noGrp="1"/>
          </p:cNvSpPr>
          <p:nvPr/>
        </p:nvSpPr>
        <p:spPr>
          <a:xfrm xmlns:a="http://schemas.openxmlformats.org/drawingml/2006/main">
            <a:off x="7905750" y="176212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7F78"/>
                </a:solidFill>
                <a:latin typeface="Calibri"/>
                <a:ea typeface="Calibri"/>
                <a:cs typeface="Calibri"/>
              </a:defRPr>
            </a:defPPr>
          </a:lstStyle>
          <a:p xmlns:a="http://schemas.openxmlformats.org/drawingml/2006/main">
            <a:pPr>
              <a:defRPr sz="2250" b="1">
                <a:solidFill>
                  <a:srgbClr val="007F78"/>
                </a:solidFill>
                <a:latin typeface="Calibri"/>
                <a:ea typeface="Calibri"/>
                <a:cs typeface="Calibri"/>
              </a:defRPr>
            </a:pPr>
            <a:r>
              <a:rPr sz="2250" b="1">
                <a:solidFill>
                  <a:srgbClr val="007F78"/>
                </a:solidFill>
                <a:latin typeface="Calibri"/>
                <a:ea typeface="Calibri"/>
                <a:cs typeface="Calibri"/>
              </a:rPr>
              <a:t>X27</a:t>
            </a:r>
          </a:p>
        </p:txBody>
      </p:sp>
      <p:sp>
        <p:nvSpPr>
          <p:cNvPr id="5" name="">
            <a:extLst xmlns:a="http://schemas.openxmlformats.org/drawingml/2006/main">
              <a:ext uri="{FF2B5EF4-FFF2-40B4-BE49-F238E27FC236}">
                <a16:creationId xmlns:a16="http://schemas.microsoft.com/office/drawing/2014/main" id="{7AA7354B-AB14-4D79-85FD-789D84D55F80}"/>
              </a:ext>
            </a:extLst>
          </p:cNvPr>
          <p:cNvSpPr>
            <a:spLocks xmlns:a="http://schemas.openxmlformats.org/drawingml/2006/main" noGrp="1"/>
          </p:cNvSpPr>
          <p:nvPr/>
        </p:nvSpPr>
        <p:spPr>
          <a:xfrm xmlns:a="http://schemas.openxmlformats.org/drawingml/2006/main">
            <a:off x="7905750" y="2200275"/>
            <a:ext cx="347662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Operating profit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financial expenses</a:t>
            </a:r>
          </a:p>
        </p:txBody>
      </p:sp>
      <p:sp>
        <p:nvSpPr>
          <p:cNvPr id="6" name="">
            <a:extLst xmlns:a="http://schemas.openxmlformats.org/drawingml/2006/main">
              <a:ext uri="{FF2B5EF4-FFF2-40B4-BE49-F238E27FC236}">
                <a16:creationId xmlns:a16="http://schemas.microsoft.com/office/drawing/2014/main" id="{D343D182-AA85-43E4-A656-8FA3F6079A0F}"/>
              </a:ext>
            </a:extLst>
          </p:cNvPr>
          <p:cNvSpPr>
            <a:spLocks xmlns:a="http://schemas.openxmlformats.org/drawingml/2006/main" noGrp="1"/>
          </p:cNvSpPr>
          <p:nvPr/>
        </p:nvSpPr>
        <p:spPr>
          <a:xfrm xmlns:a="http://schemas.openxmlformats.org/drawingml/2006/main">
            <a:off x="7905750" y="3333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7F78"/>
                </a:solidFill>
                <a:latin typeface="Calibri"/>
                <a:ea typeface="Calibri"/>
                <a:cs typeface="Calibri"/>
              </a:defRPr>
            </a:defPPr>
          </a:lstStyle>
          <a:p xmlns:a="http://schemas.openxmlformats.org/drawingml/2006/main">
            <a:pPr>
              <a:defRPr sz="2250" b="1">
                <a:solidFill>
                  <a:srgbClr val="007F78"/>
                </a:solidFill>
                <a:latin typeface="Calibri"/>
                <a:ea typeface="Calibri"/>
                <a:cs typeface="Calibri"/>
              </a:defRPr>
            </a:pPr>
            <a:r>
              <a:rPr sz="2250" b="1">
                <a:solidFill>
                  <a:srgbClr val="007F78"/>
                </a:solidFill>
                <a:latin typeface="Calibri"/>
                <a:ea typeface="Calibri"/>
                <a:cs typeface="Calibri"/>
              </a:rPr>
              <a:t>X34</a:t>
            </a:r>
          </a:p>
        </p:txBody>
      </p:sp>
      <p:sp>
        <p:nvSpPr>
          <p:cNvPr id="7" name="">
            <a:extLst xmlns:a="http://schemas.openxmlformats.org/drawingml/2006/main">
              <a:ext uri="{FF2B5EF4-FFF2-40B4-BE49-F238E27FC236}">
                <a16:creationId xmlns:a16="http://schemas.microsoft.com/office/drawing/2014/main" id="{26954574-3645-4755-AAE5-7D874AF3DD1F}"/>
              </a:ext>
            </a:extLst>
          </p:cNvPr>
          <p:cNvSpPr>
            <a:spLocks xmlns:a="http://schemas.openxmlformats.org/drawingml/2006/main" noGrp="1"/>
          </p:cNvSpPr>
          <p:nvPr/>
        </p:nvSpPr>
        <p:spPr>
          <a:xfrm xmlns:a="http://schemas.openxmlformats.org/drawingml/2006/main">
            <a:off x="7905750" y="3790950"/>
            <a:ext cx="347662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Operating expenses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total liabilities</a:t>
            </a:r>
          </a:p>
        </p:txBody>
      </p:sp>
      <p:sp>
        <p:nvSpPr>
          <p:cNvPr id="8" name="">
            <a:extLst xmlns:a="http://schemas.openxmlformats.org/drawingml/2006/main">
              <a:ext uri="{FF2B5EF4-FFF2-40B4-BE49-F238E27FC236}">
                <a16:creationId xmlns:a16="http://schemas.microsoft.com/office/drawing/2014/main" id="{1F8D2E04-7C16-4571-AAA6-5E974E47C4CF}"/>
              </a:ext>
            </a:extLst>
          </p:cNvPr>
          <p:cNvSpPr>
            <a:spLocks xmlns:a="http://schemas.openxmlformats.org/drawingml/2006/main" noGrp="1"/>
          </p:cNvSpPr>
          <p:nvPr/>
        </p:nvSpPr>
        <p:spPr>
          <a:xfrm xmlns:a="http://schemas.openxmlformats.org/drawingml/2006/main">
            <a:off x="685800" y="5791200"/>
            <a:ext cx="1076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617384"/>
                </a:solidFill>
                <a:latin typeface="Calibri"/>
                <a:ea typeface="Calibri"/>
                <a:cs typeface="Calibri"/>
              </a:defRPr>
            </a:defPPr>
          </a:lstStyle>
          <a:p xmlns:a="http://schemas.openxmlformats.org/drawingml/2006/main">
            <a:pPr>
              <a:defRPr sz="1800" b="0">
                <a:solidFill>
                  <a:srgbClr val="617384"/>
                </a:solidFill>
                <a:latin typeface="Calibri"/>
                <a:ea typeface="Calibri"/>
                <a:cs typeface="Calibri"/>
              </a:defRPr>
            </a:pPr>
            <a:r>
              <a:rPr sz="1800" b="0">
                <a:solidFill>
                  <a:srgbClr val="617384"/>
                </a:solidFill>
                <a:latin typeface="Calibri"/>
                <a:ea typeface="Calibri"/>
                <a:cs typeface="Calibri"/>
              </a:rPr>
              <a:t>Permutation importance measures model reliance. Correlation prevents a causal reading.</a:t>
            </a:r>
          </a:p>
        </p:txBody>
      </p:sp>
    </p:spTree>
    <p:extLst>
      <p:ext uri="{BB962C8B-B14F-4D97-AF65-F5344CB8AC3E}">
        <p14:creationId xmlns:p14="http://schemas.microsoft.com/office/powerpoint/2010/main" val="1520962808"/>
      </p:ext>
    </p:extLst>
  </p:cSld>
</p:sld>
</file>

<file path=ppt/slides/slide12.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E53019-054F-4AC5-9677-2E9B00E1D23C}"/>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Live demonstration</a:t>
            </a:r>
          </a:p>
        </p:txBody>
      </p:sp>
      <p:sp>
        <p:nvSpPr>
          <p:cNvPr id="2" name="">
            <a:extLst xmlns:a="http://schemas.openxmlformats.org/drawingml/2006/main">
              <a:ext uri="{FF2B5EF4-FFF2-40B4-BE49-F238E27FC236}">
                <a16:creationId xmlns:a16="http://schemas.microsoft.com/office/drawing/2014/main" id="{CADDD5DF-56BD-450B-9933-F040474C79C3}"/>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12</a:t>
            </a:r>
          </a:p>
        </p:txBody>
      </p:sp>
      <p:pic>
        <p:nvPicPr>
          <p:cNvPr id="3" name="">
            <a:extLst xmlns:a="http://schemas.openxmlformats.org/drawingml/2006/main">
              <a:ext uri="{FF2B5EF4-FFF2-40B4-BE49-F238E27FC236}">
                <a16:creationId xmlns:a16="http://schemas.microsoft.com/office/drawing/2014/main" id="{4C4B52AE-A5A8-4480-B86A-426C1DEBF0A7}"/>
              </a:ext>
            </a:extLst>
          </p:cNvPr>
          <p:cNvPicPr>
            <a:picLocks xmlns:a="http://schemas.openxmlformats.org/drawingml/2006/main" noChangeAspect="1"/>
          </p:cNvPicPr>
          <p:nvPr/>
        </p:nvPicPr>
        <p:blipFill>
          <a:blip xmlns:r="http://schemas.openxmlformats.org/officeDocument/2006/relationships" xmlns:a="http://schemas.openxmlformats.org/drawingml/2006/main" r:embed="R2ed54865c3e34620"/>
          <a:stretch xmlns:a="http://schemas.openxmlformats.org/drawingml/2006/main"/>
        </p:blipFill>
        <p:spPr>
          <a:xfrm xmlns:a="http://schemas.openxmlformats.org/drawingml/2006/main">
            <a:off x="590550" y="1495877"/>
            <a:ext cx="7715250" cy="434249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3167601-9A5D-453A-A670-A7138ED5A955}"/>
              </a:ext>
            </a:extLst>
          </p:cNvPr>
          <p:cNvSpPr>
            <a:spLocks xmlns:a="http://schemas.openxmlformats.org/drawingml/2006/main" noGrp="1"/>
          </p:cNvSpPr>
          <p:nvPr/>
        </p:nvSpPr>
        <p:spPr>
          <a:xfrm xmlns:a="http://schemas.openxmlformats.org/drawingml/2006/main">
            <a:off x="8810625" y="17526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1</a:t>
            </a:r>
          </a:p>
        </p:txBody>
      </p:sp>
      <p:sp>
        <p:nvSpPr>
          <p:cNvPr id="5" name="">
            <a:extLst xmlns:a="http://schemas.openxmlformats.org/drawingml/2006/main">
              <a:ext uri="{FF2B5EF4-FFF2-40B4-BE49-F238E27FC236}">
                <a16:creationId xmlns:a16="http://schemas.microsoft.com/office/drawing/2014/main" id="{4721366A-8DFB-4BD3-A107-A0A1AD47D867}"/>
              </a:ext>
            </a:extLst>
          </p:cNvPr>
          <p:cNvSpPr>
            <a:spLocks xmlns:a="http://schemas.openxmlformats.org/drawingml/2006/main" noGrp="1"/>
          </p:cNvSpPr>
          <p:nvPr/>
        </p:nvSpPr>
        <p:spPr>
          <a:xfrm xmlns:a="http://schemas.openxmlformats.org/drawingml/2006/main">
            <a:off x="9382125" y="1752600"/>
            <a:ext cx="2238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42C42"/>
                </a:solidFill>
                <a:latin typeface="Calibri"/>
                <a:ea typeface="Calibri"/>
                <a:cs typeface="Calibri"/>
              </a:defRPr>
            </a:defPPr>
          </a:lstStyle>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Run a known</a:t>
            </a:r>
          </a:p>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test case</a:t>
            </a:r>
          </a:p>
        </p:txBody>
      </p:sp>
      <p:sp>
        <p:nvSpPr>
          <p:cNvPr id="6" name="">
            <a:extLst xmlns:a="http://schemas.openxmlformats.org/drawingml/2006/main">
              <a:ext uri="{FF2B5EF4-FFF2-40B4-BE49-F238E27FC236}">
                <a16:creationId xmlns:a16="http://schemas.microsoft.com/office/drawing/2014/main" id="{C4059228-1834-4284-B258-8FBEC9EB06BF}"/>
              </a:ext>
            </a:extLst>
          </p:cNvPr>
          <p:cNvSpPr>
            <a:spLocks xmlns:a="http://schemas.openxmlformats.org/drawingml/2006/main" noGrp="1"/>
          </p:cNvSpPr>
          <p:nvPr/>
        </p:nvSpPr>
        <p:spPr>
          <a:xfrm xmlns:a="http://schemas.openxmlformats.org/drawingml/2006/main">
            <a:off x="8810625" y="324802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2</a:t>
            </a:r>
          </a:p>
        </p:txBody>
      </p:sp>
      <p:sp>
        <p:nvSpPr>
          <p:cNvPr id="7" name="">
            <a:extLst xmlns:a="http://schemas.openxmlformats.org/drawingml/2006/main">
              <a:ext uri="{FF2B5EF4-FFF2-40B4-BE49-F238E27FC236}">
                <a16:creationId xmlns:a16="http://schemas.microsoft.com/office/drawing/2014/main" id="{2D0686F8-ABB9-44A1-BEF3-D5E70E9CB09E}"/>
              </a:ext>
            </a:extLst>
          </p:cNvPr>
          <p:cNvSpPr>
            <a:spLocks xmlns:a="http://schemas.openxmlformats.org/drawingml/2006/main" noGrp="1"/>
          </p:cNvSpPr>
          <p:nvPr/>
        </p:nvSpPr>
        <p:spPr>
          <a:xfrm xmlns:a="http://schemas.openxmlformats.org/drawingml/2006/main">
            <a:off x="9382125" y="3248025"/>
            <a:ext cx="2238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42C42"/>
                </a:solidFill>
                <a:latin typeface="Calibri"/>
                <a:ea typeface="Calibri"/>
                <a:cs typeface="Calibri"/>
              </a:defRPr>
            </a:defPPr>
          </a:lstStyle>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Show a missed case</a:t>
            </a:r>
          </a:p>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or false alarm</a:t>
            </a:r>
          </a:p>
        </p:txBody>
      </p:sp>
      <p:sp>
        <p:nvSpPr>
          <p:cNvPr id="8" name="">
            <a:extLst xmlns:a="http://schemas.openxmlformats.org/drawingml/2006/main">
              <a:ext uri="{FF2B5EF4-FFF2-40B4-BE49-F238E27FC236}">
                <a16:creationId xmlns:a16="http://schemas.microsoft.com/office/drawing/2014/main" id="{51BEB915-0D39-4E70-99E5-506321F70F9B}"/>
              </a:ext>
            </a:extLst>
          </p:cNvPr>
          <p:cNvSpPr>
            <a:spLocks xmlns:a="http://schemas.openxmlformats.org/drawingml/2006/main" noGrp="1"/>
          </p:cNvSpPr>
          <p:nvPr/>
        </p:nvSpPr>
        <p:spPr>
          <a:xfrm xmlns:a="http://schemas.openxmlformats.org/drawingml/2006/main">
            <a:off x="8810625" y="475297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3</a:t>
            </a:r>
          </a:p>
        </p:txBody>
      </p:sp>
      <p:sp>
        <p:nvSpPr>
          <p:cNvPr id="9" name="">
            <a:extLst xmlns:a="http://schemas.openxmlformats.org/drawingml/2006/main">
              <a:ext uri="{FF2B5EF4-FFF2-40B4-BE49-F238E27FC236}">
                <a16:creationId xmlns:a16="http://schemas.microsoft.com/office/drawing/2014/main" id="{2F87D8EB-DC3E-47A4-857D-41794A575C8E}"/>
              </a:ext>
            </a:extLst>
          </p:cNvPr>
          <p:cNvSpPr>
            <a:spLocks xmlns:a="http://schemas.openxmlformats.org/drawingml/2006/main" noGrp="1"/>
          </p:cNvSpPr>
          <p:nvPr/>
        </p:nvSpPr>
        <p:spPr>
          <a:xfrm xmlns:a="http://schemas.openxmlformats.org/drawingml/2006/main">
            <a:off x="9382125" y="4752975"/>
            <a:ext cx="2238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42C42"/>
                </a:solidFill>
                <a:latin typeface="Calibri"/>
                <a:ea typeface="Calibri"/>
                <a:cs typeface="Calibri"/>
              </a:defRPr>
            </a:defPPr>
          </a:lstStyle>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Upload a CSV and</a:t>
            </a:r>
          </a:p>
          <a:p xmlns:a="http://schemas.openxmlformats.org/drawingml/2006/main">
            <a:pPr>
              <a:defRPr sz="2175" b="0">
                <a:solidFill>
                  <a:srgbClr val="142C42"/>
                </a:solidFill>
                <a:latin typeface="Calibri"/>
                <a:ea typeface="Calibri"/>
                <a:cs typeface="Calibri"/>
              </a:defRPr>
            </a:pPr>
            <a:r>
              <a:rPr sz="2175" b="0">
                <a:solidFill>
                  <a:srgbClr val="142C42"/>
                </a:solidFill>
                <a:latin typeface="Calibri"/>
                <a:ea typeface="Calibri"/>
                <a:cs typeface="Calibri"/>
              </a:rPr>
              <a:t>export predictions</a:t>
            </a:r>
          </a:p>
        </p:txBody>
      </p:sp>
      <p:sp>
        <p:nvSpPr>
          <p:cNvPr id="10" name="">
            <a:extLst xmlns:a="http://schemas.openxmlformats.org/drawingml/2006/main">
              <a:ext uri="{FF2B5EF4-FFF2-40B4-BE49-F238E27FC236}">
                <a16:creationId xmlns:a16="http://schemas.microsoft.com/office/drawing/2014/main" id="{7D4BA607-F172-4408-BD28-AB46D35B8226}"/>
              </a:ext>
            </a:extLst>
          </p:cNvPr>
          <p:cNvSpPr>
            <a:spLocks xmlns:a="http://schemas.openxmlformats.org/drawingml/2006/main" noGrp="1"/>
          </p:cNvSpPr>
          <p:nvPr/>
        </p:nvSpPr>
        <p:spPr>
          <a:xfrm xmlns:a="http://schemas.openxmlformats.org/drawingml/2006/main">
            <a:off x="685800" y="6010275"/>
            <a:ext cx="704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617384"/>
                </a:solidFill>
                <a:latin typeface="Calibri"/>
                <a:ea typeface="Calibri"/>
                <a:cs typeface="Calibri"/>
              </a:defRPr>
            </a:defPPr>
          </a:lstStyle>
          <a:p xmlns:a="http://schemas.openxmlformats.org/drawingml/2006/main">
            <a:pPr>
              <a:defRPr sz="1650" b="0">
                <a:solidFill>
                  <a:srgbClr val="617384"/>
                </a:solidFill>
                <a:latin typeface="Calibri"/>
                <a:ea typeface="Calibri"/>
                <a:cs typeface="Calibri"/>
              </a:defRPr>
            </a:pPr>
            <a:r>
              <a:rPr sz="1650" b="0">
                <a:solidFill>
                  <a:srgbClr val="617384"/>
                </a:solidFill>
                <a:latin typeface="Calibri"/>
                <a:ea typeface="Calibri"/>
                <a:cs typeface="Calibri"/>
              </a:rPr>
              <a:t>python app.py</a:t>
            </a:r>
          </a:p>
        </p:txBody>
      </p:sp>
    </p:spTree>
    <p:extLst>
      <p:ext uri="{BB962C8B-B14F-4D97-AF65-F5344CB8AC3E}">
        <p14:creationId xmlns:p14="http://schemas.microsoft.com/office/powerpoint/2010/main" val="477613350"/>
      </p:ext>
    </p:extLst>
  </p:cSld>
</p:sld>
</file>

<file path=ppt/slides/slide13.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66EBF2-0F1F-4BC7-A900-FAC281359892}"/>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Conclusion and next steps</a:t>
            </a:r>
          </a:p>
        </p:txBody>
      </p:sp>
      <p:sp>
        <p:nvSpPr>
          <p:cNvPr id="2" name="">
            <a:extLst xmlns:a="http://schemas.openxmlformats.org/drawingml/2006/main">
              <a:ext uri="{FF2B5EF4-FFF2-40B4-BE49-F238E27FC236}">
                <a16:creationId xmlns:a16="http://schemas.microsoft.com/office/drawing/2014/main" id="{07F7E412-BB5C-490D-BAFE-C4489E8726C7}"/>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13</a:t>
            </a:r>
          </a:p>
        </p:txBody>
      </p:sp>
      <p:sp>
        <p:nvSpPr>
          <p:cNvPr id="3" name="">
            <a:extLst xmlns:a="http://schemas.openxmlformats.org/drawingml/2006/main">
              <a:ext uri="{FF2B5EF4-FFF2-40B4-BE49-F238E27FC236}">
                <a16:creationId xmlns:a16="http://schemas.microsoft.com/office/drawing/2014/main" id="{39A067F7-BD68-4AA6-8E0D-2ADD53FC5707}"/>
              </a:ext>
            </a:extLst>
          </p:cNvPr>
          <p:cNvSpPr>
            <a:spLocks xmlns:a="http://schemas.openxmlformats.org/drawingml/2006/main" noGrp="1"/>
          </p:cNvSpPr>
          <p:nvPr/>
        </p:nvSpPr>
        <p:spPr>
          <a:xfrm xmlns:a="http://schemas.openxmlformats.org/drawingml/2006/main">
            <a:off x="666750" y="15811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007F78"/>
                </a:solidFill>
                <a:latin typeface="Calibri"/>
                <a:ea typeface="Calibri"/>
                <a:cs typeface="Calibri"/>
              </a:defRPr>
            </a:defPPr>
          </a:lstStyle>
          <a:p xmlns:a="http://schemas.openxmlformats.org/drawingml/2006/main">
            <a:pPr>
              <a:defRPr sz="3000" b="1">
                <a:solidFill>
                  <a:srgbClr val="007F78"/>
                </a:solidFill>
                <a:latin typeface="Calibri"/>
                <a:ea typeface="Calibri"/>
                <a:cs typeface="Calibri"/>
              </a:defRPr>
            </a:pPr>
            <a:r>
              <a:rPr sz="3000" b="1">
                <a:solidFill>
                  <a:srgbClr val="007F78"/>
                </a:solidFill>
                <a:latin typeface="Calibri"/>
                <a:ea typeface="Calibri"/>
                <a:cs typeface="Calibri"/>
              </a:rPr>
              <a:t>A useful signal, with a measurable cost</a:t>
            </a:r>
          </a:p>
        </p:txBody>
      </p:sp>
      <p:sp>
        <p:nvSpPr>
          <p:cNvPr id="4" name="">
            <a:extLst xmlns:a="http://schemas.openxmlformats.org/drawingml/2006/main">
              <a:ext uri="{FF2B5EF4-FFF2-40B4-BE49-F238E27FC236}">
                <a16:creationId xmlns:a16="http://schemas.microsoft.com/office/drawing/2014/main" id="{D77B1270-E279-4E16-98BD-477C4B181C81}"/>
              </a:ext>
            </a:extLst>
          </p:cNvPr>
          <p:cNvSpPr>
            <a:spLocks xmlns:a="http://schemas.openxmlformats.org/drawingml/2006/main" noGrp="1"/>
          </p:cNvSpPr>
          <p:nvPr/>
        </p:nvSpPr>
        <p:spPr>
          <a:xfrm xmlns:a="http://schemas.openxmlformats.org/drawingml/2006/main">
            <a:off x="685800" y="2676525"/>
            <a:ext cx="104775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0">
                <a:solidFill>
                  <a:srgbClr val="142C42"/>
                </a:solidFill>
                <a:latin typeface="Calibri"/>
                <a:ea typeface="Calibri"/>
                <a:cs typeface="Calibri"/>
              </a:defRPr>
            </a:defPPr>
          </a:lstStyle>
          <a:p xmlns:a="http://schemas.openxmlformats.org/drawingml/2006/main">
            <a:pPr>
              <a:defRPr sz="2775" b="0">
                <a:solidFill>
                  <a:srgbClr val="142C42"/>
                </a:solidFill>
                <a:latin typeface="Calibri"/>
                <a:ea typeface="Calibri"/>
                <a:cs typeface="Calibri"/>
              </a:defRPr>
            </a:pPr>
            <a:r>
              <a:rPr sz="2775" b="0">
                <a:solidFill>
                  <a:srgbClr val="142C42"/>
                </a:solidFill>
                <a:latin typeface="Calibri"/>
                <a:ea typeface="Calibri"/>
                <a:cs typeface="Calibri"/>
              </a:rPr>
              <a:t>84 bankruptcies detected</a:t>
            </a:r>
          </a:p>
          <a:p xmlns:a="http://schemas.openxmlformats.org/drawingml/2006/main">
            <a:pPr>
              <a:defRPr sz="2775" b="0">
                <a:solidFill>
                  <a:srgbClr val="142C42"/>
                </a:solidFill>
                <a:latin typeface="Calibri"/>
                <a:ea typeface="Calibri"/>
                <a:cs typeface="Calibri"/>
              </a:defRPr>
            </a:pPr>
            <a:r>
              <a:rPr sz="2775" b="0">
                <a:solidFill>
                  <a:srgbClr val="142C42"/>
                </a:solidFill>
                <a:latin typeface="Calibri"/>
                <a:ea typeface="Calibri"/>
                <a:cs typeface="Calibri"/>
              </a:rPr>
              <a:t>15 missed cases and 161 false alarms</a:t>
            </a:r>
          </a:p>
        </p:txBody>
      </p:sp>
      <p:sp>
        <p:nvSpPr>
          <p:cNvPr id="5" name="">
            <a:extLst xmlns:a="http://schemas.openxmlformats.org/drawingml/2006/main">
              <a:ext uri="{FF2B5EF4-FFF2-40B4-BE49-F238E27FC236}">
                <a16:creationId xmlns:a16="http://schemas.microsoft.com/office/drawing/2014/main" id="{8B9508F1-8590-476D-8FA5-1E92B5231A45}"/>
              </a:ext>
            </a:extLst>
          </p:cNvPr>
          <p:cNvSpPr>
            <a:spLocks xmlns:a="http://schemas.openxmlformats.org/drawingml/2006/main" noGrp="1"/>
          </p:cNvSpPr>
          <p:nvPr/>
        </p:nvSpPr>
        <p:spPr>
          <a:xfrm xmlns:a="http://schemas.openxmlformats.org/drawingml/2006/main">
            <a:off x="685800" y="4276725"/>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42C42"/>
                </a:solidFill>
                <a:latin typeface="Calibri"/>
                <a:ea typeface="Calibri"/>
                <a:cs typeface="Calibri"/>
              </a:defRPr>
            </a:defPPr>
          </a:lstStyle>
          <a:p xmlns:a="http://schemas.openxmlformats.org/drawingml/2006/main">
            <a:pPr>
              <a:defRPr sz="2175" b="1">
                <a:solidFill>
                  <a:srgbClr val="142C42"/>
                </a:solidFill>
                <a:latin typeface="Calibri"/>
                <a:ea typeface="Calibri"/>
                <a:cs typeface="Calibri"/>
              </a:defRPr>
            </a:pPr>
            <a:r>
              <a:rPr sz="2175" b="1">
                <a:solidFill>
                  <a:srgbClr val="142C42"/>
                </a:solidFill>
                <a:latin typeface="Calibri"/>
                <a:ea typeface="Calibri"/>
                <a:cs typeface="Calibri"/>
              </a:rPr>
              <a:t>Next validation priorities</a:t>
            </a:r>
          </a:p>
        </p:txBody>
      </p:sp>
      <p:sp>
        <p:nvSpPr>
          <p:cNvPr id="6" name="">
            <a:extLst xmlns:a="http://schemas.openxmlformats.org/drawingml/2006/main">
              <a:ext uri="{FF2B5EF4-FFF2-40B4-BE49-F238E27FC236}">
                <a16:creationId xmlns:a16="http://schemas.microsoft.com/office/drawing/2014/main" id="{12BD967F-718E-484F-BA25-F4CF95D149E2}"/>
              </a:ext>
            </a:extLst>
          </p:cNvPr>
          <p:cNvSpPr>
            <a:spLocks xmlns:a="http://schemas.openxmlformats.org/drawingml/2006/main" noGrp="1"/>
          </p:cNvSpPr>
          <p:nvPr/>
        </p:nvSpPr>
        <p:spPr>
          <a:xfrm xmlns:a="http://schemas.openxmlformats.org/drawingml/2006/main">
            <a:off x="685800" y="49339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617384"/>
                </a:solidFill>
                <a:latin typeface="Calibri"/>
                <a:ea typeface="Calibri"/>
                <a:cs typeface="Calibri"/>
              </a:defRPr>
            </a:defPPr>
          </a:lstStyle>
          <a:p xmlns:a="http://schemas.openxmlformats.org/drawingml/2006/main">
            <a:pPr>
              <a:defRPr sz="2175" b="0">
                <a:solidFill>
                  <a:srgbClr val="617384"/>
                </a:solidFill>
                <a:latin typeface="Calibri"/>
                <a:ea typeface="Calibri"/>
                <a:cs typeface="Calibri"/>
              </a:defRPr>
            </a:pPr>
            <a:r>
              <a:rPr sz="2175" b="0">
                <a:solidFill>
                  <a:srgbClr val="617384"/>
                </a:solidFill>
                <a:latin typeface="Calibri"/>
                <a:ea typeface="Calibri"/>
                <a:cs typeface="Calibri"/>
              </a:rPr>
              <a:t>Company and date separation</a:t>
            </a:r>
          </a:p>
          <a:p xmlns:a="http://schemas.openxmlformats.org/drawingml/2006/main">
            <a:pPr>
              <a:defRPr sz="2175" b="0">
                <a:solidFill>
                  <a:srgbClr val="617384"/>
                </a:solidFill>
                <a:latin typeface="Calibri"/>
                <a:ea typeface="Calibri"/>
                <a:cs typeface="Calibri"/>
              </a:defRPr>
            </a:pPr>
            <a:r>
              <a:rPr sz="2175" b="0">
                <a:solidFill>
                  <a:srgbClr val="617384"/>
                </a:solidFill>
                <a:latin typeface="Calibri"/>
                <a:ea typeface="Calibri"/>
                <a:cs typeface="Calibri"/>
              </a:rPr>
              <a:t>Threshold stability across splits</a:t>
            </a:r>
          </a:p>
          <a:p xmlns:a="http://schemas.openxmlformats.org/drawingml/2006/main">
            <a:pPr>
              <a:defRPr sz="2175" b="0">
                <a:solidFill>
                  <a:srgbClr val="617384"/>
                </a:solidFill>
                <a:latin typeface="Calibri"/>
                <a:ea typeface="Calibri"/>
                <a:cs typeface="Calibri"/>
              </a:defRPr>
            </a:pPr>
            <a:r>
              <a:rPr sz="2175" b="0">
                <a:solidFill>
                  <a:srgbClr val="617384"/>
                </a:solidFill>
                <a:latin typeface="Calibri"/>
                <a:ea typeface="Calibri"/>
                <a:cs typeface="Calibri"/>
              </a:rPr>
              <a:t>Calibration on independent data</a:t>
            </a:r>
          </a:p>
        </p:txBody>
      </p:sp>
    </p:spTree>
    <p:extLst>
      <p:ext uri="{BB962C8B-B14F-4D97-AF65-F5344CB8AC3E}">
        <p14:creationId xmlns:p14="http://schemas.microsoft.com/office/powerpoint/2010/main" val="648807872"/>
      </p:ext>
    </p:extLst>
  </p:cSld>
</p:sld>
</file>

<file path=ppt/slides/slide14.xml><?xml version="1.0" encoding="utf-8"?>
<p:sld xmlns:p="http://schemas.openxmlformats.org/presentationml/2006/main">
  <p:cSld>
    <p:bg>
      <p:bgPr>
        <a:solidFill xmlns:a="http://schemas.openxmlformats.org/drawingml/2006/main">
          <a:srgbClr val="F5F4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2CCF00-2EF1-4CC2-BF5B-8B25B314D346}"/>
              </a:ext>
            </a:extLst>
          </p:cNvPr>
          <p:cNvSpPr>
            <a:spLocks xmlns:a="http://schemas.openxmlformats.org/drawingml/2006/main" noGrp="1"/>
          </p:cNvSpPr>
          <p:nvPr/>
        </p:nvSpPr>
        <p:spPr>
          <a:xfrm xmlns:a="http://schemas.openxmlformats.org/drawingml/2006/main">
            <a:off x="619125" y="45720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1">
                <a:solidFill>
                  <a:srgbClr val="142C42"/>
                </a:solidFill>
                <a:latin typeface="Calibri"/>
                <a:ea typeface="Calibri"/>
                <a:cs typeface="Calibri"/>
              </a:defRPr>
            </a:defPPr>
          </a:lstStyle>
          <a:p xmlns:a="http://schemas.openxmlformats.org/drawingml/2006/main">
            <a:pPr>
              <a:defRPr sz="3300" b="1">
                <a:solidFill>
                  <a:srgbClr val="142C42"/>
                </a:solidFill>
                <a:latin typeface="Calibri"/>
                <a:ea typeface="Calibri"/>
                <a:cs typeface="Calibri"/>
              </a:defRPr>
            </a:pPr>
            <a:r>
              <a:rPr sz="3300" b="1">
                <a:solidFill>
                  <a:srgbClr val="142C42"/>
                </a:solidFill>
                <a:latin typeface="Calibri"/>
                <a:ea typeface="Calibri"/>
                <a:cs typeface="Calibri"/>
              </a:rPr>
              <a:t>References and reproducibility</a:t>
            </a:r>
          </a:p>
        </p:txBody>
      </p:sp>
      <p:sp>
        <p:nvSpPr>
          <p:cNvPr id="2" name="">
            <a:extLst xmlns:a="http://schemas.openxmlformats.org/drawingml/2006/main">
              <a:ext uri="{FF2B5EF4-FFF2-40B4-BE49-F238E27FC236}">
                <a16:creationId xmlns:a16="http://schemas.microsoft.com/office/drawing/2014/main" id="{5BB174C0-28F3-4D73-860F-3E0828A731F6}"/>
              </a:ext>
            </a:extLst>
          </p:cNvPr>
          <p:cNvSpPr>
            <a:spLocks xmlns:a="http://schemas.openxmlformats.org/drawingml/2006/main" noGrp="1"/>
          </p:cNvSpPr>
          <p:nvPr/>
        </p:nvSpPr>
        <p:spPr>
          <a:xfrm xmlns:a="http://schemas.openxmlformats.org/drawingml/2006/main">
            <a:off x="11049000" y="63531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0">
                <a:solidFill>
                  <a:srgbClr val="617384"/>
                </a:solidFill>
                <a:latin typeface="Calibri"/>
                <a:ea typeface="Calibri"/>
                <a:cs typeface="Calibri"/>
              </a:defRPr>
            </a:defPPr>
          </a:lstStyle>
          <a:p xmlns:a="http://schemas.openxmlformats.org/drawingml/2006/main">
            <a:pPr>
              <a:defRPr sz="1275" b="0">
                <a:solidFill>
                  <a:srgbClr val="617384"/>
                </a:solidFill>
                <a:latin typeface="Calibri"/>
                <a:ea typeface="Calibri"/>
                <a:cs typeface="Calibri"/>
              </a:defRPr>
            </a:pPr>
            <a:r>
              <a:rPr sz="1275" b="0">
                <a:solidFill>
                  <a:srgbClr val="617384"/>
                </a:solidFill>
                <a:latin typeface="Calibri"/>
                <a:ea typeface="Calibri"/>
                <a:cs typeface="Calibri"/>
              </a:rPr>
              <a:t>14</a:t>
            </a:r>
          </a:p>
        </p:txBody>
      </p:sp>
      <p:sp>
        <p:nvSpPr>
          <p:cNvPr id="3" name="">
            <a:extLst xmlns:a="http://schemas.openxmlformats.org/drawingml/2006/main">
              <a:ext uri="{FF2B5EF4-FFF2-40B4-BE49-F238E27FC236}">
                <a16:creationId xmlns:a16="http://schemas.microsoft.com/office/drawing/2014/main" id="{69C25EA4-2B65-4B5B-8602-5B6048CFCD19}"/>
              </a:ext>
            </a:extLst>
          </p:cNvPr>
          <p:cNvSpPr>
            <a:spLocks xmlns:a="http://schemas.openxmlformats.org/drawingml/2006/main" noGrp="1"/>
          </p:cNvSpPr>
          <p:nvPr/>
        </p:nvSpPr>
        <p:spPr>
          <a:xfrm xmlns:a="http://schemas.openxmlformats.org/drawingml/2006/main">
            <a:off x="685800" y="15811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Sources</a:t>
            </a:r>
          </a:p>
        </p:txBody>
      </p:sp>
      <p:sp>
        <p:nvSpPr>
          <p:cNvPr id="4" name="">
            <a:extLst xmlns:a="http://schemas.openxmlformats.org/drawingml/2006/main">
              <a:ext uri="{FF2B5EF4-FFF2-40B4-BE49-F238E27FC236}">
                <a16:creationId xmlns:a16="http://schemas.microsoft.com/office/drawing/2014/main" id="{8AAC376D-30EC-482B-99E3-929EFF851A3C}"/>
              </a:ext>
            </a:extLst>
          </p:cNvPr>
          <p:cNvSpPr>
            <a:spLocks xmlns:a="http://schemas.openxmlformats.org/drawingml/2006/main" noGrp="1"/>
          </p:cNvSpPr>
          <p:nvPr/>
        </p:nvSpPr>
        <p:spPr>
          <a:xfrm xmlns:a="http://schemas.openxmlformats.org/drawingml/2006/main">
            <a:off x="685800" y="2266950"/>
            <a:ext cx="6191250" cy="3286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42C42"/>
                </a:solidFill>
                <a:latin typeface="Calibri"/>
                <a:ea typeface="Calibri"/>
                <a:cs typeface="Calibri"/>
              </a:defRPr>
            </a:defPPr>
          </a:lstStyle>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Tomczak (2016), UCI dataset</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doi:10.24432/C5F600</a:t>
            </a:r>
          </a:p>
          <a:p xmlns:a="http://schemas.openxmlformats.org/drawingml/2006/main">
            <a:r>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Scikit-learn evaluation and CV documentation</a:t>
            </a:r>
          </a:p>
          <a:p xmlns:a="http://schemas.openxmlformats.org/drawingml/2006/main">
            <a:r>
              <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Supplied Patil report and codeatri repository</a:t>
            </a:r>
          </a:p>
          <a:p xmlns:a="http://schemas.openxmlformats.org/drawingml/2006/main">
            <a:pPr>
              <a:defRPr sz="2025" b="0">
                <a:solidFill>
                  <a:srgbClr val="142C42"/>
                </a:solidFill>
                <a:latin typeface="Calibri"/>
                <a:ea typeface="Calibri"/>
                <a:cs typeface="Calibri"/>
              </a:defRPr>
            </a:pPr>
            <a:r>
              <a:rPr sz="2025" b="0">
                <a:solidFill>
                  <a:srgbClr val="142C42"/>
                </a:solidFill>
                <a:latin typeface="Calibri"/>
                <a:ea typeface="Calibri"/>
                <a:cs typeface="Calibri"/>
              </a:rPr>
              <a:t>Background references</a:t>
            </a:r>
          </a:p>
        </p:txBody>
      </p:sp>
      <p:sp>
        <p:nvSpPr>
          <p:cNvPr id="5" name="">
            <a:extLst xmlns:a="http://schemas.openxmlformats.org/drawingml/2006/main">
              <a:ext uri="{FF2B5EF4-FFF2-40B4-BE49-F238E27FC236}">
                <a16:creationId xmlns:a16="http://schemas.microsoft.com/office/drawing/2014/main" id="{E297C6D4-DA7C-461D-B0A0-9F1DC4F9F407}"/>
              </a:ext>
            </a:extLst>
          </p:cNvPr>
          <p:cNvSpPr>
            <a:spLocks xmlns:a="http://schemas.openxmlformats.org/drawingml/2006/main" noGrp="1"/>
          </p:cNvSpPr>
          <p:nvPr/>
        </p:nvSpPr>
        <p:spPr>
          <a:xfrm xmlns:a="http://schemas.openxmlformats.org/drawingml/2006/main">
            <a:off x="7620000" y="1581150"/>
            <a:ext cx="4000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007F78"/>
                </a:solidFill>
                <a:latin typeface="Calibri"/>
                <a:ea typeface="Calibri"/>
                <a:cs typeface="Calibri"/>
              </a:defRPr>
            </a:defPPr>
          </a:lstStyle>
          <a:p xmlns:a="http://schemas.openxmlformats.org/drawingml/2006/main">
            <a:pPr>
              <a:defRPr sz="2325" b="1">
                <a:solidFill>
                  <a:srgbClr val="007F78"/>
                </a:solidFill>
                <a:latin typeface="Calibri"/>
                <a:ea typeface="Calibri"/>
                <a:cs typeface="Calibri"/>
              </a:defRPr>
            </a:pPr>
            <a:r>
              <a:rPr sz="2325" b="1">
                <a:solidFill>
                  <a:srgbClr val="007F78"/>
                </a:solidFill>
                <a:latin typeface="Calibri"/>
                <a:ea typeface="Calibri"/>
                <a:cs typeface="Calibri"/>
              </a:rPr>
              <a:t>Reproduce the experiment</a:t>
            </a:r>
          </a:p>
        </p:txBody>
      </p:sp>
      <p:sp>
        <p:nvSpPr>
          <p:cNvPr id="6" name="">
            <a:extLst xmlns:a="http://schemas.openxmlformats.org/drawingml/2006/main">
              <a:ext uri="{FF2B5EF4-FFF2-40B4-BE49-F238E27FC236}">
                <a16:creationId xmlns:a16="http://schemas.microsoft.com/office/drawing/2014/main" id="{DDED1982-3F4A-4690-91D5-8F4F3C4B2279}"/>
              </a:ext>
            </a:extLst>
          </p:cNvPr>
          <p:cNvSpPr>
            <a:spLocks xmlns:a="http://schemas.openxmlformats.org/drawingml/2006/main" noGrp="1"/>
          </p:cNvSpPr>
          <p:nvPr/>
        </p:nvSpPr>
        <p:spPr>
          <a:xfrm xmlns:a="http://schemas.openxmlformats.org/drawingml/2006/main">
            <a:off x="7620000" y="2647950"/>
            <a:ext cx="3905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42C42"/>
                </a:solidFill>
                <a:latin typeface="Calibri"/>
                <a:ea typeface="Calibri"/>
                <a:cs typeface="Calibri"/>
              </a:defRPr>
            </a:defPPr>
          </a:lstStyle>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python run.py train</a:t>
            </a:r>
          </a:p>
          <a:p xmlns:a="http://schemas.openxmlformats.org/drawingml/2006/main">
            <a:pPr>
              <a:defRPr sz="2100" b="0">
                <a:solidFill>
                  <a:srgbClr val="142C42"/>
                </a:solidFill>
                <a:latin typeface="Calibri"/>
                <a:ea typeface="Calibri"/>
                <a:cs typeface="Calibri"/>
              </a:defRPr>
            </a:pPr>
            <a:r>
              <a:rPr sz="2100" b="0">
                <a:solidFill>
                  <a:srgbClr val="142C42"/>
                </a:solidFill>
                <a:latin typeface="Calibri"/>
                <a:ea typeface="Calibri"/>
                <a:cs typeface="Calibri"/>
              </a:rPr>
              <a:t>python -m pytest -q</a:t>
            </a:r>
          </a:p>
        </p:txBody>
      </p:sp>
      <p:sp>
        <p:nvSpPr>
          <p:cNvPr id="7" name="">
            <a:extLst xmlns:a="http://schemas.openxmlformats.org/drawingml/2006/main">
              <a:ext uri="{FF2B5EF4-FFF2-40B4-BE49-F238E27FC236}">
                <a16:creationId xmlns:a16="http://schemas.microsoft.com/office/drawing/2014/main" id="{73B69DD6-11AD-4376-9242-E3A519EADAA5}"/>
              </a:ext>
            </a:extLst>
          </p:cNvPr>
          <p:cNvSpPr>
            <a:spLocks xmlns:a="http://schemas.openxmlformats.org/drawingml/2006/main" noGrp="1"/>
          </p:cNvSpPr>
          <p:nvPr/>
        </p:nvSpPr>
        <p:spPr>
          <a:xfrm xmlns:a="http://schemas.openxmlformats.org/drawingml/2006/main">
            <a:off x="7620000" y="4152900"/>
            <a:ext cx="3810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617384"/>
                </a:solidFill>
                <a:latin typeface="Calibri"/>
                <a:ea typeface="Calibri"/>
                <a:cs typeface="Calibri"/>
              </a:defRPr>
            </a:defPPr>
          </a:lstStyle>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Data hash, split manifest, predictions,</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metrics, model and notebook</a:t>
            </a:r>
          </a:p>
          <a:p xmlns:a="http://schemas.openxmlformats.org/drawingml/2006/main">
            <a:pPr>
              <a:defRPr sz="2025" b="0">
                <a:solidFill>
                  <a:srgbClr val="617384"/>
                </a:solidFill>
                <a:latin typeface="Calibri"/>
                <a:ea typeface="Calibri"/>
                <a:cs typeface="Calibri"/>
              </a:defRPr>
            </a:pPr>
            <a:r>
              <a:rPr sz="2025" b="0">
                <a:solidFill>
                  <a:srgbClr val="617384"/>
                </a:solidFill>
                <a:latin typeface="Calibri"/>
                <a:ea typeface="Calibri"/>
                <a:cs typeface="Calibri"/>
              </a:rPr>
              <a:t>are included in the repository.</a:t>
            </a:r>
          </a:p>
        </p:txBody>
      </p:sp>
    </p:spTree>
    <p:extLst>
      <p:ext uri="{BB962C8B-B14F-4D97-AF65-F5344CB8AC3E}">
        <p14:creationId xmlns:p14="http://schemas.microsoft.com/office/powerpoint/2010/main" val="19548450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2026-10-12T11:34:07.2400000Z</dcterms:created>
  <dcterms:modified xsi:type="dcterms:W3CDTF">2026-10-12T11:34:07.2410000Z</dcterms:modified>
</coreProperties>
</file>