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6.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04581cd217d4ec6" /><Relationship Type="http://schemas.openxmlformats.org/officeDocument/2006/relationships/extended-properties" Target="/docProps/app.xml" Id="R4357679cd9644521" /><Relationship Type="http://schemas.openxmlformats.org/officeDocument/2006/relationships/officeDocument" Target="/ppt/presentation.xml" Id="R6d0a47ebfcf745c8" /></Relationships>
</file>

<file path=ppt/presentation.xml><?xml version="1.0" encoding="utf-8"?>
<p:presentation xmlns:p="http://schemas.openxmlformats.org/presentationml/2006/main">
  <p:sldMasterIdLst>
    <p:sldMasterId xmlns:r="http://schemas.openxmlformats.org/officeDocument/2006/relationships" id="2147483648" r:id="Rb70a92e255514a52"/>
  </p:sldMasterIdLst>
  <p:notesMasterIdLst>
    <p:notesMasterId xmlns:r="http://schemas.openxmlformats.org/officeDocument/2006/relationships" r:id="R84da9f5d2cd444b3"/>
  </p:notesMasterIdLst>
  <p:sldIdLst>
    <p:sldId xmlns:r="http://schemas.openxmlformats.org/officeDocument/2006/relationships" id="256" r:id="Rb5740b3024aa488b"/>
    <p:sldId xmlns:r="http://schemas.openxmlformats.org/officeDocument/2006/relationships" id="257" r:id="R212937cef76b498d"/>
    <p:sldId xmlns:r="http://schemas.openxmlformats.org/officeDocument/2006/relationships" id="258" r:id="Rfa8d5976b0c44ec5"/>
    <p:sldId xmlns:r="http://schemas.openxmlformats.org/officeDocument/2006/relationships" id="259" r:id="R1d620e7d23684a46"/>
    <p:sldId xmlns:r="http://schemas.openxmlformats.org/officeDocument/2006/relationships" id="260" r:id="R8d094490874e46be"/>
    <p:sldId xmlns:r="http://schemas.openxmlformats.org/officeDocument/2006/relationships" id="261" r:id="R2ba86da735da4198"/>
    <p:sldId xmlns:r="http://schemas.openxmlformats.org/officeDocument/2006/relationships" id="262" r:id="R7d33196202e44718"/>
    <p:sldId xmlns:r="http://schemas.openxmlformats.org/officeDocument/2006/relationships" id="263" r:id="R488adffd5af94065"/>
    <p:sldId xmlns:r="http://schemas.openxmlformats.org/officeDocument/2006/relationships" id="264" r:id="Raf75856f679948ab"/>
    <p:sldId xmlns:r="http://schemas.openxmlformats.org/officeDocument/2006/relationships" id="265" r:id="Rc927561ce1ff4177"/>
    <p:sldId xmlns:r="http://schemas.openxmlformats.org/officeDocument/2006/relationships" id="266" r:id="Ra6fc4c9c3f4640fd"/>
    <p:sldId xmlns:r="http://schemas.openxmlformats.org/officeDocument/2006/relationships" id="267" r:id="R6b26d6081f434201"/>
    <p:sldId xmlns:r="http://schemas.openxmlformats.org/officeDocument/2006/relationships" id="268" r:id="R6155b2fdc49f410c"/>
    <p:sldId xmlns:r="http://schemas.openxmlformats.org/officeDocument/2006/relationships" id="269" r:id="R29bb990901e74a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6270bcba9fa48e4" /><Relationship Type="http://schemas.openxmlformats.org/officeDocument/2006/relationships/slideMaster" Target="/ppt/slideMasters/slideMaster1.xml" Id="Rb70a92e255514a52" /><Relationship Type="http://schemas.openxmlformats.org/officeDocument/2006/relationships/notesMaster" Target="/ppt/notesMasters/notesMaster1.xml" Id="R84da9f5d2cd444b3" /><Relationship Type="http://schemas.openxmlformats.org/officeDocument/2006/relationships/presProps" Target="/ppt/presProps.xml" Id="R9f6f51493ecd44d3" /><Relationship Type="http://schemas.openxmlformats.org/officeDocument/2006/relationships/tableStyles" Target="/ppt/tableStyles.xml" Id="R1d375c60aa224e75" /><Relationship Type="http://schemas.openxmlformats.org/officeDocument/2006/relationships/slide" Target="/ppt/slides/slide1.xml" Id="Rb5740b3024aa488b" /><Relationship Type="http://schemas.openxmlformats.org/officeDocument/2006/relationships/slide" Target="/ppt/slides/slide2.xml" Id="R212937cef76b498d" /><Relationship Type="http://schemas.openxmlformats.org/officeDocument/2006/relationships/slide" Target="/ppt/slides/slide3.xml" Id="Rfa8d5976b0c44ec5" /><Relationship Type="http://schemas.openxmlformats.org/officeDocument/2006/relationships/slide" Target="/ppt/slides/slide4.xml" Id="R1d620e7d23684a46" /><Relationship Type="http://schemas.openxmlformats.org/officeDocument/2006/relationships/slide" Target="/ppt/slides/slide5.xml" Id="R8d094490874e46be" /><Relationship Type="http://schemas.openxmlformats.org/officeDocument/2006/relationships/slide" Target="/ppt/slides/slide6.xml" Id="R2ba86da735da4198" /><Relationship Type="http://schemas.openxmlformats.org/officeDocument/2006/relationships/slide" Target="/ppt/slides/slide7.xml" Id="R7d33196202e44718" /><Relationship Type="http://schemas.openxmlformats.org/officeDocument/2006/relationships/slide" Target="/ppt/slides/slide8.xml" Id="R488adffd5af94065" /><Relationship Type="http://schemas.openxmlformats.org/officeDocument/2006/relationships/slide" Target="/ppt/slides/slide9.xml" Id="Raf75856f679948ab" /><Relationship Type="http://schemas.openxmlformats.org/officeDocument/2006/relationships/slide" Target="/ppt/slides/slide10.xml" Id="Rc927561ce1ff4177" /><Relationship Type="http://schemas.openxmlformats.org/officeDocument/2006/relationships/slide" Target="/ppt/slides/slide11.xml" Id="Ra6fc4c9c3f4640fd" /><Relationship Type="http://schemas.openxmlformats.org/officeDocument/2006/relationships/slide" Target="/ppt/slides/slide12.xml" Id="R6b26d6081f434201" /><Relationship Type="http://schemas.openxmlformats.org/officeDocument/2006/relationships/slide" Target="/ppt/slides/slide13.xml" Id="R6155b2fdc49f410c" /><Relationship Type="http://schemas.openxmlformats.org/officeDocument/2006/relationships/slide" Target="/ppt/slides/slide14.xml" Id="R29bb990901e74a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8f79b0f81ae436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2b2c3c1dec4478" /><Relationship Type="http://schemas.openxmlformats.org/officeDocument/2006/relationships/notesMaster" Target="/ppt/notesMasters/notesMaster1.xml" Id="Rf18eb3d3aa7940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4dc327cb5854688" /><Relationship Type="http://schemas.openxmlformats.org/officeDocument/2006/relationships/notesMaster" Target="/ppt/notesMasters/notesMaster1.xml" Id="Rf24bc0718e2c43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9cf07e7d192f41f3" /><Relationship Type="http://schemas.openxmlformats.org/officeDocument/2006/relationships/notesMaster" Target="/ppt/notesMasters/notesMaster1.xml" Id="Rdb9a5178002b45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785318401ed34615" /><Relationship Type="http://schemas.openxmlformats.org/officeDocument/2006/relationships/notesMaster" Target="/ppt/notesMasters/notesMaster1.xml" Id="R4019bfef16ce4bb8" /></Relationships>
</file>

<file path=ppt/notesSlides/_rels/notesSlide5.xml.rels>&#65279;<?xml version="1.0" encoding="utf-8"?><Relationships xmlns="http://schemas.openxmlformats.org/package/2006/relationships"><Relationship Type="http://schemas.openxmlformats.org/officeDocument/2006/relationships/slide" Target="/ppt/slides/slide5.xml" Id="Rbc4042424af047b1" /><Relationship Type="http://schemas.openxmlformats.org/officeDocument/2006/relationships/notesMaster" Target="/ppt/notesMasters/notesMaster1.xml" Id="Rb6f7a40c5b0d4f64" /></Relationships>
</file>

<file path=ppt/notesSlides/_rels/notesSlide6.xml.rels>&#65279;<?xml version="1.0" encoding="utf-8"?><Relationships xmlns="http://schemas.openxmlformats.org/package/2006/relationships"><Relationship Type="http://schemas.openxmlformats.org/officeDocument/2006/relationships/slide" Target="/ppt/slides/slide6.xml" Id="R3c008e3bec8143bf" /><Relationship Type="http://schemas.openxmlformats.org/officeDocument/2006/relationships/notesMaster" Target="/ppt/notesMasters/notesMaster1.xml" Id="Rf9c5bb3161c947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4a2dc6f178472a" /><Relationship Type="http://schemas.openxmlformats.org/officeDocument/2006/relationships/notesMaster" Target="/ppt/notesMasters/notesMaster1.xml" Id="R32695000d5df42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e96ca9f3aca4f04" /><Relationship Type="http://schemas.openxmlformats.org/officeDocument/2006/relationships/notesMaster" Target="/ppt/notesMasters/notesMaster1.xml" Id="R6b23c084012744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058c0b6ccb4155" /><Relationship Type="http://schemas.openxmlformats.org/officeDocument/2006/relationships/notesMaster" Target="/ppt/notesMasters/notesMaster1.xml" Id="Rb8beb908aea34ae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b8d9903d2046dc" /><Relationship Type="http://schemas.openxmlformats.org/officeDocument/2006/relationships/notesMaster" Target="/ppt/notesMasters/notesMaster1.xml" Id="R9587e738b847446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da860d67c5483b" /><Relationship Type="http://schemas.openxmlformats.org/officeDocument/2006/relationships/notesMaster" Target="/ppt/notesMasters/notesMaster1.xml" Id="Rc4efb1f78c504a0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13d4ab19c994478" /><Relationship Type="http://schemas.openxmlformats.org/officeDocument/2006/relationships/notesMaster" Target="/ppt/notesMasters/notesMaster1.xml" Id="R5d14c92b9f2d4e4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4be89bf7abc4369" /><Relationship Type="http://schemas.openxmlformats.org/officeDocument/2006/relationships/notesMaster" Target="/ppt/notesMasters/notesMaster1.xml" Id="R31d1830955534e0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6e7bada1ef44532" /><Relationship Type="http://schemas.openxmlformats.org/officeDocument/2006/relationships/notesMaster" Target="/ppt/notesMasters/notesMaster1.xml" Id="R66b814a06a1941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problem as a three-year binary prediction task. Explain that the presentation reports a fresh, independently implemented experiment. Team: Atharva Ashish Vyas, PES1UG24CS093, and Atharva Rakesh Bhidre, PES1UG24CS095.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Tomczak (2016), UCI Polish Companies Bankruptcy, https://doi.org/10.24432/C5F600. The third-year ARFF contains 64 financial predictors and a target for bankruptcy within three years. The raw file has 10,503 rows and 495 positives. Counts displayed here are after deterministic exact duplicate removal, documented in reports/data_audit.json.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reports/data_audit.json and the raw UCI file. 87 duplicates include two positive rows. The resulting set has 10,416 rows and 493 positives. X37 is missing in roughly 45% of the raw data. No conflicting identical feature vectors were found. Missing values are handled inside training pipelines or directly by the histogram model. Company identities are unavailable, so exact deduplication is only a partial leakage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src/bankruptcy/train.py, reports/experiment_config.json and reports/split_manifest.csv. A stratified 80/20 split uses seed 42. Development has 8,332 rows and 394 positives, test has 2,084 rows and 99 positives. All six models use the same 3 folds. Selection uses mean fold average precision. The selected model’s OOF scores set the F2 threshold. The model is refitted on all development rows and evaluated on the fixed test set. No test-driven changes are made.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src/bankruptcy/modeling.py. One configuration per algorithm is declared before test evaluation. Scaled pipelines use median imputation plus missing indicators, arcsinh transformation and standard scaling. Forest pipelines use median imputation plus indicators. Histogram boosting accepts missing values directly. Balanced class weights are used where specified. This is a controlled comparison, not an exhaustive tuning study.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reports/model_comparison.csv. Mean AP across the same 3 development folds: histogram boosting 0.619, random forest 0.434, RBF SVM 0.422, extra trees 0.383, logistic regression 0.297, Gaussian NB 0.087. Histogram boosting fold SD is 0.037. CV estimates are used for selection and should not be presented as an independent test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reports/threshold_curve.csv and reports/metrics.json. OOF means out-of-fold predictions: each development row is scored by a model not fitted on that row. The threshold maximizes F2 on the selected model’s OOF scores. F2 = 5PR/(4P+R). The chosen threshold is 0.1979516978. This is a declared academic screening objective, not a monetary cost model. Because the same CV is used for selection, development scores can be optimistic; test results remain separate.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reports/metrics.json and reports/test_predictions.csv. Independent test counts are TN 1824, FP 161, FN 15, TP 84. Recall 84.85%, precision 34.29%, AP 0.7495, ROC AUC 0.9677. The all-negative baseline has 95.25% accuracy and zero recall. Approximate stratified bootstrap 95% recall interval: 77.8–91.9%; precision interval: 31.1–38.7%. These intervals condition on this fitted model and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reports/pr_curve.csv, reports/roc_curve.csv, and reports/metrics.json. Curves are drawn from the fixed test predictions. The native charts use sampled curve points for display; exact curve values are committed as CSVs. Average precision is 0.750 and ROC AUC 0.968. The test prevalence baseline for precision is 0.0475. AP and ROC AUC evaluate ranking and do not require changing the decision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reports/metrics.json. Comparing two prespecified rules on the same fixed test scores: the development-selected threshold catches 84 positives and flags 161 negatives; the default threshold 0.5 catches 68 positives and flags 36 negatives. The default threshold has test F2 0.680 versus 0.655. Do not claim the chosen threshold is optimal on the test set. It remains unchanged to respect the protocol.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reports/feature_importance.csv and UCI variable definitions. Permutation importance is the decrease in average precision after shuffling one feature, using 3 test-set repeats. Top variables are X27 operating profit / financial expenses, X34 operating expenses / total liabilities, X46 current assets minus inventory / current liabilities, X58 total costs / total sales, and X21 sales growth ratio. These are descriptive model dependencies, not causal claims. Correlated financial ratios complicate interpretation. No test-driven model changes followed this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local Flask application in app.py and templates/index.html. Screenshot captured from the running local app. Start python app.py, open http://127.0.0.1:5000, run a detected-bankruptcy case and an error case, then upload examples/sample_companies.csv. The saved model and checksum are included, so retraining is not required for the demo. Backend tests cover valid and invalid CSV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the experiment and docs/model_card.md. The chosen model detects 84 of 99 bankruptcies but yields 161 false alarms. The dataset is historical and company identifiers are missing; random holdout is not verified group or temporal validation. Scores are uncalibrated. Future work should prioritize company/date information, threshold stability, and independent calibration. Do not promise performance on present-day firms.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[1] Tomczak, S. (2016). Polish Companies Bankruptcy. UCI. https://doi.org/10.24432/C5F600, CC BY 4.0. [2] Scikit-learn documentation: https://scikit-learn.org/stable/modules/model_evaluation.html and https://scikit-learn.org/stable/modules/cross_validation.html. [3] Supplied Corporate Bankruptcy Prediction reference report by Neha Abajirao Patil and https://github.com/codeatri/Bankruptcy_Prediction. Background only; no results or source code copied into this project. Software versions and all row-level evidence are recorded in the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13e38a93c7e4ac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2ad946aa87f4a1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ba255d78eb43d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78c96b2284403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4561e35b84408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78efe3e91594ad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B56AB6-6652-47C3-AF29-37525BABCC8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040560A-F152-4B35-8FC5-B203579B754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971C67-CC71-4BB2-B3B9-54CE59DE160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02E5FDD-7E8E-4FD7-907F-A47B296841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D1BD857-E216-4B8B-9601-BF3A24D65F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89EB6AE-B6C8-47AC-84CB-34DE9CDB84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9FDC89A-075D-4D75-9367-A4E0F218EDA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E022385-72D9-4F64-B569-75AC263EB0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CD4A4CD-6A37-428E-9E75-D76F40793D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73D5A20-3331-4312-8B42-3241A8660D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85f1377d98a4b5d" /><Relationship Type="http://schemas.openxmlformats.org/officeDocument/2006/relationships/slideLayout" Target="/ppt/slideLayouts/slideLayout1.xml" Id="R846ba25baa89443c" /><Relationship Type="http://schemas.openxmlformats.org/officeDocument/2006/relationships/slideLayout" Target="/ppt/slideLayouts/slideLayout2.xml" Id="Re132b2d86f6b4a4b" /><Relationship Type="http://schemas.openxmlformats.org/officeDocument/2006/relationships/slideLayout" Target="/ppt/slideLayouts/slideLayout3.xml" Id="Rc245f08889ab40f8" /><Relationship Type="http://schemas.openxmlformats.org/officeDocument/2006/relationships/slideLayout" Target="/ppt/slideLayouts/slideLayout4.xml" Id="Rdd13d36d19b440a2" /><Relationship Type="http://schemas.openxmlformats.org/officeDocument/2006/relationships/slideLayout" Target="/ppt/slideLayouts/slideLayout5.xml" Id="R0679704da1f44179" /><Relationship Type="http://schemas.openxmlformats.org/officeDocument/2006/relationships/slideLayout" Target="/ppt/slideLayouts/slideLayout6.xml" Id="R1a559b35e17049c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6ba25baa89443c"/>
    <p:sldLayoutId xmlns:r="http://schemas.openxmlformats.org/officeDocument/2006/relationships" id="2147483650" r:id="Re132b2d86f6b4a4b"/>
    <p:sldLayoutId xmlns:r="http://schemas.openxmlformats.org/officeDocument/2006/relationships" id="2147483651" r:id="Rc245f08889ab40f8"/>
    <p:sldLayoutId xmlns:r="http://schemas.openxmlformats.org/officeDocument/2006/relationships" id="2147483652" r:id="Rdd13d36d19b440a2"/>
    <p:sldLayoutId xmlns:r="http://schemas.openxmlformats.org/officeDocument/2006/relationships" id="2147483653" r:id="R0679704da1f44179"/>
    <p:sldLayoutId xmlns:r="http://schemas.openxmlformats.org/officeDocument/2006/relationships" id="2147483654" r:id="R1a559b35e17049c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390cd5ae4614432" /><Relationship Type="http://schemas.openxmlformats.org/officeDocument/2006/relationships/notesSlide" Target="/ppt/notesSlides/notesSlide1.xml" Id="Rddcf98577576459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9ee3027fc4944d0" /><Relationship Type="http://schemas.openxmlformats.org/officeDocument/2006/relationships/chart" Target="/ppt/slides/charts/chart1.xml" Id="Rf2c746f2370945d9" /><Relationship Type="http://schemas.openxmlformats.org/officeDocument/2006/relationships/notesSlide" Target="/ppt/notesSlides/notesSlide2.xml" Id="R05383ba9aaac4e53"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55e3b74d709417e" /><Relationship Type="http://schemas.openxmlformats.org/officeDocument/2006/relationships/notesSlide" Target="/ppt/notesSlides/notesSlide3.xml" Id="R4ccb739c6a7c4f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7175b4c2c244b27" /><Relationship Type="http://schemas.openxmlformats.org/officeDocument/2006/relationships/notesSlide" Target="/ppt/notesSlides/notesSlide4.xml" Id="R27b05a26b03c421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00f4af5007974362" /><Relationship Type="http://schemas.openxmlformats.org/officeDocument/2006/relationships/notesSlide" Target="/ppt/notesSlides/notesSlide5.xml" Id="Rf07878de061441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2809a16387f4573" /><Relationship Type="http://schemas.openxmlformats.org/officeDocument/2006/relationships/chart" Target="/ppt/slides/charts/chart2.xml" Id="R17d668a3fae745fb" /><Relationship Type="http://schemas.openxmlformats.org/officeDocument/2006/relationships/notesSlide" Target="/ppt/notesSlides/notesSlide6.xml" Id="Rc92039199608465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1d3c589d8134cc7" /><Relationship Type="http://schemas.openxmlformats.org/officeDocument/2006/relationships/chart" Target="/ppt/slides/charts/chart3.xml" Id="Re70b04a33c934981" /><Relationship Type="http://schemas.openxmlformats.org/officeDocument/2006/relationships/notesSlide" Target="/ppt/notesSlides/notesSlide7.xml" Id="R7bd2c8908a1047e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b8c4eb3b148476f" /><Relationship Type="http://schemas.openxmlformats.org/officeDocument/2006/relationships/notesSlide" Target="/ppt/notesSlides/notesSlide8.xml" Id="R4021487f2bd646e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231a2d5f23141fa" /><Relationship Type="http://schemas.openxmlformats.org/officeDocument/2006/relationships/chart" Target="/ppt/slides/charts/chart4.xml" Id="R0f1f6b27be9642d9" /><Relationship Type="http://schemas.openxmlformats.org/officeDocument/2006/relationships/chart" Target="/ppt/slides/charts/chart5.xml" Id="R9c40014d7b6b462c" /><Relationship Type="http://schemas.openxmlformats.org/officeDocument/2006/relationships/notesSlide" Target="/ppt/notesSlides/notesSlide9.xml" Id="R782b55839d4747b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05654cd3024401b" /><Relationship Type="http://schemas.openxmlformats.org/officeDocument/2006/relationships/notesSlide" Target="/ppt/notesSlides/notesSlide10.xml" Id="Rf0e31c65200f4a3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9a2c6c2397941df" /><Relationship Type="http://schemas.openxmlformats.org/officeDocument/2006/relationships/chart" Target="/ppt/slides/charts/chart6.xml" Id="R285874f0c58b407e" /><Relationship Type="http://schemas.openxmlformats.org/officeDocument/2006/relationships/notesSlide" Target="/ppt/notesSlides/notesSlide11.xml" Id="R16630531a06e426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27a42284dc847b4" /><Relationship Type="http://schemas.openxmlformats.org/officeDocument/2006/relationships/image" Target="/ppt/media/image.jpeg" Id="R66546c9f9cc94975" /><Relationship Type="http://schemas.openxmlformats.org/officeDocument/2006/relationships/notesSlide" Target="/ppt/notesSlides/notesSlide12.xml" Id="R865c85e1ad724a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4e35aa81914f8d" /><Relationship Type="http://schemas.openxmlformats.org/officeDocument/2006/relationships/notesSlide" Target="/ppt/notesSlides/notesSlide13.xml" Id="R4be29b5555564b0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aa3d02039044a0b" /><Relationship Type="http://schemas.openxmlformats.org/officeDocument/2006/relationships/notesSlide" Target="/ppt/notesSlides/notesSlide14.xml" Id="R49f8eb6740db4047" /></Relationships>
</file>

<file path=ppt/slides/charts/chart1.xml><?xml version="1.0" encoding="utf-8"?>
<c:chartSpace xmlns:c="http://schemas.openxmlformats.org/drawingml/2006/chart">
  <c:lang val="en-US"/>
  <c:chart>
    <c:plotArea>
      <c:barChart>
        <c:barDir val="bar"/>
        <c:grouping val="clustered"/>
        <c:varyColors val="0"/>
        <c:ser>
          <c:idx val="0"/>
          <c:order val="0"/>
          <c:tx>
            <c:v>Statements</c:v>
          </c:tx>
          <c:spPr>
            <a:solidFill xmlns:a="http://schemas.openxmlformats.org/drawingml/2006/main">
              <a:srgbClr val="007F78"/>
            </a:solidFill>
          </c:spPr>
          <c:cat>
            <c:strRef>
              <c:f>'Chart Data'!$A$2:$A$3</c:f>
              <c:strCache>
                <c:ptCount val="2"/>
                <c:pt idx="0">
                  <c:v>Non-bankrupt</c:v>
                </c:pt>
                <c:pt idx="1">
                  <c:v>Bankrupt</c:v>
                </c:pt>
              </c:strCache>
            </c:strRef>
          </c:cat>
          <c:val>
            <c:numRef>
              <c:f>'Chart Data'!$B$2:$B$3</c:f>
              <c:numCache>
                <c:formatCode>#,##0</c:formatCode>
                <c:ptCount val="2"/>
                <c:pt idx="0">
                  <c:v>9923</c:v>
                </c:pt>
                <c:pt idx="1">
                  <c:v>493</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75">
                  <a:solidFill>
                    <a:srgbClr val="142C42"/>
                  </a:solidFill>
                  <a:latin typeface="Calibri"/>
                  <a:ea typeface="Calibri"/>
                  <a:cs typeface="Calibri"/>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catAx>
      <c:valAx>
        <c:axId val="48672768"/>
        <c:scaling>
          <c:orientation val="minMax"/>
          <c:max val="11000"/>
          <c:min val="0"/>
        </c:scaling>
        <c:delete val="0"/>
        <c:axPos val="b"/>
        <c:majorGridlines>
          <c:spPr>
            <a:ln xmlns:a="http://schemas.openxmlformats.org/drawingml/2006/main" w="4763">
              <a:solidFill>
                <a:srgbClr val="D7E0DE"/>
              </a:solidFill>
            </a:ln>
          </c:spPr>
        </c:majorGridlines>
        <c:numFmt formatCode="#,##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crossBetween val="between"/>
      </c:valAx>
      <c:spPr>
        <a:solidFill xmlns:a="http://schemas.openxmlformats.org/drawingml/2006/main">
          <a:srgbClr val="F5F4EF"/>
        </a:solidFill>
      </c:spPr>
    </c:plotArea>
    <c:plotVisOnly val="1"/>
  </c:chart>
  <c:spPr>
    <a:solidFill xmlns:a="http://schemas.openxmlformats.org/drawingml/2006/main">
      <a:srgbClr val="F5F4EF"/>
    </a:solidFill>
  </c:spPr>
</c:chartSpace>
</file>

<file path=ppt/slides/charts/chart2.xml><?xml version="1.0" encoding="utf-8"?>
<c:chartSpace xmlns:c="http://schemas.openxmlformats.org/drawingml/2006/chart">
  <c:lang val="en-US"/>
  <c:chart>
    <c:plotArea>
      <c:barChart>
        <c:barDir val="bar"/>
        <c:grouping val="clustered"/>
        <c:varyColors val="0"/>
        <c:ser>
          <c:idx val="0"/>
          <c:order val="0"/>
          <c:tx>
            <c:v>CV average precision</c:v>
          </c:tx>
          <c:spPr>
            <a:solidFill xmlns:a="http://schemas.openxmlformats.org/drawingml/2006/main">
              <a:srgbClr val="007F78"/>
            </a:solidFill>
          </c:spPr>
          <c:cat>
            <c:strRef>
              <c:f>'Chart Data'!$A$2:$A$7</c:f>
              <c:strCache>
                <c:ptCount val="6"/>
                <c:pt idx="0">
                  <c:v>Histogram boosting</c:v>
                </c:pt>
                <c:pt idx="1">
                  <c:v>Random forest</c:v>
                </c:pt>
                <c:pt idx="2">
                  <c:v>RBF SVM</c:v>
                </c:pt>
                <c:pt idx="3">
                  <c:v>Extra trees</c:v>
                </c:pt>
                <c:pt idx="4">
                  <c:v>Logistic regression</c:v>
                </c:pt>
                <c:pt idx="5">
                  <c:v>Gaussian NB</c:v>
                </c:pt>
              </c:strCache>
            </c:strRef>
          </c:cat>
          <c:val>
            <c:numRef>
              <c:f>'Chart Data'!$B$2:$B$7</c:f>
              <c:numCache>
                <c:formatCode>0.0</c:formatCode>
                <c:ptCount val="6"/>
                <c:pt idx="0">
                  <c:v>0.61883</c:v>
                </c:pt>
                <c:pt idx="1">
                  <c:v>0.433725</c:v>
                </c:pt>
                <c:pt idx="2">
                  <c:v>0.421928</c:v>
                </c:pt>
                <c:pt idx="3">
                  <c:v>0.382847</c:v>
                </c:pt>
                <c:pt idx="4">
                  <c:v>0.297292</c:v>
                </c:pt>
                <c:pt idx="5">
                  <c:v>0.087235</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650">
                  <a:solidFill>
                    <a:srgbClr val="142C42"/>
                  </a:solidFill>
                  <a:latin typeface="Calibri"/>
                  <a:ea typeface="Calibri"/>
                  <a:cs typeface="Calibri"/>
                </a:defRPr>
              </a:pPr>
            </a:p>
          </c:txPr>
          <c:dLblPos val="outEnd"/>
          <c:showLegendKey val="0"/>
          <c:showVal val="1"/>
          <c:showCatName val="0"/>
          <c:showSerName val="0"/>
          <c:showPercent val="0"/>
          <c:showBubbleSize val="0"/>
          <c:showLeaderLines val="0"/>
        </c:dLbls>
        <c:gapWidth val="4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catAx>
      <c:valAx>
        <c:axId val="48672768"/>
        <c:scaling>
          <c:orientation val="minMax"/>
          <c:max val="0.8"/>
          <c:min val="0"/>
        </c:scaling>
        <c:delete val="0"/>
        <c:axPos val="b"/>
        <c:majorGridlines>
          <c:spPr>
            <a:ln xmlns:a="http://schemas.openxmlformats.org/drawingml/2006/main" w="6668">
              <a:solidFill>
                <a:srgbClr val="D7E0DE"/>
              </a:solidFill>
            </a:ln>
          </c:spPr>
        </c:majorGridlines>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crossBetween val="between"/>
        <c:majorUnit val="0.1"/>
      </c:valAx>
      <c:spPr>
        <a:solidFill xmlns:a="http://schemas.openxmlformats.org/drawingml/2006/main">
          <a:srgbClr val="F5F4EF"/>
        </a:solidFill>
      </c:spPr>
    </c:plotArea>
    <c:plotVisOnly val="1"/>
  </c:chart>
  <c:spPr>
    <a:solidFill xmlns:a="http://schemas.openxmlformats.org/drawingml/2006/main">
      <a:srgbClr val="F5F4EF"/>
    </a:solidFill>
  </c:spPr>
</c:chartSpace>
</file>

<file path=ppt/slides/charts/chart3.xml><?xml version="1.0" encoding="utf-8"?>
<c:chartSpace xmlns:c="http://schemas.openxmlformats.org/drawingml/2006/chart">
  <c:lang val="en-US"/>
  <c:chart>
    <c:plotArea>
      <c:scatterChart>
        <c:scatterStyle val="line"/>
        <c:varyColors val="0"/>
        <c:ser>
          <c:idx val="0"/>
          <c:order val="0"/>
          <c:tx>
            <c:v>Precision</c:v>
          </c:tx>
          <c:spPr>
            <a:ln xmlns:a="http://schemas.openxmlformats.org/drawingml/2006/main" w="19050">
              <a:solidFill>
                <a:srgbClr val="617384"/>
              </a:solidFill>
            </a:ln>
          </c:spPr>
          <c:marker>
            <c:symbol val="none"/>
          </c:marker>
          <c:xVal>
            <c:numRef>
              <c:f>'Chart Data'!$A$2:$A$103</c:f>
              <c:numCache>
                <c:formatCode>General</c:formatCode>
                <c:ptCount val="102"/>
                <c:pt idx="0">
                  <c:v>5E-06</c:v>
                </c:pt>
                <c:pt idx="1">
                  <c:v>0.000125</c:v>
                </c:pt>
                <c:pt idx="2">
                  <c:v>0.000196</c:v>
                </c:pt>
                <c:pt idx="3">
                  <c:v>0.000247</c:v>
                </c:pt>
                <c:pt idx="4">
                  <c:v>0.000298</c:v>
                </c:pt>
                <c:pt idx="5">
                  <c:v>0.000339</c:v>
                </c:pt>
                <c:pt idx="6">
                  <c:v>0.000386</c:v>
                </c:pt>
                <c:pt idx="7">
                  <c:v>0.000431</c:v>
                </c:pt>
                <c:pt idx="8">
                  <c:v>0.000469</c:v>
                </c:pt>
                <c:pt idx="9">
                  <c:v>0.000514</c:v>
                </c:pt>
                <c:pt idx="10">
                  <c:v>0.00056</c:v>
                </c:pt>
                <c:pt idx="11">
                  <c:v>0.000604</c:v>
                </c:pt>
                <c:pt idx="12">
                  <c:v>0.000663</c:v>
                </c:pt>
                <c:pt idx="13">
                  <c:v>0.000727</c:v>
                </c:pt>
                <c:pt idx="14">
                  <c:v>0.000775</c:v>
                </c:pt>
                <c:pt idx="15">
                  <c:v>0.000827</c:v>
                </c:pt>
                <c:pt idx="16">
                  <c:v>0.000878</c:v>
                </c:pt>
                <c:pt idx="17">
                  <c:v>0.000937</c:v>
                </c:pt>
                <c:pt idx="18">
                  <c:v>0.000995</c:v>
                </c:pt>
                <c:pt idx="19">
                  <c:v>0.001048</c:v>
                </c:pt>
                <c:pt idx="20">
                  <c:v>0.001111</c:v>
                </c:pt>
                <c:pt idx="21">
                  <c:v>0.001182</c:v>
                </c:pt>
                <c:pt idx="22">
                  <c:v>0.001254</c:v>
                </c:pt>
                <c:pt idx="23">
                  <c:v>0.001331</c:v>
                </c:pt>
                <c:pt idx="24">
                  <c:v>0.001406</c:v>
                </c:pt>
                <c:pt idx="25">
                  <c:v>0.001487</c:v>
                </c:pt>
                <c:pt idx="26">
                  <c:v>0.001581</c:v>
                </c:pt>
                <c:pt idx="27">
                  <c:v>0.001664</c:v>
                </c:pt>
                <c:pt idx="28">
                  <c:v>0.001748</c:v>
                </c:pt>
                <c:pt idx="29">
                  <c:v>0.001871</c:v>
                </c:pt>
                <c:pt idx="30">
                  <c:v>0.001987</c:v>
                </c:pt>
                <c:pt idx="31">
                  <c:v>0.002103</c:v>
                </c:pt>
                <c:pt idx="32">
                  <c:v>0.002235</c:v>
                </c:pt>
                <c:pt idx="33">
                  <c:v>0.002361</c:v>
                </c:pt>
                <c:pt idx="34">
                  <c:v>0.002484</c:v>
                </c:pt>
                <c:pt idx="35">
                  <c:v>0.002602</c:v>
                </c:pt>
                <c:pt idx="36">
                  <c:v>0.002768</c:v>
                </c:pt>
                <c:pt idx="37">
                  <c:v>0.002976</c:v>
                </c:pt>
                <c:pt idx="38">
                  <c:v>0.003107</c:v>
                </c:pt>
                <c:pt idx="39">
                  <c:v>0.003265</c:v>
                </c:pt>
                <c:pt idx="40">
                  <c:v>0.003449</c:v>
                </c:pt>
                <c:pt idx="41">
                  <c:v>0.003661</c:v>
                </c:pt>
                <c:pt idx="42">
                  <c:v>0.003873</c:v>
                </c:pt>
                <c:pt idx="43">
                  <c:v>0.004095</c:v>
                </c:pt>
                <c:pt idx="44">
                  <c:v>0.004296</c:v>
                </c:pt>
                <c:pt idx="45">
                  <c:v>0.004515</c:v>
                </c:pt>
                <c:pt idx="46">
                  <c:v>0.004776</c:v>
                </c:pt>
                <c:pt idx="47">
                  <c:v>0.005123</c:v>
                </c:pt>
                <c:pt idx="48">
                  <c:v>0.005465</c:v>
                </c:pt>
                <c:pt idx="49">
                  <c:v>0.005749</c:v>
                </c:pt>
                <c:pt idx="50">
                  <c:v>0.006052</c:v>
                </c:pt>
                <c:pt idx="51">
                  <c:v>0.006417</c:v>
                </c:pt>
                <c:pt idx="52">
                  <c:v>0.006891</c:v>
                </c:pt>
                <c:pt idx="53">
                  <c:v>0.007331</c:v>
                </c:pt>
                <c:pt idx="54">
                  <c:v>0.007787</c:v>
                </c:pt>
                <c:pt idx="55">
                  <c:v>0.008334</c:v>
                </c:pt>
                <c:pt idx="56">
                  <c:v>0.008805</c:v>
                </c:pt>
                <c:pt idx="57">
                  <c:v>0.009326</c:v>
                </c:pt>
                <c:pt idx="58">
                  <c:v>0.009901</c:v>
                </c:pt>
                <c:pt idx="59">
                  <c:v>0.01055</c:v>
                </c:pt>
                <c:pt idx="60">
                  <c:v>0.011148</c:v>
                </c:pt>
                <c:pt idx="61">
                  <c:v>0.011797</c:v>
                </c:pt>
                <c:pt idx="62">
                  <c:v>0.012623</c:v>
                </c:pt>
                <c:pt idx="63">
                  <c:v>0.013465</c:v>
                </c:pt>
                <c:pt idx="64">
                  <c:v>0.014349</c:v>
                </c:pt>
                <c:pt idx="65">
                  <c:v>0.015286</c:v>
                </c:pt>
                <c:pt idx="66">
                  <c:v>0.016157</c:v>
                </c:pt>
                <c:pt idx="67">
                  <c:v>0.017178</c:v>
                </c:pt>
                <c:pt idx="68">
                  <c:v>0.018362</c:v>
                </c:pt>
                <c:pt idx="69">
                  <c:v>0.019795</c:v>
                </c:pt>
                <c:pt idx="70">
                  <c:v>0.021247</c:v>
                </c:pt>
                <c:pt idx="71">
                  <c:v>0.022312</c:v>
                </c:pt>
                <c:pt idx="72">
                  <c:v>0.024351</c:v>
                </c:pt>
                <c:pt idx="73">
                  <c:v>0.026623</c:v>
                </c:pt>
                <c:pt idx="74">
                  <c:v>0.028872</c:v>
                </c:pt>
                <c:pt idx="75">
                  <c:v>0.0309</c:v>
                </c:pt>
                <c:pt idx="76">
                  <c:v>0.033361</c:v>
                </c:pt>
                <c:pt idx="77">
                  <c:v>0.036237</c:v>
                </c:pt>
                <c:pt idx="78">
                  <c:v>0.039321</c:v>
                </c:pt>
                <c:pt idx="79">
                  <c:v>0.043268</c:v>
                </c:pt>
                <c:pt idx="80">
                  <c:v>0.047091</c:v>
                </c:pt>
                <c:pt idx="81">
                  <c:v>0.052034</c:v>
                </c:pt>
                <c:pt idx="82">
                  <c:v>0.058257</c:v>
                </c:pt>
                <c:pt idx="83">
                  <c:v>0.064053</c:v>
                </c:pt>
                <c:pt idx="84">
                  <c:v>0.071757</c:v>
                </c:pt>
                <c:pt idx="85">
                  <c:v>0.079624</c:v>
                </c:pt>
                <c:pt idx="86">
                  <c:v>0.090916</c:v>
                </c:pt>
                <c:pt idx="87">
                  <c:v>0.100796</c:v>
                </c:pt>
                <c:pt idx="88">
                  <c:v>0.113473</c:v>
                </c:pt>
                <c:pt idx="89">
                  <c:v>0.129923</c:v>
                </c:pt>
                <c:pt idx="90">
                  <c:v>0.147191</c:v>
                </c:pt>
                <c:pt idx="91">
                  <c:v>0.167994</c:v>
                </c:pt>
                <c:pt idx="92">
                  <c:v>0.189614</c:v>
                </c:pt>
                <c:pt idx="93">
                  <c:v>0.218839</c:v>
                </c:pt>
                <c:pt idx="94">
                  <c:v>0.268761</c:v>
                </c:pt>
                <c:pt idx="95">
                  <c:v>0.329265</c:v>
                </c:pt>
                <c:pt idx="96">
                  <c:v>0.42494</c:v>
                </c:pt>
                <c:pt idx="97">
                  <c:v>0.571665</c:v>
                </c:pt>
                <c:pt idx="98">
                  <c:v>0.779005</c:v>
                </c:pt>
                <c:pt idx="99">
                  <c:v>0.957499</c:v>
                </c:pt>
                <c:pt idx="100">
                  <c:v>0.995838</c:v>
                </c:pt>
                <c:pt idx="101">
                  <c:v>0.999078</c:v>
                </c:pt>
              </c:numCache>
            </c:numRef>
          </c:xVal>
          <c:yVal>
            <c:numRef>
              <c:f>'Chart Data'!$B$2:$B$103</c:f>
              <c:numCache>
                <c:formatCode>0.0</c:formatCode>
                <c:ptCount val="102"/>
                <c:pt idx="0">
                  <c:v>0.047288</c:v>
                </c:pt>
                <c:pt idx="1">
                  <c:v>0.047763</c:v>
                </c:pt>
                <c:pt idx="2">
                  <c:v>0.048249</c:v>
                </c:pt>
                <c:pt idx="3">
                  <c:v>0.048744</c:v>
                </c:pt>
                <c:pt idx="4">
                  <c:v>0.04925</c:v>
                </c:pt>
                <c:pt idx="5">
                  <c:v>0.049766</c:v>
                </c:pt>
                <c:pt idx="6">
                  <c:v>0.050294</c:v>
                </c:pt>
                <c:pt idx="7">
                  <c:v>0.050832</c:v>
                </c:pt>
                <c:pt idx="8">
                  <c:v>0.051382</c:v>
                </c:pt>
                <c:pt idx="9">
                  <c:v>0.051945</c:v>
                </c:pt>
                <c:pt idx="10">
                  <c:v>0.052519</c:v>
                </c:pt>
                <c:pt idx="11">
                  <c:v>0.053107</c:v>
                </c:pt>
                <c:pt idx="12">
                  <c:v>0.053708</c:v>
                </c:pt>
                <c:pt idx="13">
                  <c:v>0.054322</c:v>
                </c:pt>
                <c:pt idx="14">
                  <c:v>0.054951</c:v>
                </c:pt>
                <c:pt idx="15">
                  <c:v>0.055595</c:v>
                </c:pt>
                <c:pt idx="16">
                  <c:v>0.056254</c:v>
                </c:pt>
                <c:pt idx="17">
                  <c:v>0.056928</c:v>
                </c:pt>
                <c:pt idx="18">
                  <c:v>0.057327</c:v>
                </c:pt>
                <c:pt idx="19">
                  <c:v>0.058031</c:v>
                </c:pt>
                <c:pt idx="20">
                  <c:v>0.058753</c:v>
                </c:pt>
                <c:pt idx="21">
                  <c:v>0.059493</c:v>
                </c:pt>
                <c:pt idx="22">
                  <c:v>0.060252</c:v>
                </c:pt>
                <c:pt idx="23">
                  <c:v>0.061031</c:v>
                </c:pt>
                <c:pt idx="24">
                  <c:v>0.06183</c:v>
                </c:pt>
                <c:pt idx="25">
                  <c:v>0.06265</c:v>
                </c:pt>
                <c:pt idx="26">
                  <c:v>0.063492</c:v>
                </c:pt>
                <c:pt idx="27">
                  <c:v>0.064357</c:v>
                </c:pt>
                <c:pt idx="28">
                  <c:v>0.06508</c:v>
                </c:pt>
                <c:pt idx="29">
                  <c:v>0.065823</c:v>
                </c:pt>
                <c:pt idx="30">
                  <c:v>0.066769</c:v>
                </c:pt>
                <c:pt idx="31">
                  <c:v>0.067558</c:v>
                </c:pt>
                <c:pt idx="32">
                  <c:v>0.068546</c:v>
                </c:pt>
                <c:pt idx="33">
                  <c:v>0.069385</c:v>
                </c:pt>
                <c:pt idx="34">
                  <c:v>0.070249</c:v>
                </c:pt>
                <c:pt idx="35">
                  <c:v>0.071336</c:v>
                </c:pt>
                <c:pt idx="36">
                  <c:v>0.072258</c:v>
                </c:pt>
                <c:pt idx="37">
                  <c:v>0.073398</c:v>
                </c:pt>
                <c:pt idx="38">
                  <c:v>0.074575</c:v>
                </c:pt>
                <c:pt idx="39">
                  <c:v>0.07579</c:v>
                </c:pt>
                <c:pt idx="40">
                  <c:v>0.077046</c:v>
                </c:pt>
                <c:pt idx="41">
                  <c:v>0.078141</c:v>
                </c:pt>
                <c:pt idx="42">
                  <c:v>0.07886</c:v>
                </c:pt>
                <c:pt idx="43">
                  <c:v>0.080235</c:v>
                </c:pt>
                <c:pt idx="44">
                  <c:v>0.081659</c:v>
                </c:pt>
                <c:pt idx="45">
                  <c:v>0.083134</c:v>
                </c:pt>
                <c:pt idx="46">
                  <c:v>0.084663</c:v>
                </c:pt>
                <c:pt idx="47">
                  <c:v>0.086024</c:v>
                </c:pt>
                <c:pt idx="48">
                  <c:v>0.087437</c:v>
                </c:pt>
                <c:pt idx="49">
                  <c:v>0.088905</c:v>
                </c:pt>
                <c:pt idx="50">
                  <c:v>0.090431</c:v>
                </c:pt>
                <c:pt idx="51">
                  <c:v>0.092019</c:v>
                </c:pt>
                <c:pt idx="52">
                  <c:v>0.093672</c:v>
                </c:pt>
                <c:pt idx="53">
                  <c:v>0.095141</c:v>
                </c:pt>
                <c:pt idx="54">
                  <c:v>0.097193</c:v>
                </c:pt>
                <c:pt idx="55">
                  <c:v>0.098805</c:v>
                </c:pt>
                <c:pt idx="56">
                  <c:v>0.101032</c:v>
                </c:pt>
                <c:pt idx="57">
                  <c:v>0.103084</c:v>
                </c:pt>
                <c:pt idx="58">
                  <c:v>0.104664</c:v>
                </c:pt>
                <c:pt idx="59">
                  <c:v>0.106904</c:v>
                </c:pt>
                <c:pt idx="60">
                  <c:v>0.109585</c:v>
                </c:pt>
                <c:pt idx="61">
                  <c:v>0.111758</c:v>
                </c:pt>
                <c:pt idx="62">
                  <c:v>0.114672</c:v>
                </c:pt>
                <c:pt idx="63">
                  <c:v>0.116167</c:v>
                </c:pt>
                <c:pt idx="64">
                  <c:v>0.119363</c:v>
                </c:pt>
                <c:pt idx="65">
                  <c:v>0.1224</c:v>
                </c:pt>
                <c:pt idx="66">
                  <c:v>0.125263</c:v>
                </c:pt>
                <c:pt idx="67">
                  <c:v>0.129021</c:v>
                </c:pt>
                <c:pt idx="68">
                  <c:v>0.132638</c:v>
                </c:pt>
                <c:pt idx="69">
                  <c:v>0.136101</c:v>
                </c:pt>
                <c:pt idx="70">
                  <c:v>0.139849</c:v>
                </c:pt>
                <c:pt idx="71">
                  <c:v>0.144207</c:v>
                </c:pt>
                <c:pt idx="72">
                  <c:v>0.148447</c:v>
                </c:pt>
                <c:pt idx="73">
                  <c:v>0.152116</c:v>
                </c:pt>
                <c:pt idx="74">
                  <c:v>0.155606</c:v>
                </c:pt>
                <c:pt idx="75">
                  <c:v>0.160324</c:v>
                </c:pt>
                <c:pt idx="76">
                  <c:v>0.165428</c:v>
                </c:pt>
                <c:pt idx="77">
                  <c:v>0.170455</c:v>
                </c:pt>
                <c:pt idx="78">
                  <c:v>0.176471</c:v>
                </c:pt>
                <c:pt idx="79">
                  <c:v>0.183616</c:v>
                </c:pt>
                <c:pt idx="80">
                  <c:v>0.191464</c:v>
                </c:pt>
                <c:pt idx="81">
                  <c:v>0.199501</c:v>
                </c:pt>
                <c:pt idx="82">
                  <c:v>0.208416</c:v>
                </c:pt>
                <c:pt idx="83">
                  <c:v>0.218359</c:v>
                </c:pt>
                <c:pt idx="84">
                  <c:v>0.228782</c:v>
                </c:pt>
                <c:pt idx="85">
                  <c:v>0.23978</c:v>
                </c:pt>
                <c:pt idx="86">
                  <c:v>0.250631</c:v>
                </c:pt>
                <c:pt idx="87">
                  <c:v>0.266727</c:v>
                </c:pt>
                <c:pt idx="88">
                  <c:v>0.278592</c:v>
                </c:pt>
                <c:pt idx="89">
                  <c:v>0.301064</c:v>
                </c:pt>
                <c:pt idx="90">
                  <c:v>0.324387</c:v>
                </c:pt>
                <c:pt idx="91">
                  <c:v>0.354005</c:v>
                </c:pt>
                <c:pt idx="92">
                  <c:v>0.383502</c:v>
                </c:pt>
                <c:pt idx="93">
                  <c:v>0.414474</c:v>
                </c:pt>
                <c:pt idx="94">
                  <c:v>0.453333</c:v>
                </c:pt>
                <c:pt idx="95">
                  <c:v>0.513575</c:v>
                </c:pt>
                <c:pt idx="96">
                  <c:v>0.612813</c:v>
                </c:pt>
                <c:pt idx="97">
                  <c:v>0.706522</c:v>
                </c:pt>
                <c:pt idx="98">
                  <c:v>0.823834</c:v>
                </c:pt>
                <c:pt idx="99">
                  <c:v>0.963636</c:v>
                </c:pt>
                <c:pt idx="100">
                  <c:v>1</c:v>
                </c:pt>
                <c:pt idx="101">
                  <c:v>1</c:v>
                </c:pt>
              </c:numCache>
            </c:numRef>
          </c:yVal>
        </c:ser>
        <c:ser>
          <c:idx val="1"/>
          <c:order val="1"/>
          <c:tx>
            <c:v>Recall</c:v>
          </c:tx>
          <c:spPr>
            <a:ln xmlns:a="http://schemas.openxmlformats.org/drawingml/2006/main" w="28575">
              <a:solidFill>
                <a:srgbClr val="007F78"/>
              </a:solidFill>
            </a:ln>
          </c:spPr>
          <c:marker>
            <c:symbol val="none"/>
          </c:marker>
          <c:xVal>
            <c:numRef>
              <c:f>'Chart Data'!$C$2:$C$103</c:f>
              <c:numCache>
                <c:formatCode>General</c:formatCode>
                <c:ptCount val="102"/>
                <c:pt idx="0">
                  <c:v>5E-06</c:v>
                </c:pt>
                <c:pt idx="1">
                  <c:v>0.000125</c:v>
                </c:pt>
                <c:pt idx="2">
                  <c:v>0.000196</c:v>
                </c:pt>
                <c:pt idx="3">
                  <c:v>0.000247</c:v>
                </c:pt>
                <c:pt idx="4">
                  <c:v>0.000298</c:v>
                </c:pt>
                <c:pt idx="5">
                  <c:v>0.000339</c:v>
                </c:pt>
                <c:pt idx="6">
                  <c:v>0.000386</c:v>
                </c:pt>
                <c:pt idx="7">
                  <c:v>0.000431</c:v>
                </c:pt>
                <c:pt idx="8">
                  <c:v>0.000469</c:v>
                </c:pt>
                <c:pt idx="9">
                  <c:v>0.000514</c:v>
                </c:pt>
                <c:pt idx="10">
                  <c:v>0.00056</c:v>
                </c:pt>
                <c:pt idx="11">
                  <c:v>0.000604</c:v>
                </c:pt>
                <c:pt idx="12">
                  <c:v>0.000663</c:v>
                </c:pt>
                <c:pt idx="13">
                  <c:v>0.000727</c:v>
                </c:pt>
                <c:pt idx="14">
                  <c:v>0.000775</c:v>
                </c:pt>
                <c:pt idx="15">
                  <c:v>0.000827</c:v>
                </c:pt>
                <c:pt idx="16">
                  <c:v>0.000878</c:v>
                </c:pt>
                <c:pt idx="17">
                  <c:v>0.000937</c:v>
                </c:pt>
                <c:pt idx="18">
                  <c:v>0.000995</c:v>
                </c:pt>
                <c:pt idx="19">
                  <c:v>0.001048</c:v>
                </c:pt>
                <c:pt idx="20">
                  <c:v>0.001111</c:v>
                </c:pt>
                <c:pt idx="21">
                  <c:v>0.001182</c:v>
                </c:pt>
                <c:pt idx="22">
                  <c:v>0.001254</c:v>
                </c:pt>
                <c:pt idx="23">
                  <c:v>0.001331</c:v>
                </c:pt>
                <c:pt idx="24">
                  <c:v>0.001406</c:v>
                </c:pt>
                <c:pt idx="25">
                  <c:v>0.001487</c:v>
                </c:pt>
                <c:pt idx="26">
                  <c:v>0.001581</c:v>
                </c:pt>
                <c:pt idx="27">
                  <c:v>0.001664</c:v>
                </c:pt>
                <c:pt idx="28">
                  <c:v>0.001748</c:v>
                </c:pt>
                <c:pt idx="29">
                  <c:v>0.001871</c:v>
                </c:pt>
                <c:pt idx="30">
                  <c:v>0.001987</c:v>
                </c:pt>
                <c:pt idx="31">
                  <c:v>0.002103</c:v>
                </c:pt>
                <c:pt idx="32">
                  <c:v>0.002235</c:v>
                </c:pt>
                <c:pt idx="33">
                  <c:v>0.002361</c:v>
                </c:pt>
                <c:pt idx="34">
                  <c:v>0.002484</c:v>
                </c:pt>
                <c:pt idx="35">
                  <c:v>0.002602</c:v>
                </c:pt>
                <c:pt idx="36">
                  <c:v>0.002768</c:v>
                </c:pt>
                <c:pt idx="37">
                  <c:v>0.002976</c:v>
                </c:pt>
                <c:pt idx="38">
                  <c:v>0.003107</c:v>
                </c:pt>
                <c:pt idx="39">
                  <c:v>0.003265</c:v>
                </c:pt>
                <c:pt idx="40">
                  <c:v>0.003449</c:v>
                </c:pt>
                <c:pt idx="41">
                  <c:v>0.003661</c:v>
                </c:pt>
                <c:pt idx="42">
                  <c:v>0.003873</c:v>
                </c:pt>
                <c:pt idx="43">
                  <c:v>0.004095</c:v>
                </c:pt>
                <c:pt idx="44">
                  <c:v>0.004296</c:v>
                </c:pt>
                <c:pt idx="45">
                  <c:v>0.004515</c:v>
                </c:pt>
                <c:pt idx="46">
                  <c:v>0.004776</c:v>
                </c:pt>
                <c:pt idx="47">
                  <c:v>0.005123</c:v>
                </c:pt>
                <c:pt idx="48">
                  <c:v>0.005465</c:v>
                </c:pt>
                <c:pt idx="49">
                  <c:v>0.005749</c:v>
                </c:pt>
                <c:pt idx="50">
                  <c:v>0.006052</c:v>
                </c:pt>
                <c:pt idx="51">
                  <c:v>0.006417</c:v>
                </c:pt>
                <c:pt idx="52">
                  <c:v>0.006891</c:v>
                </c:pt>
                <c:pt idx="53">
                  <c:v>0.007331</c:v>
                </c:pt>
                <c:pt idx="54">
                  <c:v>0.007787</c:v>
                </c:pt>
                <c:pt idx="55">
                  <c:v>0.008334</c:v>
                </c:pt>
                <c:pt idx="56">
                  <c:v>0.008805</c:v>
                </c:pt>
                <c:pt idx="57">
                  <c:v>0.009326</c:v>
                </c:pt>
                <c:pt idx="58">
                  <c:v>0.009901</c:v>
                </c:pt>
                <c:pt idx="59">
                  <c:v>0.01055</c:v>
                </c:pt>
                <c:pt idx="60">
                  <c:v>0.011148</c:v>
                </c:pt>
                <c:pt idx="61">
                  <c:v>0.011797</c:v>
                </c:pt>
                <c:pt idx="62">
                  <c:v>0.012623</c:v>
                </c:pt>
                <c:pt idx="63">
                  <c:v>0.013465</c:v>
                </c:pt>
                <c:pt idx="64">
                  <c:v>0.014349</c:v>
                </c:pt>
                <c:pt idx="65">
                  <c:v>0.015286</c:v>
                </c:pt>
                <c:pt idx="66">
                  <c:v>0.016157</c:v>
                </c:pt>
                <c:pt idx="67">
                  <c:v>0.017178</c:v>
                </c:pt>
                <c:pt idx="68">
                  <c:v>0.018362</c:v>
                </c:pt>
                <c:pt idx="69">
                  <c:v>0.019795</c:v>
                </c:pt>
                <c:pt idx="70">
                  <c:v>0.021247</c:v>
                </c:pt>
                <c:pt idx="71">
                  <c:v>0.022312</c:v>
                </c:pt>
                <c:pt idx="72">
                  <c:v>0.024351</c:v>
                </c:pt>
                <c:pt idx="73">
                  <c:v>0.026623</c:v>
                </c:pt>
                <c:pt idx="74">
                  <c:v>0.028872</c:v>
                </c:pt>
                <c:pt idx="75">
                  <c:v>0.0309</c:v>
                </c:pt>
                <c:pt idx="76">
                  <c:v>0.033361</c:v>
                </c:pt>
                <c:pt idx="77">
                  <c:v>0.036237</c:v>
                </c:pt>
                <c:pt idx="78">
                  <c:v>0.039321</c:v>
                </c:pt>
                <c:pt idx="79">
                  <c:v>0.043268</c:v>
                </c:pt>
                <c:pt idx="80">
                  <c:v>0.047091</c:v>
                </c:pt>
                <c:pt idx="81">
                  <c:v>0.052034</c:v>
                </c:pt>
                <c:pt idx="82">
                  <c:v>0.058257</c:v>
                </c:pt>
                <c:pt idx="83">
                  <c:v>0.064053</c:v>
                </c:pt>
                <c:pt idx="84">
                  <c:v>0.071757</c:v>
                </c:pt>
                <c:pt idx="85">
                  <c:v>0.079624</c:v>
                </c:pt>
                <c:pt idx="86">
                  <c:v>0.090916</c:v>
                </c:pt>
                <c:pt idx="87">
                  <c:v>0.100796</c:v>
                </c:pt>
                <c:pt idx="88">
                  <c:v>0.113473</c:v>
                </c:pt>
                <c:pt idx="89">
                  <c:v>0.129923</c:v>
                </c:pt>
                <c:pt idx="90">
                  <c:v>0.147191</c:v>
                </c:pt>
                <c:pt idx="91">
                  <c:v>0.167994</c:v>
                </c:pt>
                <c:pt idx="92">
                  <c:v>0.189614</c:v>
                </c:pt>
                <c:pt idx="93">
                  <c:v>0.218839</c:v>
                </c:pt>
                <c:pt idx="94">
                  <c:v>0.268761</c:v>
                </c:pt>
                <c:pt idx="95">
                  <c:v>0.329265</c:v>
                </c:pt>
                <c:pt idx="96">
                  <c:v>0.42494</c:v>
                </c:pt>
                <c:pt idx="97">
                  <c:v>0.571665</c:v>
                </c:pt>
                <c:pt idx="98">
                  <c:v>0.779005</c:v>
                </c:pt>
                <c:pt idx="99">
                  <c:v>0.957499</c:v>
                </c:pt>
                <c:pt idx="100">
                  <c:v>0.995838</c:v>
                </c:pt>
                <c:pt idx="101">
                  <c:v>0.999078</c:v>
                </c:pt>
              </c:numCache>
            </c:numRef>
          </c:xVal>
          <c:yVal>
            <c:numRef>
              <c:f>'Chart Data'!$D$2:$D$103</c:f>
              <c:numCache>
                <c:formatCode>0.0</c:formatCode>
                <c:ptCount val="10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0.994924</c:v>
                </c:pt>
                <c:pt idx="19">
                  <c:v>0.994924</c:v>
                </c:pt>
                <c:pt idx="20">
                  <c:v>0.994924</c:v>
                </c:pt>
                <c:pt idx="21">
                  <c:v>0.994924</c:v>
                </c:pt>
                <c:pt idx="22">
                  <c:v>0.994924</c:v>
                </c:pt>
                <c:pt idx="23">
                  <c:v>0.994924</c:v>
                </c:pt>
                <c:pt idx="24">
                  <c:v>0.994924</c:v>
                </c:pt>
                <c:pt idx="25">
                  <c:v>0.994924</c:v>
                </c:pt>
                <c:pt idx="26">
                  <c:v>0.994924</c:v>
                </c:pt>
                <c:pt idx="27">
                  <c:v>0.994924</c:v>
                </c:pt>
                <c:pt idx="28">
                  <c:v>0.992386</c:v>
                </c:pt>
                <c:pt idx="29">
                  <c:v>0.989848</c:v>
                </c:pt>
                <c:pt idx="30">
                  <c:v>0.989848</c:v>
                </c:pt>
                <c:pt idx="31">
                  <c:v>0.98731</c:v>
                </c:pt>
                <c:pt idx="32">
                  <c:v>0.98731</c:v>
                </c:pt>
                <c:pt idx="33">
                  <c:v>0.984772</c:v>
                </c:pt>
                <c:pt idx="34">
                  <c:v>0.982234</c:v>
                </c:pt>
                <c:pt idx="35">
                  <c:v>0.982234</c:v>
                </c:pt>
                <c:pt idx="36">
                  <c:v>0.979695</c:v>
                </c:pt>
                <c:pt idx="37">
                  <c:v>0.979695</c:v>
                </c:pt>
                <c:pt idx="38">
                  <c:v>0.979695</c:v>
                </c:pt>
                <c:pt idx="39">
                  <c:v>0.979695</c:v>
                </c:pt>
                <c:pt idx="40">
                  <c:v>0.979695</c:v>
                </c:pt>
                <c:pt idx="41">
                  <c:v>0.977157</c:v>
                </c:pt>
                <c:pt idx="42">
                  <c:v>0.969543</c:v>
                </c:pt>
                <c:pt idx="43">
                  <c:v>0.969543</c:v>
                </c:pt>
                <c:pt idx="44">
                  <c:v>0.969543</c:v>
                </c:pt>
                <c:pt idx="45">
                  <c:v>0.969543</c:v>
                </c:pt>
                <c:pt idx="46">
                  <c:v>0.969543</c:v>
                </c:pt>
                <c:pt idx="47">
                  <c:v>0.967005</c:v>
                </c:pt>
                <c:pt idx="48">
                  <c:v>0.964467</c:v>
                </c:pt>
                <c:pt idx="49">
                  <c:v>0.961929</c:v>
                </c:pt>
                <c:pt idx="50">
                  <c:v>0.959391</c:v>
                </c:pt>
                <c:pt idx="51">
                  <c:v>0.956853</c:v>
                </c:pt>
                <c:pt idx="52">
                  <c:v>0.954315</c:v>
                </c:pt>
                <c:pt idx="53">
                  <c:v>0.949239</c:v>
                </c:pt>
                <c:pt idx="54">
                  <c:v>0.949239</c:v>
                </c:pt>
                <c:pt idx="55">
                  <c:v>0.944162</c:v>
                </c:pt>
                <c:pt idx="56">
                  <c:v>0.944162</c:v>
                </c:pt>
                <c:pt idx="57">
                  <c:v>0.941624</c:v>
                </c:pt>
                <c:pt idx="58">
                  <c:v>0.93401</c:v>
                </c:pt>
                <c:pt idx="59">
                  <c:v>0.931472</c:v>
                </c:pt>
                <c:pt idx="60">
                  <c:v>0.931472</c:v>
                </c:pt>
                <c:pt idx="61">
                  <c:v>0.926396</c:v>
                </c:pt>
                <c:pt idx="62">
                  <c:v>0.926396</c:v>
                </c:pt>
                <c:pt idx="63">
                  <c:v>0.913706</c:v>
                </c:pt>
                <c:pt idx="64">
                  <c:v>0.913706</c:v>
                </c:pt>
                <c:pt idx="65">
                  <c:v>0.911168</c:v>
                </c:pt>
                <c:pt idx="66">
                  <c:v>0.906091</c:v>
                </c:pt>
                <c:pt idx="67">
                  <c:v>0.906091</c:v>
                </c:pt>
                <c:pt idx="68">
                  <c:v>0.903553</c:v>
                </c:pt>
                <c:pt idx="69">
                  <c:v>0.898477</c:v>
                </c:pt>
                <c:pt idx="70">
                  <c:v>0.893401</c:v>
                </c:pt>
                <c:pt idx="71">
                  <c:v>0.890863</c:v>
                </c:pt>
                <c:pt idx="72">
                  <c:v>0.885787</c:v>
                </c:pt>
                <c:pt idx="73">
                  <c:v>0.875635</c:v>
                </c:pt>
                <c:pt idx="74">
                  <c:v>0.862944</c:v>
                </c:pt>
                <c:pt idx="75">
                  <c:v>0.85533</c:v>
                </c:pt>
                <c:pt idx="76">
                  <c:v>0.847716</c:v>
                </c:pt>
                <c:pt idx="77">
                  <c:v>0.837563</c:v>
                </c:pt>
                <c:pt idx="78">
                  <c:v>0.829949</c:v>
                </c:pt>
                <c:pt idx="79">
                  <c:v>0.824873</c:v>
                </c:pt>
                <c:pt idx="80">
                  <c:v>0.819797</c:v>
                </c:pt>
                <c:pt idx="81">
                  <c:v>0.812183</c:v>
                </c:pt>
                <c:pt idx="82">
                  <c:v>0.804569</c:v>
                </c:pt>
                <c:pt idx="83">
                  <c:v>0.796954</c:v>
                </c:pt>
                <c:pt idx="84">
                  <c:v>0.786802</c:v>
                </c:pt>
                <c:pt idx="85">
                  <c:v>0.774112</c:v>
                </c:pt>
                <c:pt idx="86">
                  <c:v>0.756345</c:v>
                </c:pt>
                <c:pt idx="87">
                  <c:v>0.748731</c:v>
                </c:pt>
                <c:pt idx="88">
                  <c:v>0.72335</c:v>
                </c:pt>
                <c:pt idx="89">
                  <c:v>0.718274</c:v>
                </c:pt>
                <c:pt idx="90">
                  <c:v>0.705584</c:v>
                </c:pt>
                <c:pt idx="91">
                  <c:v>0.695431</c:v>
                </c:pt>
                <c:pt idx="92">
                  <c:v>0.672589</c:v>
                </c:pt>
                <c:pt idx="93">
                  <c:v>0.639594</c:v>
                </c:pt>
                <c:pt idx="94">
                  <c:v>0.604061</c:v>
                </c:pt>
                <c:pt idx="95">
                  <c:v>0.576142</c:v>
                </c:pt>
                <c:pt idx="96">
                  <c:v>0.558376</c:v>
                </c:pt>
                <c:pt idx="97">
                  <c:v>0.494924</c:v>
                </c:pt>
                <c:pt idx="98">
                  <c:v>0.403553</c:v>
                </c:pt>
                <c:pt idx="99">
                  <c:v>0.269036</c:v>
                </c:pt>
                <c:pt idx="100">
                  <c:v>0.068528</c:v>
                </c:pt>
                <c:pt idx="101">
                  <c:v>0.002538</c:v>
                </c:pt>
              </c:numCache>
            </c:numRef>
          </c:yVal>
        </c:ser>
        <c:ser>
          <c:idx val="2"/>
          <c:order val="2"/>
          <c:tx>
            <c:v>F2</c:v>
          </c:tx>
          <c:spPr>
            <a:ln xmlns:a="http://schemas.openxmlformats.org/drawingml/2006/main" w="19050">
              <a:solidFill>
                <a:srgbClr val="C35A43"/>
              </a:solidFill>
            </a:ln>
          </c:spPr>
          <c:marker>
            <c:symbol val="none"/>
          </c:marker>
          <c:xVal>
            <c:numRef>
              <c:f>'Chart Data'!$E$2:$E$103</c:f>
              <c:numCache>
                <c:formatCode>General</c:formatCode>
                <c:ptCount val="102"/>
                <c:pt idx="0">
                  <c:v>5E-06</c:v>
                </c:pt>
                <c:pt idx="1">
                  <c:v>0.000125</c:v>
                </c:pt>
                <c:pt idx="2">
                  <c:v>0.000196</c:v>
                </c:pt>
                <c:pt idx="3">
                  <c:v>0.000247</c:v>
                </c:pt>
                <c:pt idx="4">
                  <c:v>0.000298</c:v>
                </c:pt>
                <c:pt idx="5">
                  <c:v>0.000339</c:v>
                </c:pt>
                <c:pt idx="6">
                  <c:v>0.000386</c:v>
                </c:pt>
                <c:pt idx="7">
                  <c:v>0.000431</c:v>
                </c:pt>
                <c:pt idx="8">
                  <c:v>0.000469</c:v>
                </c:pt>
                <c:pt idx="9">
                  <c:v>0.000514</c:v>
                </c:pt>
                <c:pt idx="10">
                  <c:v>0.00056</c:v>
                </c:pt>
                <c:pt idx="11">
                  <c:v>0.000604</c:v>
                </c:pt>
                <c:pt idx="12">
                  <c:v>0.000663</c:v>
                </c:pt>
                <c:pt idx="13">
                  <c:v>0.000727</c:v>
                </c:pt>
                <c:pt idx="14">
                  <c:v>0.000775</c:v>
                </c:pt>
                <c:pt idx="15">
                  <c:v>0.000827</c:v>
                </c:pt>
                <c:pt idx="16">
                  <c:v>0.000878</c:v>
                </c:pt>
                <c:pt idx="17">
                  <c:v>0.000937</c:v>
                </c:pt>
                <c:pt idx="18">
                  <c:v>0.000995</c:v>
                </c:pt>
                <c:pt idx="19">
                  <c:v>0.001048</c:v>
                </c:pt>
                <c:pt idx="20">
                  <c:v>0.001111</c:v>
                </c:pt>
                <c:pt idx="21">
                  <c:v>0.001182</c:v>
                </c:pt>
                <c:pt idx="22">
                  <c:v>0.001254</c:v>
                </c:pt>
                <c:pt idx="23">
                  <c:v>0.001331</c:v>
                </c:pt>
                <c:pt idx="24">
                  <c:v>0.001406</c:v>
                </c:pt>
                <c:pt idx="25">
                  <c:v>0.001487</c:v>
                </c:pt>
                <c:pt idx="26">
                  <c:v>0.001581</c:v>
                </c:pt>
                <c:pt idx="27">
                  <c:v>0.001664</c:v>
                </c:pt>
                <c:pt idx="28">
                  <c:v>0.001748</c:v>
                </c:pt>
                <c:pt idx="29">
                  <c:v>0.001871</c:v>
                </c:pt>
                <c:pt idx="30">
                  <c:v>0.001987</c:v>
                </c:pt>
                <c:pt idx="31">
                  <c:v>0.002103</c:v>
                </c:pt>
                <c:pt idx="32">
                  <c:v>0.002235</c:v>
                </c:pt>
                <c:pt idx="33">
                  <c:v>0.002361</c:v>
                </c:pt>
                <c:pt idx="34">
                  <c:v>0.002484</c:v>
                </c:pt>
                <c:pt idx="35">
                  <c:v>0.002602</c:v>
                </c:pt>
                <c:pt idx="36">
                  <c:v>0.002768</c:v>
                </c:pt>
                <c:pt idx="37">
                  <c:v>0.002976</c:v>
                </c:pt>
                <c:pt idx="38">
                  <c:v>0.003107</c:v>
                </c:pt>
                <c:pt idx="39">
                  <c:v>0.003265</c:v>
                </c:pt>
                <c:pt idx="40">
                  <c:v>0.003449</c:v>
                </c:pt>
                <c:pt idx="41">
                  <c:v>0.003661</c:v>
                </c:pt>
                <c:pt idx="42">
                  <c:v>0.003873</c:v>
                </c:pt>
                <c:pt idx="43">
                  <c:v>0.004095</c:v>
                </c:pt>
                <c:pt idx="44">
                  <c:v>0.004296</c:v>
                </c:pt>
                <c:pt idx="45">
                  <c:v>0.004515</c:v>
                </c:pt>
                <c:pt idx="46">
                  <c:v>0.004776</c:v>
                </c:pt>
                <c:pt idx="47">
                  <c:v>0.005123</c:v>
                </c:pt>
                <c:pt idx="48">
                  <c:v>0.005465</c:v>
                </c:pt>
                <c:pt idx="49">
                  <c:v>0.005749</c:v>
                </c:pt>
                <c:pt idx="50">
                  <c:v>0.006052</c:v>
                </c:pt>
                <c:pt idx="51">
                  <c:v>0.006417</c:v>
                </c:pt>
                <c:pt idx="52">
                  <c:v>0.006891</c:v>
                </c:pt>
                <c:pt idx="53">
                  <c:v>0.007331</c:v>
                </c:pt>
                <c:pt idx="54">
                  <c:v>0.007787</c:v>
                </c:pt>
                <c:pt idx="55">
                  <c:v>0.008334</c:v>
                </c:pt>
                <c:pt idx="56">
                  <c:v>0.008805</c:v>
                </c:pt>
                <c:pt idx="57">
                  <c:v>0.009326</c:v>
                </c:pt>
                <c:pt idx="58">
                  <c:v>0.009901</c:v>
                </c:pt>
                <c:pt idx="59">
                  <c:v>0.01055</c:v>
                </c:pt>
                <c:pt idx="60">
                  <c:v>0.011148</c:v>
                </c:pt>
                <c:pt idx="61">
                  <c:v>0.011797</c:v>
                </c:pt>
                <c:pt idx="62">
                  <c:v>0.012623</c:v>
                </c:pt>
                <c:pt idx="63">
                  <c:v>0.013465</c:v>
                </c:pt>
                <c:pt idx="64">
                  <c:v>0.014349</c:v>
                </c:pt>
                <c:pt idx="65">
                  <c:v>0.015286</c:v>
                </c:pt>
                <c:pt idx="66">
                  <c:v>0.016157</c:v>
                </c:pt>
                <c:pt idx="67">
                  <c:v>0.017178</c:v>
                </c:pt>
                <c:pt idx="68">
                  <c:v>0.018362</c:v>
                </c:pt>
                <c:pt idx="69">
                  <c:v>0.019795</c:v>
                </c:pt>
                <c:pt idx="70">
                  <c:v>0.021247</c:v>
                </c:pt>
                <c:pt idx="71">
                  <c:v>0.022312</c:v>
                </c:pt>
                <c:pt idx="72">
                  <c:v>0.024351</c:v>
                </c:pt>
                <c:pt idx="73">
                  <c:v>0.026623</c:v>
                </c:pt>
                <c:pt idx="74">
                  <c:v>0.028872</c:v>
                </c:pt>
                <c:pt idx="75">
                  <c:v>0.0309</c:v>
                </c:pt>
                <c:pt idx="76">
                  <c:v>0.033361</c:v>
                </c:pt>
                <c:pt idx="77">
                  <c:v>0.036237</c:v>
                </c:pt>
                <c:pt idx="78">
                  <c:v>0.039321</c:v>
                </c:pt>
                <c:pt idx="79">
                  <c:v>0.043268</c:v>
                </c:pt>
                <c:pt idx="80">
                  <c:v>0.047091</c:v>
                </c:pt>
                <c:pt idx="81">
                  <c:v>0.052034</c:v>
                </c:pt>
                <c:pt idx="82">
                  <c:v>0.058257</c:v>
                </c:pt>
                <c:pt idx="83">
                  <c:v>0.064053</c:v>
                </c:pt>
                <c:pt idx="84">
                  <c:v>0.071757</c:v>
                </c:pt>
                <c:pt idx="85">
                  <c:v>0.079624</c:v>
                </c:pt>
                <c:pt idx="86">
                  <c:v>0.090916</c:v>
                </c:pt>
                <c:pt idx="87">
                  <c:v>0.100796</c:v>
                </c:pt>
                <c:pt idx="88">
                  <c:v>0.113473</c:v>
                </c:pt>
                <c:pt idx="89">
                  <c:v>0.129923</c:v>
                </c:pt>
                <c:pt idx="90">
                  <c:v>0.147191</c:v>
                </c:pt>
                <c:pt idx="91">
                  <c:v>0.167994</c:v>
                </c:pt>
                <c:pt idx="92">
                  <c:v>0.189614</c:v>
                </c:pt>
                <c:pt idx="93">
                  <c:v>0.218839</c:v>
                </c:pt>
                <c:pt idx="94">
                  <c:v>0.268761</c:v>
                </c:pt>
                <c:pt idx="95">
                  <c:v>0.329265</c:v>
                </c:pt>
                <c:pt idx="96">
                  <c:v>0.42494</c:v>
                </c:pt>
                <c:pt idx="97">
                  <c:v>0.571665</c:v>
                </c:pt>
                <c:pt idx="98">
                  <c:v>0.779005</c:v>
                </c:pt>
                <c:pt idx="99">
                  <c:v>0.957499</c:v>
                </c:pt>
                <c:pt idx="100">
                  <c:v>0.995838</c:v>
                </c:pt>
                <c:pt idx="101">
                  <c:v>0.999078</c:v>
                </c:pt>
              </c:numCache>
            </c:numRef>
          </c:xVal>
          <c:yVal>
            <c:numRef>
              <c:f>'Chart Data'!$F$2:$F$103</c:f>
              <c:numCache>
                <c:formatCode>0.0</c:formatCode>
                <c:ptCount val="102"/>
                <c:pt idx="0">
                  <c:v>0.198829</c:v>
                </c:pt>
                <c:pt idx="1">
                  <c:v>0.200509</c:v>
                </c:pt>
                <c:pt idx="2">
                  <c:v>0.202217</c:v>
                </c:pt>
                <c:pt idx="3">
                  <c:v>0.203955</c:v>
                </c:pt>
                <c:pt idx="4">
                  <c:v>0.205723</c:v>
                </c:pt>
                <c:pt idx="5">
                  <c:v>0.207521</c:v>
                </c:pt>
                <c:pt idx="6">
                  <c:v>0.209352</c:v>
                </c:pt>
                <c:pt idx="7">
                  <c:v>0.211215</c:v>
                </c:pt>
                <c:pt idx="8">
                  <c:v>0.213111</c:v>
                </c:pt>
                <c:pt idx="9">
                  <c:v>0.215042</c:v>
                </c:pt>
                <c:pt idx="10">
                  <c:v>0.217008</c:v>
                </c:pt>
                <c:pt idx="11">
                  <c:v>0.219011</c:v>
                </c:pt>
                <c:pt idx="12">
                  <c:v>0.22105</c:v>
                </c:pt>
                <c:pt idx="13">
                  <c:v>0.223128</c:v>
                </c:pt>
                <c:pt idx="14">
                  <c:v>0.225246</c:v>
                </c:pt>
                <c:pt idx="15">
                  <c:v>0.227404</c:v>
                </c:pt>
                <c:pt idx="16">
                  <c:v>0.229604</c:v>
                </c:pt>
                <c:pt idx="17">
                  <c:v>0.231847</c:v>
                </c:pt>
                <c:pt idx="18">
                  <c:v>0.232945</c:v>
                </c:pt>
                <c:pt idx="19">
                  <c:v>0.235266</c:v>
                </c:pt>
                <c:pt idx="20">
                  <c:v>0.237633</c:v>
                </c:pt>
                <c:pt idx="21">
                  <c:v>0.240049</c:v>
                </c:pt>
                <c:pt idx="22">
                  <c:v>0.242514</c:v>
                </c:pt>
                <c:pt idx="23">
                  <c:v>0.245031</c:v>
                </c:pt>
                <c:pt idx="24">
                  <c:v>0.2476</c:v>
                </c:pt>
                <c:pt idx="25">
                  <c:v>0.250223</c:v>
                </c:pt>
                <c:pt idx="26">
                  <c:v>0.252903</c:v>
                </c:pt>
                <c:pt idx="27">
                  <c:v>0.255641</c:v>
                </c:pt>
                <c:pt idx="28">
                  <c:v>0.25778</c:v>
                </c:pt>
                <c:pt idx="29">
                  <c:v>0.259965</c:v>
                </c:pt>
                <c:pt idx="30">
                  <c:v>0.26291</c:v>
                </c:pt>
                <c:pt idx="31">
                  <c:v>0.265203</c:v>
                </c:pt>
                <c:pt idx="32">
                  <c:v>0.268239</c:v>
                </c:pt>
                <c:pt idx="33">
                  <c:v>0.270647</c:v>
                </c:pt>
                <c:pt idx="34">
                  <c:v>0.273112</c:v>
                </c:pt>
                <c:pt idx="35">
                  <c:v>0.276389</c:v>
                </c:pt>
                <c:pt idx="36">
                  <c:v>0.278982</c:v>
                </c:pt>
                <c:pt idx="37">
                  <c:v>0.28237</c:v>
                </c:pt>
                <c:pt idx="38">
                  <c:v>0.285841</c:v>
                </c:pt>
                <c:pt idx="39">
                  <c:v>0.289399</c:v>
                </c:pt>
                <c:pt idx="40">
                  <c:v>0.293046</c:v>
                </c:pt>
                <c:pt idx="41">
                  <c:v>0.296017</c:v>
                </c:pt>
                <c:pt idx="42">
                  <c:v>0.297508</c:v>
                </c:pt>
                <c:pt idx="43">
                  <c:v>0.301404</c:v>
                </c:pt>
                <c:pt idx="44">
                  <c:v>0.305405</c:v>
                </c:pt>
                <c:pt idx="45">
                  <c:v>0.309512</c:v>
                </c:pt>
                <c:pt idx="46">
                  <c:v>0.313732</c:v>
                </c:pt>
                <c:pt idx="47">
                  <c:v>0.317236</c:v>
                </c:pt>
                <c:pt idx="48">
                  <c:v>0.320838</c:v>
                </c:pt>
                <c:pt idx="49">
                  <c:v>0.324542</c:v>
                </c:pt>
                <c:pt idx="50">
                  <c:v>0.328353</c:v>
                </c:pt>
                <c:pt idx="51">
                  <c:v>0.332276</c:v>
                </c:pt>
                <c:pt idx="52">
                  <c:v>0.336315</c:v>
                </c:pt>
                <c:pt idx="53">
                  <c:v>0.339568</c:v>
                </c:pt>
                <c:pt idx="54">
                  <c:v>0.344764</c:v>
                </c:pt>
                <c:pt idx="55">
                  <c:v>0.348249</c:v>
                </c:pt>
                <c:pt idx="56">
                  <c:v>0.353747</c:v>
                </c:pt>
                <c:pt idx="57">
                  <c:v>0.358454</c:v>
                </c:pt>
                <c:pt idx="58">
                  <c:v>0.361351</c:v>
                </c:pt>
                <c:pt idx="59">
                  <c:v>0.366341</c:v>
                </c:pt>
                <c:pt idx="60">
                  <c:v>0.372589</c:v>
                </c:pt>
                <c:pt idx="61">
                  <c:v>0.37691</c:v>
                </c:pt>
                <c:pt idx="62">
                  <c:v>0.383484</c:v>
                </c:pt>
                <c:pt idx="63">
                  <c:v>0.385027</c:v>
                </c:pt>
                <c:pt idx="64">
                  <c:v>0.391986</c:v>
                </c:pt>
                <c:pt idx="65">
                  <c:v>0.398093</c:v>
                </c:pt>
                <c:pt idx="66">
                  <c:v>0.403299</c:v>
                </c:pt>
                <c:pt idx="67">
                  <c:v>0.411006</c:v>
                </c:pt>
                <c:pt idx="68">
                  <c:v>0.41784</c:v>
                </c:pt>
                <c:pt idx="69">
                  <c:v>0.423749</c:v>
                </c:pt>
                <c:pt idx="70">
                  <c:v>0.430002</c:v>
                </c:pt>
                <c:pt idx="71">
                  <c:v>0.437656</c:v>
                </c:pt>
                <c:pt idx="72">
                  <c:v>0.44436</c:v>
                </c:pt>
                <c:pt idx="73">
                  <c:v>0.448751</c:v>
                </c:pt>
                <c:pt idx="74">
                  <c:v>0.452007</c:v>
                </c:pt>
                <c:pt idx="75">
                  <c:v>0.458129</c:v>
                </c:pt>
                <c:pt idx="76">
                  <c:v>0.464534</c:v>
                </c:pt>
                <c:pt idx="77">
                  <c:v>0.469818</c:v>
                </c:pt>
                <c:pt idx="78">
                  <c:v>0.476815</c:v>
                </c:pt>
                <c:pt idx="79">
                  <c:v>0.485655</c:v>
                </c:pt>
                <c:pt idx="80">
                  <c:v>0.494943</c:v>
                </c:pt>
                <c:pt idx="81">
                  <c:v>0.503145</c:v>
                </c:pt>
                <c:pt idx="82">
                  <c:v>0.511786</c:v>
                </c:pt>
                <c:pt idx="83">
                  <c:v>0.520902</c:v>
                </c:pt>
                <c:pt idx="84">
                  <c:v>0.52883</c:v>
                </c:pt>
                <c:pt idx="85">
                  <c:v>0.535463</c:v>
                </c:pt>
                <c:pt idx="86">
                  <c:v>0.538879</c:v>
                </c:pt>
                <c:pt idx="87">
                  <c:v>0.549963</c:v>
                </c:pt>
                <c:pt idx="88">
                  <c:v>0.548288</c:v>
                </c:pt>
                <c:pt idx="89">
                  <c:v>0.562401</c:v>
                </c:pt>
                <c:pt idx="90">
                  <c:v>0.571311</c:v>
                </c:pt>
                <c:pt idx="91">
                  <c:v>0.582979</c:v>
                </c:pt>
                <c:pt idx="92">
                  <c:v>0.584473</c:v>
                </c:pt>
                <c:pt idx="93">
                  <c:v>0.576923</c:v>
                </c:pt>
                <c:pt idx="94">
                  <c:v>0.566397</c:v>
                </c:pt>
                <c:pt idx="95">
                  <c:v>0.562438</c:v>
                </c:pt>
                <c:pt idx="96">
                  <c:v>0.568475</c:v>
                </c:pt>
                <c:pt idx="97">
                  <c:v>0.526458</c:v>
                </c:pt>
                <c:pt idx="98">
                  <c:v>0.449406</c:v>
                </c:pt>
                <c:pt idx="99">
                  <c:v>0.314353</c:v>
                </c:pt>
                <c:pt idx="100">
                  <c:v>0.084217</c:v>
                </c:pt>
                <c:pt idx="101">
                  <c:v>0.003171</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7E0DE"/>
              </a:solidFill>
            </a:ln>
          </c:spPr>
        </c:majorGridlines>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Decision threshold</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valAx>
      <c:spPr>
        <a:solidFill xmlns:a="http://schemas.openxmlformats.org/drawingml/2006/main">
          <a:srgbClr val="F5F4E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Calibri"/>
              <a:ea typeface="Calibri"/>
              <a:cs typeface="Calibri"/>
            </a:defRPr>
          </a:pPr>
        </a:p>
      </c:txPr>
    </c:legend>
    <c:plotVisOnly val="1"/>
  </c:chart>
  <c:spPr>
    <a:solidFill xmlns:a="http://schemas.openxmlformats.org/drawingml/2006/main">
      <a:srgbClr val="F5F4EF"/>
    </a:solidFill>
  </c:spPr>
</c:chartSpace>
</file>

<file path=ppt/slides/charts/chart4.xml><?xml version="1.0" encoding="utf-8"?>
<c:chartSpace xmlns:c="http://schemas.openxmlformats.org/drawingml/2006/chart">
  <c:lang val="en-US"/>
  <c:chart>
    <c:plotArea>
      <c:scatterChart>
        <c:scatterStyle val="line"/>
        <c:varyColors val="0"/>
        <c:ser>
          <c:idx val="0"/>
          <c:order val="0"/>
          <c:tx>
            <c:v>Precision-recall</c:v>
          </c:tx>
          <c:spPr>
            <a:ln xmlns:a="http://schemas.openxmlformats.org/drawingml/2006/main" w="28575">
              <a:solidFill>
                <a:srgbClr val="007F78"/>
              </a:solidFill>
            </a:ln>
          </c:spPr>
          <c:marker>
            <c:symbol val="none"/>
          </c:marker>
          <c:xVal>
            <c:numRef>
              <c:f>'Chart Data'!$A$2:$A$93</c:f>
              <c:numCache>
                <c:formatCode>General</c:formatCode>
                <c:ptCount val="92"/>
                <c:pt idx="0">
                  <c:v>1</c:v>
                </c:pt>
                <c:pt idx="1">
                  <c:v>1</c:v>
                </c:pt>
                <c:pt idx="2">
                  <c:v>1</c:v>
                </c:pt>
                <c:pt idx="3">
                  <c:v>1</c:v>
                </c:pt>
                <c:pt idx="4">
                  <c:v>1</c:v>
                </c:pt>
                <c:pt idx="5">
                  <c:v>1</c:v>
                </c:pt>
                <c:pt idx="6">
                  <c:v>1</c:v>
                </c:pt>
                <c:pt idx="7">
                  <c:v>1</c:v>
                </c:pt>
                <c:pt idx="8">
                  <c:v>1</c:v>
                </c:pt>
                <c:pt idx="9">
                  <c:v>1</c:v>
                </c:pt>
                <c:pt idx="10">
                  <c:v>1</c:v>
                </c:pt>
                <c:pt idx="11">
                  <c:v>1</c:v>
                </c:pt>
                <c:pt idx="12">
                  <c:v>1</c:v>
                </c:pt>
                <c:pt idx="13">
                  <c:v>1</c:v>
                </c:pt>
                <c:pt idx="14">
                  <c:v>1</c:v>
                </c:pt>
                <c:pt idx="15">
                  <c:v>1</c:v>
                </c:pt>
                <c:pt idx="16">
                  <c:v>1</c:v>
                </c:pt>
                <c:pt idx="17">
                  <c:v>1</c:v>
                </c:pt>
                <c:pt idx="18">
                  <c:v>1</c:v>
                </c:pt>
                <c:pt idx="19">
                  <c:v>1</c:v>
                </c:pt>
                <c:pt idx="20">
                  <c:v>1</c:v>
                </c:pt>
                <c:pt idx="21">
                  <c:v>1</c:v>
                </c:pt>
                <c:pt idx="22">
                  <c:v>1</c:v>
                </c:pt>
                <c:pt idx="23">
                  <c:v>1</c:v>
                </c:pt>
                <c:pt idx="24">
                  <c:v>1</c:v>
                </c:pt>
                <c:pt idx="25">
                  <c:v>1</c:v>
                </c:pt>
                <c:pt idx="26">
                  <c:v>1</c:v>
                </c:pt>
                <c:pt idx="27">
                  <c:v>1</c:v>
                </c:pt>
                <c:pt idx="28">
                  <c:v>1</c:v>
                </c:pt>
                <c:pt idx="29">
                  <c:v>1</c:v>
                </c:pt>
                <c:pt idx="30">
                  <c:v>1</c:v>
                </c:pt>
                <c:pt idx="31">
                  <c:v>1</c:v>
                </c:pt>
                <c:pt idx="32">
                  <c:v>1</c:v>
                </c:pt>
                <c:pt idx="33">
                  <c:v>1</c:v>
                </c:pt>
                <c:pt idx="34">
                  <c:v>1</c:v>
                </c:pt>
                <c:pt idx="35">
                  <c:v>1</c:v>
                </c:pt>
                <c:pt idx="36">
                  <c:v>1</c:v>
                </c:pt>
                <c:pt idx="37">
                  <c:v>1</c:v>
                </c:pt>
                <c:pt idx="38">
                  <c:v>1</c:v>
                </c:pt>
                <c:pt idx="39">
                  <c:v>1</c:v>
                </c:pt>
                <c:pt idx="40">
                  <c:v>1</c:v>
                </c:pt>
                <c:pt idx="41">
                  <c:v>1</c:v>
                </c:pt>
                <c:pt idx="42">
                  <c:v>1</c:v>
                </c:pt>
                <c:pt idx="43">
                  <c:v>1</c:v>
                </c:pt>
                <c:pt idx="44">
                  <c:v>1</c:v>
                </c:pt>
                <c:pt idx="45">
                  <c:v>1</c:v>
                </c:pt>
                <c:pt idx="46">
                  <c:v>1</c:v>
                </c:pt>
                <c:pt idx="47">
                  <c:v>1</c:v>
                </c:pt>
                <c:pt idx="48">
                  <c:v>1</c:v>
                </c:pt>
                <c:pt idx="49">
                  <c:v>1</c:v>
                </c:pt>
                <c:pt idx="50">
                  <c:v>1</c:v>
                </c:pt>
                <c:pt idx="51">
                  <c:v>1</c:v>
                </c:pt>
                <c:pt idx="52">
                  <c:v>1</c:v>
                </c:pt>
                <c:pt idx="53">
                  <c:v>1</c:v>
                </c:pt>
                <c:pt idx="54">
                  <c:v>1</c:v>
                </c:pt>
                <c:pt idx="55">
                  <c:v>1</c:v>
                </c:pt>
                <c:pt idx="56">
                  <c:v>1</c:v>
                </c:pt>
                <c:pt idx="57">
                  <c:v>1</c:v>
                </c:pt>
                <c:pt idx="58">
                  <c:v>1</c:v>
                </c:pt>
                <c:pt idx="59">
                  <c:v>1</c:v>
                </c:pt>
                <c:pt idx="60">
                  <c:v>0.979798</c:v>
                </c:pt>
                <c:pt idx="61">
                  <c:v>0.979798</c:v>
                </c:pt>
                <c:pt idx="62">
                  <c:v>0.979798</c:v>
                </c:pt>
                <c:pt idx="63">
                  <c:v>0.979798</c:v>
                </c:pt>
                <c:pt idx="64">
                  <c:v>0.979798</c:v>
                </c:pt>
                <c:pt idx="65">
                  <c:v>0.979798</c:v>
                </c:pt>
                <c:pt idx="66">
                  <c:v>0.979798</c:v>
                </c:pt>
                <c:pt idx="67">
                  <c:v>0.979798</c:v>
                </c:pt>
                <c:pt idx="68">
                  <c:v>0.979798</c:v>
                </c:pt>
                <c:pt idx="69">
                  <c:v>0.979798</c:v>
                </c:pt>
                <c:pt idx="70">
                  <c:v>0.979798</c:v>
                </c:pt>
                <c:pt idx="71">
                  <c:v>0.959596</c:v>
                </c:pt>
                <c:pt idx="72">
                  <c:v>0.939394</c:v>
                </c:pt>
                <c:pt idx="73">
                  <c:v>0.939394</c:v>
                </c:pt>
                <c:pt idx="74">
                  <c:v>0.929293</c:v>
                </c:pt>
                <c:pt idx="75">
                  <c:v>0.919192</c:v>
                </c:pt>
                <c:pt idx="76">
                  <c:v>0.919192</c:v>
                </c:pt>
                <c:pt idx="77">
                  <c:v>0.909091</c:v>
                </c:pt>
                <c:pt idx="78">
                  <c:v>0.888889</c:v>
                </c:pt>
                <c:pt idx="79">
                  <c:v>0.878788</c:v>
                </c:pt>
                <c:pt idx="80">
                  <c:v>0.848485</c:v>
                </c:pt>
                <c:pt idx="81">
                  <c:v>0.838384</c:v>
                </c:pt>
                <c:pt idx="82">
                  <c:v>0.818182</c:v>
                </c:pt>
                <c:pt idx="83">
                  <c:v>0.808081</c:v>
                </c:pt>
                <c:pt idx="84">
                  <c:v>0.767677</c:v>
                </c:pt>
                <c:pt idx="85">
                  <c:v>0.747475</c:v>
                </c:pt>
                <c:pt idx="86">
                  <c:v>0.686869</c:v>
                </c:pt>
                <c:pt idx="87">
                  <c:v>0.626263</c:v>
                </c:pt>
                <c:pt idx="88">
                  <c:v>0.515152</c:v>
                </c:pt>
                <c:pt idx="89">
                  <c:v>0.353535</c:v>
                </c:pt>
                <c:pt idx="90">
                  <c:v>0.141414</c:v>
                </c:pt>
                <c:pt idx="91">
                  <c:v>0</c:v>
                </c:pt>
              </c:numCache>
            </c:numRef>
          </c:xVal>
          <c:yVal>
            <c:numRef>
              <c:f>'Chart Data'!$B$2:$B$93</c:f>
              <c:numCache>
                <c:formatCode>0.0</c:formatCode>
                <c:ptCount val="92"/>
                <c:pt idx="0">
                  <c:v>0.047505</c:v>
                </c:pt>
                <c:pt idx="1">
                  <c:v>0.048035</c:v>
                </c:pt>
                <c:pt idx="2">
                  <c:v>0.048577</c:v>
                </c:pt>
                <c:pt idx="3">
                  <c:v>0.049132</c:v>
                </c:pt>
                <c:pt idx="4">
                  <c:v>0.049699</c:v>
                </c:pt>
                <c:pt idx="5">
                  <c:v>0.050279</c:v>
                </c:pt>
                <c:pt idx="6">
                  <c:v>0.050874</c:v>
                </c:pt>
                <c:pt idx="7">
                  <c:v>0.051482</c:v>
                </c:pt>
                <c:pt idx="8">
                  <c:v>0.052105</c:v>
                </c:pt>
                <c:pt idx="9">
                  <c:v>0.052744</c:v>
                </c:pt>
                <c:pt idx="10">
                  <c:v>0.053398</c:v>
                </c:pt>
                <c:pt idx="11">
                  <c:v>0.054069</c:v>
                </c:pt>
                <c:pt idx="12">
                  <c:v>0.054757</c:v>
                </c:pt>
                <c:pt idx="13">
                  <c:v>0.055462</c:v>
                </c:pt>
                <c:pt idx="14">
                  <c:v>0.056186</c:v>
                </c:pt>
                <c:pt idx="15">
                  <c:v>0.056929</c:v>
                </c:pt>
                <c:pt idx="16">
                  <c:v>0.057692</c:v>
                </c:pt>
                <c:pt idx="17">
                  <c:v>0.058476</c:v>
                </c:pt>
                <c:pt idx="18">
                  <c:v>0.059281</c:v>
                </c:pt>
                <c:pt idx="19">
                  <c:v>0.060109</c:v>
                </c:pt>
                <c:pt idx="20">
                  <c:v>0.060961</c:v>
                </c:pt>
                <c:pt idx="21">
                  <c:v>0.061836</c:v>
                </c:pt>
                <c:pt idx="22">
                  <c:v>0.062738</c:v>
                </c:pt>
                <c:pt idx="23">
                  <c:v>0.063666</c:v>
                </c:pt>
                <c:pt idx="24">
                  <c:v>0.064621</c:v>
                </c:pt>
                <c:pt idx="25">
                  <c:v>0.065606</c:v>
                </c:pt>
                <c:pt idx="26">
                  <c:v>0.066622</c:v>
                </c:pt>
                <c:pt idx="27">
                  <c:v>0.067669</c:v>
                </c:pt>
                <c:pt idx="28">
                  <c:v>0.06875</c:v>
                </c:pt>
                <c:pt idx="29">
                  <c:v>0.069866</c:v>
                </c:pt>
                <c:pt idx="30">
                  <c:v>0.071019</c:v>
                </c:pt>
                <c:pt idx="31">
                  <c:v>0.07221</c:v>
                </c:pt>
                <c:pt idx="32">
                  <c:v>0.073442</c:v>
                </c:pt>
                <c:pt idx="33">
                  <c:v>0.074717</c:v>
                </c:pt>
                <c:pt idx="34">
                  <c:v>0.076037</c:v>
                </c:pt>
                <c:pt idx="35">
                  <c:v>0.077404</c:v>
                </c:pt>
                <c:pt idx="36">
                  <c:v>0.078822</c:v>
                </c:pt>
                <c:pt idx="37">
                  <c:v>0.080292</c:v>
                </c:pt>
                <c:pt idx="38">
                  <c:v>0.081818</c:v>
                </c:pt>
                <c:pt idx="39">
                  <c:v>0.083404</c:v>
                </c:pt>
                <c:pt idx="40">
                  <c:v>0.085052</c:v>
                </c:pt>
                <c:pt idx="41">
                  <c:v>0.086766</c:v>
                </c:pt>
                <c:pt idx="42">
                  <c:v>0.088551</c:v>
                </c:pt>
                <c:pt idx="43">
                  <c:v>0.090411</c:v>
                </c:pt>
                <c:pt idx="44">
                  <c:v>0.092351</c:v>
                </c:pt>
                <c:pt idx="45">
                  <c:v>0.094376</c:v>
                </c:pt>
                <c:pt idx="46">
                  <c:v>0.096491</c:v>
                </c:pt>
                <c:pt idx="47">
                  <c:v>0.098704</c:v>
                </c:pt>
                <c:pt idx="48">
                  <c:v>0.10102</c:v>
                </c:pt>
                <c:pt idx="49">
                  <c:v>0.103448</c:v>
                </c:pt>
                <c:pt idx="50">
                  <c:v>0.105996</c:v>
                </c:pt>
                <c:pt idx="51">
                  <c:v>0.108672</c:v>
                </c:pt>
                <c:pt idx="52">
                  <c:v>0.111486</c:v>
                </c:pt>
                <c:pt idx="53">
                  <c:v>0.114451</c:v>
                </c:pt>
                <c:pt idx="54">
                  <c:v>0.117577</c:v>
                </c:pt>
                <c:pt idx="55">
                  <c:v>0.120879</c:v>
                </c:pt>
                <c:pt idx="56">
                  <c:v>0.124372</c:v>
                </c:pt>
                <c:pt idx="57">
                  <c:v>0.128072</c:v>
                </c:pt>
                <c:pt idx="58">
                  <c:v>0.132</c:v>
                </c:pt>
                <c:pt idx="59">
                  <c:v>0.136176</c:v>
                </c:pt>
                <c:pt idx="60">
                  <c:v>0.137784</c:v>
                </c:pt>
                <c:pt idx="61">
                  <c:v>0.142438</c:v>
                </c:pt>
                <c:pt idx="62">
                  <c:v>0.147416</c:v>
                </c:pt>
                <c:pt idx="63">
                  <c:v>0.152756</c:v>
                </c:pt>
                <c:pt idx="64">
                  <c:v>0.158497</c:v>
                </c:pt>
                <c:pt idx="65">
                  <c:v>0.164686</c:v>
                </c:pt>
                <c:pt idx="66">
                  <c:v>0.171378</c:v>
                </c:pt>
                <c:pt idx="67">
                  <c:v>0.178637</c:v>
                </c:pt>
                <c:pt idx="68">
                  <c:v>0.186538</c:v>
                </c:pt>
                <c:pt idx="69">
                  <c:v>0.195171</c:v>
                </c:pt>
                <c:pt idx="70">
                  <c:v>0.204641</c:v>
                </c:pt>
                <c:pt idx="71">
                  <c:v>0.210643</c:v>
                </c:pt>
                <c:pt idx="72">
                  <c:v>0.21729</c:v>
                </c:pt>
                <c:pt idx="73">
                  <c:v>0.22963</c:v>
                </c:pt>
                <c:pt idx="74">
                  <c:v>0.240838</c:v>
                </c:pt>
                <c:pt idx="75">
                  <c:v>0.253482</c:v>
                </c:pt>
                <c:pt idx="76">
                  <c:v>0.270833</c:v>
                </c:pt>
                <c:pt idx="77">
                  <c:v>0.28754</c:v>
                </c:pt>
                <c:pt idx="78">
                  <c:v>0.303448</c:v>
                </c:pt>
                <c:pt idx="79">
                  <c:v>0.325843</c:v>
                </c:pt>
                <c:pt idx="80">
                  <c:v>0.344262</c:v>
                </c:pt>
                <c:pt idx="81">
                  <c:v>0.375566</c:v>
                </c:pt>
                <c:pt idx="82">
                  <c:v>0.409091</c:v>
                </c:pt>
                <c:pt idx="83">
                  <c:v>0.457143</c:v>
                </c:pt>
                <c:pt idx="84">
                  <c:v>0.5</c:v>
                </c:pt>
                <c:pt idx="85">
                  <c:v>0.573643</c:v>
                </c:pt>
                <c:pt idx="86">
                  <c:v>0.641509</c:v>
                </c:pt>
                <c:pt idx="87">
                  <c:v>0.746988</c:v>
                </c:pt>
                <c:pt idx="88">
                  <c:v>0.85</c:v>
                </c:pt>
                <c:pt idx="89">
                  <c:v>0.945946</c:v>
                </c:pt>
                <c:pt idx="90">
                  <c:v>1</c:v>
                </c:pt>
                <c:pt idx="91">
                  <c:v>1</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7E0DE"/>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Precision</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Recall</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valAx>
      <c:spPr>
        <a:solidFill xmlns:a="http://schemas.openxmlformats.org/drawingml/2006/main">
          <a:srgbClr val="F5F4EF"/>
        </a:solidFill>
      </c:spPr>
    </c:plotArea>
    <c:plotVisOnly val="1"/>
  </c:chart>
  <c:spPr>
    <a:solidFill xmlns:a="http://schemas.openxmlformats.org/drawingml/2006/main">
      <a:srgbClr val="F5F4EF"/>
    </a:solidFill>
  </c:spPr>
</c:chartSpace>
</file>

<file path=ppt/slides/charts/chart5.xml><?xml version="1.0" encoding="utf-8"?>
<c:chartSpace xmlns:c="http://schemas.openxmlformats.org/drawingml/2006/chart">
  <c:lang val="en-US"/>
  <c:chart>
    <c:plotArea>
      <c:scatterChart>
        <c:scatterStyle val="line"/>
        <c:varyColors val="0"/>
        <c:ser>
          <c:idx val="0"/>
          <c:order val="0"/>
          <c:tx>
            <c:v>ROC</c:v>
          </c:tx>
          <c:spPr>
            <a:ln xmlns:a="http://schemas.openxmlformats.org/drawingml/2006/main" w="28575">
              <a:solidFill>
                <a:srgbClr val="007F78"/>
              </a:solidFill>
            </a:ln>
          </c:spPr>
          <c:marker>
            <c:symbol val="none"/>
          </c:marker>
          <c:xVal>
            <c:numRef>
              <c:f>'Chart Data'!$A$2:$A$93</c:f>
              <c:numCache>
                <c:formatCode>General</c:formatCode>
                <c:ptCount val="92"/>
                <c:pt idx="0">
                  <c:v>0</c:v>
                </c:pt>
                <c:pt idx="1">
                  <c:v>0</c:v>
                </c:pt>
                <c:pt idx="2">
                  <c:v>0</c:v>
                </c:pt>
                <c:pt idx="3">
                  <c:v>0.000504</c:v>
                </c:pt>
                <c:pt idx="4">
                  <c:v>0.000504</c:v>
                </c:pt>
                <c:pt idx="5">
                  <c:v>0.001008</c:v>
                </c:pt>
                <c:pt idx="6">
                  <c:v>0.001008</c:v>
                </c:pt>
                <c:pt idx="7">
                  <c:v>0.001511</c:v>
                </c:pt>
                <c:pt idx="8">
                  <c:v>0.001511</c:v>
                </c:pt>
                <c:pt idx="9">
                  <c:v>0.002015</c:v>
                </c:pt>
                <c:pt idx="10">
                  <c:v>0.002015</c:v>
                </c:pt>
                <c:pt idx="11">
                  <c:v>0.003526</c:v>
                </c:pt>
                <c:pt idx="12">
                  <c:v>0.003526</c:v>
                </c:pt>
                <c:pt idx="13">
                  <c:v>0.005038</c:v>
                </c:pt>
                <c:pt idx="14">
                  <c:v>0.005038</c:v>
                </c:pt>
                <c:pt idx="15">
                  <c:v>0.005542</c:v>
                </c:pt>
                <c:pt idx="16">
                  <c:v>0.005542</c:v>
                </c:pt>
                <c:pt idx="17">
                  <c:v>0.006045</c:v>
                </c:pt>
                <c:pt idx="18">
                  <c:v>0.006045</c:v>
                </c:pt>
                <c:pt idx="19">
                  <c:v>0.007053</c:v>
                </c:pt>
                <c:pt idx="20">
                  <c:v>0.007053</c:v>
                </c:pt>
                <c:pt idx="21">
                  <c:v>0.00806</c:v>
                </c:pt>
                <c:pt idx="22">
                  <c:v>0.00806</c:v>
                </c:pt>
                <c:pt idx="23">
                  <c:v>0.008564</c:v>
                </c:pt>
                <c:pt idx="24">
                  <c:v>0.008564</c:v>
                </c:pt>
                <c:pt idx="25">
                  <c:v>0.010076</c:v>
                </c:pt>
                <c:pt idx="26">
                  <c:v>0.010076</c:v>
                </c:pt>
                <c:pt idx="27">
                  <c:v>0.011083</c:v>
                </c:pt>
                <c:pt idx="28">
                  <c:v>0.011083</c:v>
                </c:pt>
                <c:pt idx="29">
                  <c:v>0.013602</c:v>
                </c:pt>
                <c:pt idx="30">
                  <c:v>0.013602</c:v>
                </c:pt>
                <c:pt idx="31">
                  <c:v>0.01461</c:v>
                </c:pt>
                <c:pt idx="32">
                  <c:v>0.01461</c:v>
                </c:pt>
                <c:pt idx="33">
                  <c:v>0.015617</c:v>
                </c:pt>
                <c:pt idx="34">
                  <c:v>0.015617</c:v>
                </c:pt>
                <c:pt idx="35">
                  <c:v>0.017632</c:v>
                </c:pt>
                <c:pt idx="36">
                  <c:v>0.017632</c:v>
                </c:pt>
                <c:pt idx="37">
                  <c:v>0.019144</c:v>
                </c:pt>
                <c:pt idx="38">
                  <c:v>0.019144</c:v>
                </c:pt>
                <c:pt idx="39">
                  <c:v>0.023678</c:v>
                </c:pt>
                <c:pt idx="40">
                  <c:v>0.023678</c:v>
                </c:pt>
                <c:pt idx="41">
                  <c:v>0.026196</c:v>
                </c:pt>
                <c:pt idx="42">
                  <c:v>0.026196</c:v>
                </c:pt>
                <c:pt idx="43">
                  <c:v>0.027204</c:v>
                </c:pt>
                <c:pt idx="44">
                  <c:v>0.027204</c:v>
                </c:pt>
                <c:pt idx="45">
                  <c:v>0.035768</c:v>
                </c:pt>
                <c:pt idx="46">
                  <c:v>0.035768</c:v>
                </c:pt>
                <c:pt idx="47">
                  <c:v>0.038287</c:v>
                </c:pt>
                <c:pt idx="48">
                  <c:v>0.038287</c:v>
                </c:pt>
                <c:pt idx="49">
                  <c:v>0.042821</c:v>
                </c:pt>
                <c:pt idx="50">
                  <c:v>0.042821</c:v>
                </c:pt>
                <c:pt idx="51">
                  <c:v>0.044332</c:v>
                </c:pt>
                <c:pt idx="52">
                  <c:v>0.044332</c:v>
                </c:pt>
                <c:pt idx="53">
                  <c:v>0.045844</c:v>
                </c:pt>
                <c:pt idx="54">
                  <c:v>0.045844</c:v>
                </c:pt>
                <c:pt idx="55">
                  <c:v>0.056927</c:v>
                </c:pt>
                <c:pt idx="56">
                  <c:v>0.056927</c:v>
                </c:pt>
                <c:pt idx="57">
                  <c:v>0.061965</c:v>
                </c:pt>
                <c:pt idx="58">
                  <c:v>0.061965</c:v>
                </c:pt>
                <c:pt idx="59">
                  <c:v>0.069018</c:v>
                </c:pt>
                <c:pt idx="60">
                  <c:v>0.069018</c:v>
                </c:pt>
                <c:pt idx="61">
                  <c:v>0.075567</c:v>
                </c:pt>
                <c:pt idx="62">
                  <c:v>0.075567</c:v>
                </c:pt>
                <c:pt idx="63">
                  <c:v>0.081612</c:v>
                </c:pt>
                <c:pt idx="64">
                  <c:v>0.081612</c:v>
                </c:pt>
                <c:pt idx="65">
                  <c:v>0.08665</c:v>
                </c:pt>
                <c:pt idx="66">
                  <c:v>0.08665</c:v>
                </c:pt>
                <c:pt idx="67">
                  <c:v>0.087154</c:v>
                </c:pt>
                <c:pt idx="68">
                  <c:v>0.087154</c:v>
                </c:pt>
                <c:pt idx="69">
                  <c:v>0.09068</c:v>
                </c:pt>
                <c:pt idx="70">
                  <c:v>0.09068</c:v>
                </c:pt>
                <c:pt idx="71">
                  <c:v>0.107305</c:v>
                </c:pt>
                <c:pt idx="72">
                  <c:v>0.107305</c:v>
                </c:pt>
                <c:pt idx="73">
                  <c:v>0.107809</c:v>
                </c:pt>
                <c:pt idx="74">
                  <c:v>0.107809</c:v>
                </c:pt>
                <c:pt idx="75">
                  <c:v>0.116877</c:v>
                </c:pt>
                <c:pt idx="76">
                  <c:v>0.116877</c:v>
                </c:pt>
                <c:pt idx="77">
                  <c:v>0.144584</c:v>
                </c:pt>
                <c:pt idx="78">
                  <c:v>0.144584</c:v>
                </c:pt>
                <c:pt idx="79">
                  <c:v>0.150126</c:v>
                </c:pt>
                <c:pt idx="80">
                  <c:v>0.150126</c:v>
                </c:pt>
                <c:pt idx="81">
                  <c:v>0.1733</c:v>
                </c:pt>
                <c:pt idx="82">
                  <c:v>0.1733</c:v>
                </c:pt>
                <c:pt idx="83">
                  <c:v>0.175315</c:v>
                </c:pt>
                <c:pt idx="84">
                  <c:v>0.175315</c:v>
                </c:pt>
                <c:pt idx="85">
                  <c:v>0.186398</c:v>
                </c:pt>
                <c:pt idx="86">
                  <c:v>0.186398</c:v>
                </c:pt>
                <c:pt idx="87">
                  <c:v>0.312846</c:v>
                </c:pt>
                <c:pt idx="88">
                  <c:v>0.312846</c:v>
                </c:pt>
                <c:pt idx="89">
                  <c:v>0.315365</c:v>
                </c:pt>
                <c:pt idx="90">
                  <c:v>0.315365</c:v>
                </c:pt>
                <c:pt idx="91">
                  <c:v>1</c:v>
                </c:pt>
              </c:numCache>
            </c:numRef>
          </c:xVal>
          <c:yVal>
            <c:numRef>
              <c:f>'Chart Data'!$B$2:$B$93</c:f>
              <c:numCache>
                <c:formatCode>0.0</c:formatCode>
                <c:ptCount val="92"/>
                <c:pt idx="0">
                  <c:v>0</c:v>
                </c:pt>
                <c:pt idx="1">
                  <c:v>0.010101</c:v>
                </c:pt>
                <c:pt idx="2">
                  <c:v>0.242424</c:v>
                </c:pt>
                <c:pt idx="3">
                  <c:v>0.242424</c:v>
                </c:pt>
                <c:pt idx="4">
                  <c:v>0.353535</c:v>
                </c:pt>
                <c:pt idx="5">
                  <c:v>0.353535</c:v>
                </c:pt>
                <c:pt idx="6">
                  <c:v>0.414141</c:v>
                </c:pt>
                <c:pt idx="7">
                  <c:v>0.414141</c:v>
                </c:pt>
                <c:pt idx="8">
                  <c:v>0.464646</c:v>
                </c:pt>
                <c:pt idx="9">
                  <c:v>0.464646</c:v>
                </c:pt>
                <c:pt idx="10">
                  <c:v>0.474747</c:v>
                </c:pt>
                <c:pt idx="11">
                  <c:v>0.474747</c:v>
                </c:pt>
                <c:pt idx="12">
                  <c:v>0.515152</c:v>
                </c:pt>
                <c:pt idx="13">
                  <c:v>0.515152</c:v>
                </c:pt>
                <c:pt idx="14">
                  <c:v>0.525253</c:v>
                </c:pt>
                <c:pt idx="15">
                  <c:v>0.525253</c:v>
                </c:pt>
                <c:pt idx="16">
                  <c:v>0.535354</c:v>
                </c:pt>
                <c:pt idx="17">
                  <c:v>0.535354</c:v>
                </c:pt>
                <c:pt idx="18">
                  <c:v>0.565657</c:v>
                </c:pt>
                <c:pt idx="19">
                  <c:v>0.565657</c:v>
                </c:pt>
                <c:pt idx="20">
                  <c:v>0.575758</c:v>
                </c:pt>
                <c:pt idx="21">
                  <c:v>0.575758</c:v>
                </c:pt>
                <c:pt idx="22">
                  <c:v>0.585859</c:v>
                </c:pt>
                <c:pt idx="23">
                  <c:v>0.585859</c:v>
                </c:pt>
                <c:pt idx="24">
                  <c:v>0.616162</c:v>
                </c:pt>
                <c:pt idx="25">
                  <c:v>0.616162</c:v>
                </c:pt>
                <c:pt idx="26">
                  <c:v>0.626263</c:v>
                </c:pt>
                <c:pt idx="27">
                  <c:v>0.626263</c:v>
                </c:pt>
                <c:pt idx="28">
                  <c:v>0.636364</c:v>
                </c:pt>
                <c:pt idx="29">
                  <c:v>0.636364</c:v>
                </c:pt>
                <c:pt idx="30">
                  <c:v>0.646465</c:v>
                </c:pt>
                <c:pt idx="31">
                  <c:v>0.646465</c:v>
                </c:pt>
                <c:pt idx="32">
                  <c:v>0.656566</c:v>
                </c:pt>
                <c:pt idx="33">
                  <c:v>0.656566</c:v>
                </c:pt>
                <c:pt idx="34">
                  <c:v>0.666667</c:v>
                </c:pt>
                <c:pt idx="35">
                  <c:v>0.666667</c:v>
                </c:pt>
                <c:pt idx="36">
                  <c:v>0.686869</c:v>
                </c:pt>
                <c:pt idx="37">
                  <c:v>0.686869</c:v>
                </c:pt>
                <c:pt idx="38">
                  <c:v>0.69697</c:v>
                </c:pt>
                <c:pt idx="39">
                  <c:v>0.69697</c:v>
                </c:pt>
                <c:pt idx="40">
                  <c:v>0.707071</c:v>
                </c:pt>
                <c:pt idx="41">
                  <c:v>0.707071</c:v>
                </c:pt>
                <c:pt idx="42">
                  <c:v>0.727273</c:v>
                </c:pt>
                <c:pt idx="43">
                  <c:v>0.727273</c:v>
                </c:pt>
                <c:pt idx="44">
                  <c:v>0.747475</c:v>
                </c:pt>
                <c:pt idx="45">
                  <c:v>0.747475</c:v>
                </c:pt>
                <c:pt idx="46">
                  <c:v>0.757576</c:v>
                </c:pt>
                <c:pt idx="47">
                  <c:v>0.757576</c:v>
                </c:pt>
                <c:pt idx="48">
                  <c:v>0.767677</c:v>
                </c:pt>
                <c:pt idx="49">
                  <c:v>0.767677</c:v>
                </c:pt>
                <c:pt idx="50">
                  <c:v>0.777778</c:v>
                </c:pt>
                <c:pt idx="51">
                  <c:v>0.777778</c:v>
                </c:pt>
                <c:pt idx="52">
                  <c:v>0.787879</c:v>
                </c:pt>
                <c:pt idx="53">
                  <c:v>0.787879</c:v>
                </c:pt>
                <c:pt idx="54">
                  <c:v>0.808081</c:v>
                </c:pt>
                <c:pt idx="55">
                  <c:v>0.808081</c:v>
                </c:pt>
                <c:pt idx="56">
                  <c:v>0.818182</c:v>
                </c:pt>
                <c:pt idx="57">
                  <c:v>0.818182</c:v>
                </c:pt>
                <c:pt idx="58">
                  <c:v>0.828283</c:v>
                </c:pt>
                <c:pt idx="59">
                  <c:v>0.828283</c:v>
                </c:pt>
                <c:pt idx="60">
                  <c:v>0.838384</c:v>
                </c:pt>
                <c:pt idx="61">
                  <c:v>0.838384</c:v>
                </c:pt>
                <c:pt idx="62">
                  <c:v>0.848485</c:v>
                </c:pt>
                <c:pt idx="63">
                  <c:v>0.848485</c:v>
                </c:pt>
                <c:pt idx="64">
                  <c:v>0.858586</c:v>
                </c:pt>
                <c:pt idx="65">
                  <c:v>0.858586</c:v>
                </c:pt>
                <c:pt idx="66">
                  <c:v>0.868687</c:v>
                </c:pt>
                <c:pt idx="67">
                  <c:v>0.868687</c:v>
                </c:pt>
                <c:pt idx="68">
                  <c:v>0.878788</c:v>
                </c:pt>
                <c:pt idx="69">
                  <c:v>0.878788</c:v>
                </c:pt>
                <c:pt idx="70">
                  <c:v>0.888889</c:v>
                </c:pt>
                <c:pt idx="71">
                  <c:v>0.888889</c:v>
                </c:pt>
                <c:pt idx="72">
                  <c:v>0.89899</c:v>
                </c:pt>
                <c:pt idx="73">
                  <c:v>0.89899</c:v>
                </c:pt>
                <c:pt idx="74">
                  <c:v>0.909091</c:v>
                </c:pt>
                <c:pt idx="75">
                  <c:v>0.909091</c:v>
                </c:pt>
                <c:pt idx="76">
                  <c:v>0.919192</c:v>
                </c:pt>
                <c:pt idx="77">
                  <c:v>0.919192</c:v>
                </c:pt>
                <c:pt idx="78">
                  <c:v>0.929293</c:v>
                </c:pt>
                <c:pt idx="79">
                  <c:v>0.929293</c:v>
                </c:pt>
                <c:pt idx="80">
                  <c:v>0.939394</c:v>
                </c:pt>
                <c:pt idx="81">
                  <c:v>0.939394</c:v>
                </c:pt>
                <c:pt idx="82">
                  <c:v>0.949495</c:v>
                </c:pt>
                <c:pt idx="83">
                  <c:v>0.949495</c:v>
                </c:pt>
                <c:pt idx="84">
                  <c:v>0.959596</c:v>
                </c:pt>
                <c:pt idx="85">
                  <c:v>0.959596</c:v>
                </c:pt>
                <c:pt idx="86">
                  <c:v>0.979798</c:v>
                </c:pt>
                <c:pt idx="87">
                  <c:v>0.979798</c:v>
                </c:pt>
                <c:pt idx="88">
                  <c:v>0.989899</c:v>
                </c:pt>
                <c:pt idx="89">
                  <c:v>0.989899</c:v>
                </c:pt>
                <c:pt idx="90">
                  <c:v>1</c:v>
                </c:pt>
                <c:pt idx="91">
                  <c:v>1</c:v>
                </c:pt>
              </c:numCache>
            </c:numRef>
          </c:yVal>
        </c:ser>
        <c:dLbls>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5715">
              <a:solidFill>
                <a:srgbClr val="D7E0DE"/>
              </a:solidFill>
            </a:ln>
          </c:spPr>
        </c:majorGridlines>
        <c:title>
          <c:tx>
            <c:rich>
              <a:bodyPr xmlns:a="http://schemas.openxmlformats.org/drawingml/2006/main"/>
              <a:lstStyle xmlns:a="http://schemas.openxmlformats.org/drawingml/2006/main"/>
              <a:p xmlns:a="http://schemas.openxmlformats.org/drawingml/2006/main">
                <a:r>
                  <a:rPr>
                    <a:latin typeface="Calibri"/>
                    <a:ea typeface="Calibri"/>
                    <a:cs typeface="Calibri"/>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Calibri"/>
                    <a:ea typeface="Calibri"/>
                    <a:cs typeface="Calibri"/>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Calibri"/>
                  <a:ea typeface="Calibri"/>
                  <a:cs typeface="Calibri"/>
                </a:defRPr>
              </a:pPr>
            </a:p>
          </c:txPr>
        </c:title>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valAx>
      <c:spPr>
        <a:solidFill xmlns:a="http://schemas.openxmlformats.org/drawingml/2006/main">
          <a:srgbClr val="F5F4EF"/>
        </a:solidFill>
      </c:spPr>
    </c:plotArea>
    <c:plotVisOnly val="1"/>
  </c:chart>
  <c:spPr>
    <a:solidFill xmlns:a="http://schemas.openxmlformats.org/drawingml/2006/main">
      <a:srgbClr val="F5F4EF"/>
    </a:solidFill>
  </c:spPr>
</c:chartSpace>
</file>

<file path=ppt/slides/charts/chart6.xml><?xml version="1.0" encoding="utf-8"?>
<c:chartSpace xmlns:c="http://schemas.openxmlformats.org/drawingml/2006/chart">
  <c:lang val="en-US"/>
  <c:chart>
    <c:plotArea>
      <c:barChart>
        <c:barDir val="bar"/>
        <c:grouping val="clustered"/>
        <c:varyColors val="0"/>
        <c:ser>
          <c:idx val="0"/>
          <c:order val="0"/>
          <c:tx>
            <c:v>Decrease in AP</c:v>
          </c:tx>
          <c:spPr>
            <a:solidFill xmlns:a="http://schemas.openxmlformats.org/drawingml/2006/main">
              <a:srgbClr val="007F78"/>
            </a:solidFill>
          </c:spPr>
          <c:cat>
            <c:strRef>
              <c:f>'Chart Data'!$A$2:$A$6</c:f>
              <c:strCache>
                <c:ptCount val="5"/>
                <c:pt idx="0">
                  <c:v>X27</c:v>
                </c:pt>
                <c:pt idx="1">
                  <c:v>X34</c:v>
                </c:pt>
                <c:pt idx="2">
                  <c:v>X46</c:v>
                </c:pt>
                <c:pt idx="3">
                  <c:v>X58</c:v>
                </c:pt>
                <c:pt idx="4">
                  <c:v>X21</c:v>
                </c:pt>
              </c:strCache>
            </c:strRef>
          </c:cat>
          <c:val>
            <c:numRef>
              <c:f>'Chart Data'!$B$2:$B$6</c:f>
              <c:numCache>
                <c:formatCode>0.0</c:formatCode>
                <c:ptCount val="5"/>
                <c:pt idx="0">
                  <c:v>0.546727</c:v>
                </c:pt>
                <c:pt idx="1">
                  <c:v>0.266484</c:v>
                </c:pt>
                <c:pt idx="2">
                  <c:v>0.140734</c:v>
                </c:pt>
                <c:pt idx="3">
                  <c:v>0.085162</c:v>
                </c:pt>
                <c:pt idx="4">
                  <c:v>0.072939</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75">
                  <a:solidFill>
                    <a:srgbClr val="142C42"/>
                  </a:solidFill>
                  <a:latin typeface="Calibri"/>
                  <a:ea typeface="Calibri"/>
                  <a:cs typeface="Calibri"/>
                </a:defRPr>
              </a:pPr>
            </a:p>
          </c:txPr>
          <c:dLblPos val="outEnd"/>
          <c:showLegendKey val="0"/>
          <c:showVal val="1"/>
          <c:showCatName val="0"/>
          <c:showSerName val="0"/>
          <c:showPercent val="0"/>
          <c:showBubbleSize val="0"/>
          <c:showLeaderLines val="0"/>
        </c:dLbls>
        <c:gapWidth val="58"/>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72768"/>
      </c:catAx>
      <c:valAx>
        <c:axId val="48672768"/>
        <c:scaling>
          <c:orientation val="minMax"/>
          <c:max val="0.65"/>
          <c:min val="0"/>
        </c:scaling>
        <c:delete val="0"/>
        <c:axPos val="b"/>
        <c:majorGridlines>
          <c:spPr>
            <a:ln xmlns:a="http://schemas.openxmlformats.org/drawingml/2006/main" w="5715">
              <a:solidFill>
                <a:srgbClr val="D7E0DE"/>
              </a:solidFill>
            </a:ln>
          </c:spPr>
        </c:majorGridlines>
        <c:numFmt formatCode="0.0"/>
        <c:majorTickMark val="none"/>
        <c:minorTickMark val="none"/>
        <c:spPr>
          <a:ln xmlns:a="http://schemas.openxmlformats.org/drawingml/2006/main" w="9525">
            <a:solidFill>
              <a:srgbClr val="D7E0DE"/>
            </a:solidFill>
          </a:ln>
        </c:spPr>
        <c:txPr>
          <a:bodyPr xmlns:a="http://schemas.openxmlformats.org/drawingml/2006/main" anchorCtr="1"/>
          <a:lstStyle xmlns:a="http://schemas.openxmlformats.org/drawingml/2006/main"/>
          <a:p xmlns:a="http://schemas.openxmlformats.org/drawingml/2006/main">
            <a:pPr>
              <a:defRPr sz="1500">
                <a:solidFill>
                  <a:srgbClr val="617384"/>
                </a:solidFill>
                <a:latin typeface="Calibri"/>
                <a:ea typeface="Calibri"/>
                <a:cs typeface="Calibri"/>
              </a:defRPr>
            </a:pPr>
          </a:p>
        </c:txPr>
        <c:crossAx val="48650112"/>
        <c:crossBetween val="between"/>
        <c:majorUnit val="0.1"/>
      </c:valAx>
      <c:spPr>
        <a:solidFill xmlns:a="http://schemas.openxmlformats.org/drawingml/2006/main">
          <a:srgbClr val="F5F4EF"/>
        </a:solidFill>
      </c:spPr>
    </c:plotArea>
    <c:plotVisOnly val="1"/>
  </c:chart>
  <c:spPr>
    <a:solidFill xmlns:a="http://schemas.openxmlformats.org/drawingml/2006/main">
      <a:srgbClr val="F5F4EF"/>
    </a:solidFill>
  </c:spPr>
</c:chartSpace>
</file>

<file path=ppt/slides/slide1.xml><?xml version="1.0" encoding="utf-8"?>
<p:sld xmlns:p="http://schemas.openxmlformats.org/presentationml/2006/main">
  <p:cSld>
    <p:bg>
      <p:bgPr>
        <a:solidFill xmlns:a="http://schemas.openxmlformats.org/drawingml/2006/main">
          <a:srgbClr val="142C4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C7C1A0C-799B-4205-8185-16A6AA2CF3EA}"/>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01</a:t>
            </a:r>
          </a:p>
        </p:txBody>
      </p:sp>
      <p:sp>
        <p:nvSpPr>
          <p:cNvPr id="2" name="">
            <a:extLst xmlns:a="http://schemas.openxmlformats.org/drawingml/2006/main">
              <a:ext uri="{FF2B5EF4-FFF2-40B4-BE49-F238E27FC236}">
                <a16:creationId xmlns:a16="http://schemas.microsoft.com/office/drawing/2014/main" id="{C29EC2E5-77FE-40A3-9FD5-0130C204744D}"/>
              </a:ext>
            </a:extLst>
          </p:cNvPr>
          <p:cNvSpPr>
            <a:spLocks xmlns:a="http://schemas.openxmlformats.org/drawingml/2006/main" noGrp="1"/>
          </p:cNvSpPr>
          <p:nvPr/>
        </p:nvSpPr>
        <p:spPr>
          <a:xfrm xmlns:a="http://schemas.openxmlformats.org/drawingml/2006/main">
            <a:off x="685800" y="6858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500" b="0">
                <a:solidFill>
                  <a:srgbClr val="9EC9C5"/>
                </a:solidFill>
                <a:latin typeface="Calibri"/>
                <a:ea typeface="Calibri"/>
                <a:cs typeface="Calibri"/>
              </a:defRPr>
            </a:defPPr>
            <a:lvl1pPr>
              <a:defRPr sz="1500" b="0">
                <a:solidFill>
                  <a:srgbClr val="9EC9C5"/>
                </a:solidFill>
                <a:latin typeface="Calibri"/>
                <a:ea typeface="Calibri"/>
                <a:cs typeface="Calibri"/>
              </a:defRPr>
            </a:lvl1pPr>
            <a:lvl2pPr>
              <a:defRPr sz="1500" b="0">
                <a:solidFill>
                  <a:srgbClr val="9EC9C5"/>
                </a:solidFill>
                <a:latin typeface="Calibri"/>
                <a:ea typeface="Calibri"/>
                <a:cs typeface="Calibri"/>
              </a:defRPr>
            </a:lvl2pPr>
            <a:lvl3pPr>
              <a:defRPr sz="1500" b="0">
                <a:solidFill>
                  <a:srgbClr val="9EC9C5"/>
                </a:solidFill>
                <a:latin typeface="Calibri"/>
                <a:ea typeface="Calibri"/>
                <a:cs typeface="Calibri"/>
              </a:defRPr>
            </a:lvl3pPr>
            <a:lvl4pPr>
              <a:defRPr sz="1500" b="0">
                <a:solidFill>
                  <a:srgbClr val="9EC9C5"/>
                </a:solidFill>
                <a:latin typeface="Calibri"/>
                <a:ea typeface="Calibri"/>
                <a:cs typeface="Calibri"/>
              </a:defRPr>
            </a:lvl4pPr>
            <a:lvl5pPr>
              <a:defRPr sz="1500" b="0">
                <a:solidFill>
                  <a:srgbClr val="9EC9C5"/>
                </a:solidFill>
                <a:latin typeface="Calibri"/>
                <a:ea typeface="Calibri"/>
                <a:cs typeface="Calibri"/>
              </a:defRPr>
            </a:lvl5pPr>
            <a:lvl6pPr>
              <a:defRPr sz="1500" b="0">
                <a:solidFill>
                  <a:srgbClr val="9EC9C5"/>
                </a:solidFill>
                <a:latin typeface="Calibri"/>
                <a:ea typeface="Calibri"/>
                <a:cs typeface="Calibri"/>
              </a:defRPr>
            </a:lvl6pPr>
            <a:lvl7pPr>
              <a:defRPr sz="1500" b="0">
                <a:solidFill>
                  <a:srgbClr val="9EC9C5"/>
                </a:solidFill>
                <a:latin typeface="Calibri"/>
                <a:ea typeface="Calibri"/>
                <a:cs typeface="Calibri"/>
              </a:defRPr>
            </a:lvl7pPr>
            <a:lvl8pPr>
              <a:defRPr sz="1500" b="0">
                <a:solidFill>
                  <a:srgbClr val="9EC9C5"/>
                </a:solidFill>
                <a:latin typeface="Calibri"/>
                <a:ea typeface="Calibri"/>
                <a:cs typeface="Calibri"/>
              </a:defRPr>
            </a:lvl8pPr>
            <a:lvl9pPr>
              <a:defRPr sz="1500" b="0">
                <a:solidFill>
                  <a:srgbClr val="9EC9C5"/>
                </a:solidFill>
                <a:latin typeface="Calibri"/>
                <a:ea typeface="Calibri"/>
                <a:cs typeface="Calibri"/>
              </a:defRPr>
            </a:lvl9pPr>
          </a:lstStyle>
          <a:p xmlns:a="http://schemas.openxmlformats.org/drawingml/2006/main">
            <a:pPr>
              <a:buNone/>
              <a:defRPr sz="1500" b="0">
                <a:solidFill>
                  <a:srgbClr val="9EC9C5"/>
                </a:solidFill>
                <a:latin typeface="Calibri"/>
                <a:ea typeface="Calibri"/>
                <a:cs typeface="Calibri"/>
              </a:defRPr>
            </a:pPr>
            <a:r>
              <a:rPr sz="1500" b="0">
                <a:solidFill>
                  <a:srgbClr val="9EC9C5"/>
                </a:solidFill>
                <a:latin typeface="Calibri"/>
                <a:ea typeface="Calibri"/>
                <a:cs typeface="Calibri"/>
              </a:rPr>
              <a:t>UE24CS352A  /  MACHINE LEARNING</a:t>
            </a:r>
          </a:p>
        </p:txBody>
      </p:sp>
      <p:sp>
        <p:nvSpPr>
          <p:cNvPr id="3" name="">
            <a:extLst xmlns:a="http://schemas.openxmlformats.org/drawingml/2006/main">
              <a:ext uri="{FF2B5EF4-FFF2-40B4-BE49-F238E27FC236}">
                <a16:creationId xmlns:a16="http://schemas.microsoft.com/office/drawing/2014/main" id="{C0B54109-3CAA-46E1-A0E7-40299D44D6E2}"/>
              </a:ext>
            </a:extLst>
          </p:cNvPr>
          <p:cNvSpPr>
            <a:spLocks xmlns:a="http://schemas.openxmlformats.org/drawingml/2006/main" noGrp="1"/>
          </p:cNvSpPr>
          <p:nvPr/>
        </p:nvSpPr>
        <p:spPr>
          <a:xfrm xmlns:a="http://schemas.openxmlformats.org/drawingml/2006/main">
            <a:off x="647700" y="1809750"/>
            <a:ext cx="10477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400" b="1">
                <a:solidFill>
                  <a:srgbClr val="FFFFFF"/>
                </a:solidFill>
                <a:latin typeface="Calibri"/>
                <a:ea typeface="Calibri"/>
                <a:cs typeface="Calibri"/>
              </a:defRPr>
            </a:defPPr>
            <a:lvl1pPr>
              <a:defRPr sz="5400" b="1">
                <a:solidFill>
                  <a:srgbClr val="FFFFFF"/>
                </a:solidFill>
                <a:latin typeface="Calibri"/>
                <a:ea typeface="Calibri"/>
                <a:cs typeface="Calibri"/>
              </a:defRPr>
            </a:lvl1pPr>
            <a:lvl2pPr>
              <a:defRPr sz="5400" b="1">
                <a:solidFill>
                  <a:srgbClr val="FFFFFF"/>
                </a:solidFill>
                <a:latin typeface="Calibri"/>
                <a:ea typeface="Calibri"/>
                <a:cs typeface="Calibri"/>
              </a:defRPr>
            </a:lvl2pPr>
            <a:lvl3pPr>
              <a:defRPr sz="5400" b="1">
                <a:solidFill>
                  <a:srgbClr val="FFFFFF"/>
                </a:solidFill>
                <a:latin typeface="Calibri"/>
                <a:ea typeface="Calibri"/>
                <a:cs typeface="Calibri"/>
              </a:defRPr>
            </a:lvl3pPr>
            <a:lvl4pPr>
              <a:defRPr sz="5400" b="1">
                <a:solidFill>
                  <a:srgbClr val="FFFFFF"/>
                </a:solidFill>
                <a:latin typeface="Calibri"/>
                <a:ea typeface="Calibri"/>
                <a:cs typeface="Calibri"/>
              </a:defRPr>
            </a:lvl4pPr>
            <a:lvl5pPr>
              <a:defRPr sz="5400" b="1">
                <a:solidFill>
                  <a:srgbClr val="FFFFFF"/>
                </a:solidFill>
                <a:latin typeface="Calibri"/>
                <a:ea typeface="Calibri"/>
                <a:cs typeface="Calibri"/>
              </a:defRPr>
            </a:lvl5pPr>
            <a:lvl6pPr>
              <a:defRPr sz="5400" b="1">
                <a:solidFill>
                  <a:srgbClr val="FFFFFF"/>
                </a:solidFill>
                <a:latin typeface="Calibri"/>
                <a:ea typeface="Calibri"/>
                <a:cs typeface="Calibri"/>
              </a:defRPr>
            </a:lvl6pPr>
            <a:lvl7pPr>
              <a:defRPr sz="5400" b="1">
                <a:solidFill>
                  <a:srgbClr val="FFFFFF"/>
                </a:solidFill>
                <a:latin typeface="Calibri"/>
                <a:ea typeface="Calibri"/>
                <a:cs typeface="Calibri"/>
              </a:defRPr>
            </a:lvl7pPr>
            <a:lvl8pPr>
              <a:defRPr sz="5400" b="1">
                <a:solidFill>
                  <a:srgbClr val="FFFFFF"/>
                </a:solidFill>
                <a:latin typeface="Calibri"/>
                <a:ea typeface="Calibri"/>
                <a:cs typeface="Calibri"/>
              </a:defRPr>
            </a:lvl8pPr>
            <a:lvl9pPr>
              <a:defRPr sz="5400" b="1">
                <a:solidFill>
                  <a:srgbClr val="FFFFFF"/>
                </a:solidFill>
                <a:latin typeface="Calibri"/>
                <a:ea typeface="Calibri"/>
                <a:cs typeface="Calibri"/>
              </a:defRPr>
            </a:lvl9pPr>
          </a:lstStyle>
          <a:p xmlns:a="http://schemas.openxmlformats.org/drawingml/2006/main">
            <a:pPr>
              <a:buNone/>
              <a:defRPr sz="5400" b="1">
                <a:solidFill>
                  <a:srgbClr val="FFFFFF"/>
                </a:solidFill>
                <a:latin typeface="Calibri"/>
                <a:ea typeface="Calibri"/>
                <a:cs typeface="Calibri"/>
              </a:defRPr>
            </a:pPr>
            <a:r>
              <a:rPr sz="5400" b="1">
                <a:solidFill>
                  <a:srgbClr val="FFFFFF"/>
                </a:solidFill>
                <a:latin typeface="Calibri"/>
                <a:ea typeface="Calibri"/>
                <a:cs typeface="Calibri"/>
              </a:rPr>
              <a:t>Corporate Bankruptcy</a:t>
            </a:r>
          </a:p>
          <a:p xmlns:a="http://schemas.openxmlformats.org/drawingml/2006/main">
            <a:pPr>
              <a:buNone/>
              <a:defRPr sz="5400" b="1">
                <a:solidFill>
                  <a:srgbClr val="FFFFFF"/>
                </a:solidFill>
                <a:latin typeface="Calibri"/>
                <a:ea typeface="Calibri"/>
                <a:cs typeface="Calibri"/>
              </a:defRPr>
            </a:pPr>
            <a:r>
              <a:rPr sz="5400" b="1">
                <a:solidFill>
                  <a:srgbClr val="FFFFFF"/>
                </a:solidFill>
                <a:latin typeface="Calibri"/>
                <a:ea typeface="Calibri"/>
                <a:cs typeface="Calibri"/>
              </a:rPr>
              <a:t>Prediction</a:t>
            </a:r>
          </a:p>
        </p:txBody>
      </p:sp>
      <p:sp>
        <p:nvSpPr>
          <p:cNvPr id="4" name="">
            <a:extLst xmlns:a="http://schemas.openxmlformats.org/drawingml/2006/main">
              <a:ext uri="{FF2B5EF4-FFF2-40B4-BE49-F238E27FC236}">
                <a16:creationId xmlns:a16="http://schemas.microsoft.com/office/drawing/2014/main" id="{87D8ACF8-CB98-4362-9EA5-05F42BE4074E}"/>
              </a:ext>
            </a:extLst>
          </p:cNvPr>
          <p:cNvSpPr>
            <a:spLocks xmlns:a="http://schemas.openxmlformats.org/drawingml/2006/main" noGrp="1"/>
          </p:cNvSpPr>
          <p:nvPr/>
        </p:nvSpPr>
        <p:spPr>
          <a:xfrm xmlns:a="http://schemas.openxmlformats.org/drawingml/2006/main">
            <a:off x="685800" y="3943350"/>
            <a:ext cx="10287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0">
                <a:solidFill>
                  <a:srgbClr val="CCDCDF"/>
                </a:solidFill>
                <a:latin typeface="Calibri"/>
                <a:ea typeface="Calibri"/>
                <a:cs typeface="Calibri"/>
              </a:defRPr>
            </a:defPPr>
            <a:lvl1pPr>
              <a:defRPr sz="2250" b="0">
                <a:solidFill>
                  <a:srgbClr val="CCDCDF"/>
                </a:solidFill>
                <a:latin typeface="Calibri"/>
                <a:ea typeface="Calibri"/>
                <a:cs typeface="Calibri"/>
              </a:defRPr>
            </a:lvl1pPr>
            <a:lvl2pPr>
              <a:defRPr sz="2250" b="0">
                <a:solidFill>
                  <a:srgbClr val="CCDCDF"/>
                </a:solidFill>
                <a:latin typeface="Calibri"/>
                <a:ea typeface="Calibri"/>
                <a:cs typeface="Calibri"/>
              </a:defRPr>
            </a:lvl2pPr>
            <a:lvl3pPr>
              <a:defRPr sz="2250" b="0">
                <a:solidFill>
                  <a:srgbClr val="CCDCDF"/>
                </a:solidFill>
                <a:latin typeface="Calibri"/>
                <a:ea typeface="Calibri"/>
                <a:cs typeface="Calibri"/>
              </a:defRPr>
            </a:lvl3pPr>
            <a:lvl4pPr>
              <a:defRPr sz="2250" b="0">
                <a:solidFill>
                  <a:srgbClr val="CCDCDF"/>
                </a:solidFill>
                <a:latin typeface="Calibri"/>
                <a:ea typeface="Calibri"/>
                <a:cs typeface="Calibri"/>
              </a:defRPr>
            </a:lvl4pPr>
            <a:lvl5pPr>
              <a:defRPr sz="2250" b="0">
                <a:solidFill>
                  <a:srgbClr val="CCDCDF"/>
                </a:solidFill>
                <a:latin typeface="Calibri"/>
                <a:ea typeface="Calibri"/>
                <a:cs typeface="Calibri"/>
              </a:defRPr>
            </a:lvl5pPr>
            <a:lvl6pPr>
              <a:defRPr sz="2250" b="0">
                <a:solidFill>
                  <a:srgbClr val="CCDCDF"/>
                </a:solidFill>
                <a:latin typeface="Calibri"/>
                <a:ea typeface="Calibri"/>
                <a:cs typeface="Calibri"/>
              </a:defRPr>
            </a:lvl6pPr>
            <a:lvl7pPr>
              <a:defRPr sz="2250" b="0">
                <a:solidFill>
                  <a:srgbClr val="CCDCDF"/>
                </a:solidFill>
                <a:latin typeface="Calibri"/>
                <a:ea typeface="Calibri"/>
                <a:cs typeface="Calibri"/>
              </a:defRPr>
            </a:lvl7pPr>
            <a:lvl8pPr>
              <a:defRPr sz="2250" b="0">
                <a:solidFill>
                  <a:srgbClr val="CCDCDF"/>
                </a:solidFill>
                <a:latin typeface="Calibri"/>
                <a:ea typeface="Calibri"/>
                <a:cs typeface="Calibri"/>
              </a:defRPr>
            </a:lvl8pPr>
            <a:lvl9pPr>
              <a:defRPr sz="2250" b="0">
                <a:solidFill>
                  <a:srgbClr val="CCDCDF"/>
                </a:solidFill>
                <a:latin typeface="Calibri"/>
                <a:ea typeface="Calibri"/>
                <a:cs typeface="Calibri"/>
              </a:defRPr>
            </a:lvl9pPr>
          </a:lstStyle>
          <a:p xmlns:a="http://schemas.openxmlformats.org/drawingml/2006/main">
            <a:pPr>
              <a:buNone/>
              <a:defRPr sz="2250" b="0">
                <a:solidFill>
                  <a:srgbClr val="CCDCDF"/>
                </a:solidFill>
                <a:latin typeface="Calibri"/>
                <a:ea typeface="Calibri"/>
                <a:cs typeface="Calibri"/>
              </a:defRPr>
            </a:pPr>
            <a:r>
              <a:rPr sz="2250" b="0">
                <a:solidFill>
                  <a:srgbClr val="CCDCDF"/>
                </a:solidFill>
                <a:latin typeface="Calibri"/>
                <a:ea typeface="Calibri"/>
                <a:cs typeface="Calibri"/>
              </a:rPr>
              <a:t>Financial ratios, rare outcomes, and a reproducible evaluation</a:t>
            </a:r>
          </a:p>
        </p:txBody>
      </p:sp>
      <p:sp>
        <p:nvSpPr>
          <p:cNvPr id="5" name="">
            <a:extLst xmlns:a="http://schemas.openxmlformats.org/drawingml/2006/main">
              <a:ext uri="{FF2B5EF4-FFF2-40B4-BE49-F238E27FC236}">
                <a16:creationId xmlns:a16="http://schemas.microsoft.com/office/drawing/2014/main" id="{AFE3EA9C-0014-4BCD-B1B5-1D4303D22758}"/>
              </a:ext>
            </a:extLst>
          </p:cNvPr>
          <p:cNvSpPr>
            <a:spLocks xmlns:a="http://schemas.openxmlformats.org/drawingml/2006/main" noGrp="1"/>
          </p:cNvSpPr>
          <p:nvPr/>
        </p:nvSpPr>
        <p:spPr>
          <a:xfrm xmlns:a="http://schemas.openxmlformats.org/drawingml/2006/main">
            <a:off x="685800" y="5381625"/>
            <a:ext cx="1009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CCDCDF"/>
                </a:solidFill>
                <a:latin typeface="Calibri"/>
                <a:ea typeface="Calibri"/>
                <a:cs typeface="Calibri"/>
              </a:defRPr>
            </a:defPPr>
            <a:lvl1pPr>
              <a:defRPr sz="1650" b="0">
                <a:solidFill>
                  <a:srgbClr val="CCDCDF"/>
                </a:solidFill>
                <a:latin typeface="Calibri"/>
                <a:ea typeface="Calibri"/>
                <a:cs typeface="Calibri"/>
              </a:defRPr>
            </a:lvl1pPr>
            <a:lvl2pPr>
              <a:defRPr sz="1650" b="0">
                <a:solidFill>
                  <a:srgbClr val="CCDCDF"/>
                </a:solidFill>
                <a:latin typeface="Calibri"/>
                <a:ea typeface="Calibri"/>
                <a:cs typeface="Calibri"/>
              </a:defRPr>
            </a:lvl2pPr>
            <a:lvl3pPr>
              <a:defRPr sz="1650" b="0">
                <a:solidFill>
                  <a:srgbClr val="CCDCDF"/>
                </a:solidFill>
                <a:latin typeface="Calibri"/>
                <a:ea typeface="Calibri"/>
                <a:cs typeface="Calibri"/>
              </a:defRPr>
            </a:lvl3pPr>
            <a:lvl4pPr>
              <a:defRPr sz="1650" b="0">
                <a:solidFill>
                  <a:srgbClr val="CCDCDF"/>
                </a:solidFill>
                <a:latin typeface="Calibri"/>
                <a:ea typeface="Calibri"/>
                <a:cs typeface="Calibri"/>
              </a:defRPr>
            </a:lvl4pPr>
            <a:lvl5pPr>
              <a:defRPr sz="1650" b="0">
                <a:solidFill>
                  <a:srgbClr val="CCDCDF"/>
                </a:solidFill>
                <a:latin typeface="Calibri"/>
                <a:ea typeface="Calibri"/>
                <a:cs typeface="Calibri"/>
              </a:defRPr>
            </a:lvl5pPr>
            <a:lvl6pPr>
              <a:defRPr sz="1650" b="0">
                <a:solidFill>
                  <a:srgbClr val="CCDCDF"/>
                </a:solidFill>
                <a:latin typeface="Calibri"/>
                <a:ea typeface="Calibri"/>
                <a:cs typeface="Calibri"/>
              </a:defRPr>
            </a:lvl6pPr>
            <a:lvl7pPr>
              <a:defRPr sz="1650" b="0">
                <a:solidFill>
                  <a:srgbClr val="CCDCDF"/>
                </a:solidFill>
                <a:latin typeface="Calibri"/>
                <a:ea typeface="Calibri"/>
                <a:cs typeface="Calibri"/>
              </a:defRPr>
            </a:lvl7pPr>
            <a:lvl8pPr>
              <a:defRPr sz="1650" b="0">
                <a:solidFill>
                  <a:srgbClr val="CCDCDF"/>
                </a:solidFill>
                <a:latin typeface="Calibri"/>
                <a:ea typeface="Calibri"/>
                <a:cs typeface="Calibri"/>
              </a:defRPr>
            </a:lvl8pPr>
            <a:lvl9pPr>
              <a:defRPr sz="1650" b="0">
                <a:solidFill>
                  <a:srgbClr val="CCDCDF"/>
                </a:solidFill>
                <a:latin typeface="Calibri"/>
                <a:ea typeface="Calibri"/>
                <a:cs typeface="Calibri"/>
              </a:defRPr>
            </a:lvl9pPr>
          </a:lstStyle>
          <a:p xmlns:a="http://schemas.openxmlformats.org/drawingml/2006/main">
            <a:pPr>
              <a:buNone/>
              <a:defRPr sz="1650" b="0">
                <a:solidFill>
                  <a:srgbClr val="CCDCDF"/>
                </a:solidFill>
                <a:latin typeface="Calibri"/>
                <a:ea typeface="Calibri"/>
                <a:cs typeface="Calibri"/>
              </a:defRPr>
            </a:pPr>
            <a:r>
              <a:rPr sz="1650" b="0">
                <a:solidFill>
                  <a:srgbClr val="CCDCDF"/>
                </a:solidFill>
                <a:latin typeface="Calibri"/>
                <a:ea typeface="Calibri"/>
                <a:cs typeface="Calibri"/>
              </a:rPr>
              <a:t>Atharva Ashish Vyas   /   PES1UG24CS093</a:t>
            </a:r>
          </a:p>
          <a:p xmlns:a="http://schemas.openxmlformats.org/drawingml/2006/main">
            <a:pPr>
              <a:buNone/>
              <a:defRPr sz="1650" b="0">
                <a:solidFill>
                  <a:srgbClr val="CCDCDF"/>
                </a:solidFill>
                <a:latin typeface="Calibri"/>
                <a:ea typeface="Calibri"/>
                <a:cs typeface="Calibri"/>
              </a:defRPr>
            </a:pPr>
            <a:r>
              <a:rPr sz="1650" b="0">
                <a:solidFill>
                  <a:srgbClr val="CCDCDF"/>
                </a:solidFill>
                <a:latin typeface="Calibri"/>
                <a:ea typeface="Calibri"/>
                <a:cs typeface="Calibri"/>
              </a:rPr>
              <a:t>Atharva Rakesh Bhidre   /   PES1UG24CS095</a:t>
            </a:r>
          </a:p>
        </p:txBody>
      </p:sp>
    </p:spTree>
    <p:extLst>
      <p:ext uri="{BB962C8B-B14F-4D97-AF65-F5344CB8AC3E}">
        <p14:creationId xmlns:p14="http://schemas.microsoft.com/office/powerpoint/2010/main" val="1698621815"/>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45FBF9-FC39-4FE9-9675-249F59B5802E}"/>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The prediction problem</a:t>
            </a:r>
          </a:p>
        </p:txBody>
      </p:sp>
      <p:sp>
        <p:nvSpPr>
          <p:cNvPr id="2" name="">
            <a:extLst xmlns:a="http://schemas.openxmlformats.org/drawingml/2006/main">
              <a:ext uri="{FF2B5EF4-FFF2-40B4-BE49-F238E27FC236}">
                <a16:creationId xmlns:a16="http://schemas.microsoft.com/office/drawing/2014/main" id="{FEDA2958-2208-4889-BE05-7C6001C638D8}"/>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02</a:t>
            </a:r>
          </a:p>
        </p:txBody>
      </p:sp>
      <p:sp>
        <p:nvSpPr>
          <p:cNvPr id="3" name="">
            <a:extLst xmlns:a="http://schemas.openxmlformats.org/drawingml/2006/main">
              <a:ext uri="{FF2B5EF4-FFF2-40B4-BE49-F238E27FC236}">
                <a16:creationId xmlns:a16="http://schemas.microsoft.com/office/drawing/2014/main" id="{8FA9A086-B9EE-43A7-8380-687A6F8CC81A}"/>
              </a:ext>
            </a:extLst>
          </p:cNvPr>
          <p:cNvSpPr>
            <a:spLocks xmlns:a="http://schemas.openxmlformats.org/drawingml/2006/main" noGrp="1"/>
          </p:cNvSpPr>
          <p:nvPr/>
        </p:nvSpPr>
        <p:spPr>
          <a:xfrm xmlns:a="http://schemas.openxmlformats.org/drawingml/2006/main">
            <a:off x="647700" y="14763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1">
                <a:solidFill>
                  <a:srgbClr val="142C42"/>
                </a:solidFill>
                <a:latin typeface="Calibri"/>
                <a:ea typeface="Calibri"/>
                <a:cs typeface="Calibri"/>
              </a:defRPr>
            </a:defPPr>
            <a:lvl1pPr>
              <a:defRPr sz="2775" b="1">
                <a:solidFill>
                  <a:srgbClr val="142C42"/>
                </a:solidFill>
                <a:latin typeface="Calibri"/>
                <a:ea typeface="Calibri"/>
                <a:cs typeface="Calibri"/>
              </a:defRPr>
            </a:lvl1pPr>
            <a:lvl2pPr>
              <a:defRPr sz="2775" b="1">
                <a:solidFill>
                  <a:srgbClr val="142C42"/>
                </a:solidFill>
                <a:latin typeface="Calibri"/>
                <a:ea typeface="Calibri"/>
                <a:cs typeface="Calibri"/>
              </a:defRPr>
            </a:lvl2pPr>
            <a:lvl3pPr>
              <a:defRPr sz="2775" b="1">
                <a:solidFill>
                  <a:srgbClr val="142C42"/>
                </a:solidFill>
                <a:latin typeface="Calibri"/>
                <a:ea typeface="Calibri"/>
                <a:cs typeface="Calibri"/>
              </a:defRPr>
            </a:lvl3pPr>
            <a:lvl4pPr>
              <a:defRPr sz="2775" b="1">
                <a:solidFill>
                  <a:srgbClr val="142C42"/>
                </a:solidFill>
                <a:latin typeface="Calibri"/>
                <a:ea typeface="Calibri"/>
                <a:cs typeface="Calibri"/>
              </a:defRPr>
            </a:lvl4pPr>
            <a:lvl5pPr>
              <a:defRPr sz="2775" b="1">
                <a:solidFill>
                  <a:srgbClr val="142C42"/>
                </a:solidFill>
                <a:latin typeface="Calibri"/>
                <a:ea typeface="Calibri"/>
                <a:cs typeface="Calibri"/>
              </a:defRPr>
            </a:lvl5pPr>
            <a:lvl6pPr>
              <a:defRPr sz="2775" b="1">
                <a:solidFill>
                  <a:srgbClr val="142C42"/>
                </a:solidFill>
                <a:latin typeface="Calibri"/>
                <a:ea typeface="Calibri"/>
                <a:cs typeface="Calibri"/>
              </a:defRPr>
            </a:lvl6pPr>
            <a:lvl7pPr>
              <a:defRPr sz="2775" b="1">
                <a:solidFill>
                  <a:srgbClr val="142C42"/>
                </a:solidFill>
                <a:latin typeface="Calibri"/>
                <a:ea typeface="Calibri"/>
                <a:cs typeface="Calibri"/>
              </a:defRPr>
            </a:lvl7pPr>
            <a:lvl8pPr>
              <a:defRPr sz="2775" b="1">
                <a:solidFill>
                  <a:srgbClr val="142C42"/>
                </a:solidFill>
                <a:latin typeface="Calibri"/>
                <a:ea typeface="Calibri"/>
                <a:cs typeface="Calibri"/>
              </a:defRPr>
            </a:lvl8pPr>
            <a:lvl9pPr>
              <a:defRPr sz="2775" b="1">
                <a:solidFill>
                  <a:srgbClr val="142C42"/>
                </a:solidFill>
                <a:latin typeface="Calibri"/>
                <a:ea typeface="Calibri"/>
                <a:cs typeface="Calibri"/>
              </a:defRPr>
            </a:lvl9pPr>
          </a:lstStyle>
          <a:p xmlns:a="http://schemas.openxmlformats.org/drawingml/2006/main">
            <a:pPr>
              <a:buNone/>
              <a:defRPr sz="2775" b="1">
                <a:solidFill>
                  <a:srgbClr val="142C42"/>
                </a:solidFill>
                <a:latin typeface="Calibri"/>
                <a:ea typeface="Calibri"/>
                <a:cs typeface="Calibri"/>
              </a:defRPr>
            </a:pPr>
            <a:r>
              <a:rPr sz="2775" b="1">
                <a:solidFill>
                  <a:srgbClr val="142C42"/>
                </a:solidFill>
                <a:latin typeface="Calibri"/>
                <a:ea typeface="Calibri"/>
                <a:cs typeface="Calibri"/>
              </a:rPr>
              <a:t>Bankruptcy within three years</a:t>
            </a:r>
          </a:p>
        </p:txBody>
      </p:sp>
      <p:sp>
        <p:nvSpPr>
          <p:cNvPr id="4" name="">
            <a:extLst xmlns:a="http://schemas.openxmlformats.org/drawingml/2006/main">
              <a:ext uri="{FF2B5EF4-FFF2-40B4-BE49-F238E27FC236}">
                <a16:creationId xmlns:a16="http://schemas.microsoft.com/office/drawing/2014/main" id="{0D8C8C21-2626-4E23-86D4-5BAE74A50237}"/>
              </a:ext>
            </a:extLst>
          </p:cNvPr>
          <p:cNvSpPr>
            <a:spLocks xmlns:a="http://schemas.openxmlformats.org/drawingml/2006/main" noGrp="1"/>
          </p:cNvSpPr>
          <p:nvPr/>
        </p:nvSpPr>
        <p:spPr>
          <a:xfrm xmlns:a="http://schemas.openxmlformats.org/drawingml/2006/main">
            <a:off x="647700" y="2238375"/>
            <a:ext cx="1047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C42"/>
                </a:solidFill>
                <a:latin typeface="Calibri"/>
                <a:ea typeface="Calibri"/>
                <a:cs typeface="Calibri"/>
              </a:defRPr>
            </a:defPPr>
            <a:lvl1pPr>
              <a:defRPr sz="2100" b="0">
                <a:solidFill>
                  <a:srgbClr val="142C42"/>
                </a:solidFill>
                <a:latin typeface="Calibri"/>
                <a:ea typeface="Calibri"/>
                <a:cs typeface="Calibri"/>
              </a:defRPr>
            </a:lvl1pPr>
            <a:lvl2pPr>
              <a:defRPr sz="2100" b="0">
                <a:solidFill>
                  <a:srgbClr val="142C42"/>
                </a:solidFill>
                <a:latin typeface="Calibri"/>
                <a:ea typeface="Calibri"/>
                <a:cs typeface="Calibri"/>
              </a:defRPr>
            </a:lvl2pPr>
            <a:lvl3pPr>
              <a:defRPr sz="2100" b="0">
                <a:solidFill>
                  <a:srgbClr val="142C42"/>
                </a:solidFill>
                <a:latin typeface="Calibri"/>
                <a:ea typeface="Calibri"/>
                <a:cs typeface="Calibri"/>
              </a:defRPr>
            </a:lvl3pPr>
            <a:lvl4pPr>
              <a:defRPr sz="2100" b="0">
                <a:solidFill>
                  <a:srgbClr val="142C42"/>
                </a:solidFill>
                <a:latin typeface="Calibri"/>
                <a:ea typeface="Calibri"/>
                <a:cs typeface="Calibri"/>
              </a:defRPr>
            </a:lvl4pPr>
            <a:lvl5pPr>
              <a:defRPr sz="2100" b="0">
                <a:solidFill>
                  <a:srgbClr val="142C42"/>
                </a:solidFill>
                <a:latin typeface="Calibri"/>
                <a:ea typeface="Calibri"/>
                <a:cs typeface="Calibri"/>
              </a:defRPr>
            </a:lvl5pPr>
            <a:lvl6pPr>
              <a:defRPr sz="2100" b="0">
                <a:solidFill>
                  <a:srgbClr val="142C42"/>
                </a:solidFill>
                <a:latin typeface="Calibri"/>
                <a:ea typeface="Calibri"/>
                <a:cs typeface="Calibri"/>
              </a:defRPr>
            </a:lvl6pPr>
            <a:lvl7pPr>
              <a:defRPr sz="2100" b="0">
                <a:solidFill>
                  <a:srgbClr val="142C42"/>
                </a:solidFill>
                <a:latin typeface="Calibri"/>
                <a:ea typeface="Calibri"/>
                <a:cs typeface="Calibri"/>
              </a:defRPr>
            </a:lvl7pPr>
            <a:lvl8pPr>
              <a:defRPr sz="2100" b="0">
                <a:solidFill>
                  <a:srgbClr val="142C42"/>
                </a:solidFill>
                <a:latin typeface="Calibri"/>
                <a:ea typeface="Calibri"/>
                <a:cs typeface="Calibri"/>
              </a:defRPr>
            </a:lvl8pPr>
            <a:lvl9pPr>
              <a:defRPr sz="2100" b="0">
                <a:solidFill>
                  <a:srgbClr val="142C42"/>
                </a:solidFill>
                <a:latin typeface="Calibri"/>
                <a:ea typeface="Calibri"/>
                <a:cs typeface="Calibri"/>
              </a:defRPr>
            </a:lvl9pPr>
          </a:lstStyle>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64 financial ratios describe each company statement.</a:t>
            </a:r>
          </a:p>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The target is 1 for bankruptcy and 0 otherwise.</a:t>
            </a:r>
          </a:p>
        </p:txBody>
      </p:sp>
      <p:sp>
        <p:nvSpPr>
          <p:cNvPr id="5" name="">
            <a:extLst xmlns:a="http://schemas.openxmlformats.org/drawingml/2006/main">
              <a:ext uri="{FF2B5EF4-FFF2-40B4-BE49-F238E27FC236}">
                <a16:creationId xmlns:a16="http://schemas.microsoft.com/office/drawing/2014/main" id="{DF77AAA9-87E3-436F-8349-FA717E512006}"/>
              </a:ext>
            </a:extLst>
          </p:cNvPr>
          <p:cNvSpPr>
            <a:spLocks xmlns:a="http://schemas.openxmlformats.org/drawingml/2006/main" noGrp="1"/>
          </p:cNvSpPr>
          <p:nvPr/>
        </p:nvSpPr>
        <p:spPr>
          <a:xfrm xmlns:a="http://schemas.openxmlformats.org/drawingml/2006/main">
            <a:off x="666750" y="3781425"/>
            <a:ext cx="3429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6150" b="1">
                <a:solidFill>
                  <a:srgbClr val="007F78"/>
                </a:solidFill>
                <a:latin typeface="Calibri"/>
                <a:ea typeface="Calibri"/>
                <a:cs typeface="Calibri"/>
              </a:defRPr>
            </a:defPPr>
            <a:lvl1pPr>
              <a:defRPr sz="6150" b="1">
                <a:solidFill>
                  <a:srgbClr val="007F78"/>
                </a:solidFill>
                <a:latin typeface="Calibri"/>
                <a:ea typeface="Calibri"/>
                <a:cs typeface="Calibri"/>
              </a:defRPr>
            </a:lvl1pPr>
            <a:lvl2pPr>
              <a:defRPr sz="6150" b="1">
                <a:solidFill>
                  <a:srgbClr val="007F78"/>
                </a:solidFill>
                <a:latin typeface="Calibri"/>
                <a:ea typeface="Calibri"/>
                <a:cs typeface="Calibri"/>
              </a:defRPr>
            </a:lvl2pPr>
            <a:lvl3pPr>
              <a:defRPr sz="6150" b="1">
                <a:solidFill>
                  <a:srgbClr val="007F78"/>
                </a:solidFill>
                <a:latin typeface="Calibri"/>
                <a:ea typeface="Calibri"/>
                <a:cs typeface="Calibri"/>
              </a:defRPr>
            </a:lvl3pPr>
            <a:lvl4pPr>
              <a:defRPr sz="6150" b="1">
                <a:solidFill>
                  <a:srgbClr val="007F78"/>
                </a:solidFill>
                <a:latin typeface="Calibri"/>
                <a:ea typeface="Calibri"/>
                <a:cs typeface="Calibri"/>
              </a:defRPr>
            </a:lvl4pPr>
            <a:lvl5pPr>
              <a:defRPr sz="6150" b="1">
                <a:solidFill>
                  <a:srgbClr val="007F78"/>
                </a:solidFill>
                <a:latin typeface="Calibri"/>
                <a:ea typeface="Calibri"/>
                <a:cs typeface="Calibri"/>
              </a:defRPr>
            </a:lvl5pPr>
            <a:lvl6pPr>
              <a:defRPr sz="6150" b="1">
                <a:solidFill>
                  <a:srgbClr val="007F78"/>
                </a:solidFill>
                <a:latin typeface="Calibri"/>
                <a:ea typeface="Calibri"/>
                <a:cs typeface="Calibri"/>
              </a:defRPr>
            </a:lvl6pPr>
            <a:lvl7pPr>
              <a:defRPr sz="6150" b="1">
                <a:solidFill>
                  <a:srgbClr val="007F78"/>
                </a:solidFill>
                <a:latin typeface="Calibri"/>
                <a:ea typeface="Calibri"/>
                <a:cs typeface="Calibri"/>
              </a:defRPr>
            </a:lvl7pPr>
            <a:lvl8pPr>
              <a:defRPr sz="6150" b="1">
                <a:solidFill>
                  <a:srgbClr val="007F78"/>
                </a:solidFill>
                <a:latin typeface="Calibri"/>
                <a:ea typeface="Calibri"/>
                <a:cs typeface="Calibri"/>
              </a:defRPr>
            </a:lvl8pPr>
            <a:lvl9pPr>
              <a:defRPr sz="6150" b="1">
                <a:solidFill>
                  <a:srgbClr val="007F78"/>
                </a:solidFill>
                <a:latin typeface="Calibri"/>
                <a:ea typeface="Calibri"/>
                <a:cs typeface="Calibri"/>
              </a:defRPr>
            </a:lvl9pPr>
          </a:lstStyle>
          <a:p xmlns:a="http://schemas.openxmlformats.org/drawingml/2006/main">
            <a:pPr>
              <a:buNone/>
              <a:defRPr sz="6150" b="1">
                <a:solidFill>
                  <a:srgbClr val="007F78"/>
                </a:solidFill>
                <a:latin typeface="Calibri"/>
                <a:ea typeface="Calibri"/>
                <a:cs typeface="Calibri"/>
              </a:defRPr>
            </a:pPr>
            <a:r>
              <a:rPr sz="6150" b="1">
                <a:solidFill>
                  <a:srgbClr val="007F78"/>
                </a:solidFill>
                <a:latin typeface="Calibri"/>
                <a:ea typeface="Calibri"/>
                <a:cs typeface="Calibri"/>
              </a:rPr>
              <a:t>4.73%</a:t>
            </a:r>
          </a:p>
        </p:txBody>
      </p:sp>
      <p:sp>
        <p:nvSpPr>
          <p:cNvPr id="6" name="">
            <a:extLst xmlns:a="http://schemas.openxmlformats.org/drawingml/2006/main">
              <a:ext uri="{FF2B5EF4-FFF2-40B4-BE49-F238E27FC236}">
                <a16:creationId xmlns:a16="http://schemas.microsoft.com/office/drawing/2014/main" id="{AF11B07C-745A-4CB9-BF72-5FDCA782C77B}"/>
              </a:ext>
            </a:extLst>
          </p:cNvPr>
          <p:cNvSpPr>
            <a:spLocks xmlns:a="http://schemas.openxmlformats.org/drawingml/2006/main" noGrp="1"/>
          </p:cNvSpPr>
          <p:nvPr/>
        </p:nvSpPr>
        <p:spPr>
          <a:xfrm xmlns:a="http://schemas.openxmlformats.org/drawingml/2006/main">
            <a:off x="685800" y="4838700"/>
            <a:ext cx="4191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17384"/>
                </a:solidFill>
                <a:latin typeface="Calibri"/>
                <a:ea typeface="Calibri"/>
                <a:cs typeface="Calibri"/>
              </a:defRPr>
            </a:defPPr>
            <a:lvl1pPr>
              <a:defRPr sz="1875" b="0">
                <a:solidFill>
                  <a:srgbClr val="617384"/>
                </a:solidFill>
                <a:latin typeface="Calibri"/>
                <a:ea typeface="Calibri"/>
                <a:cs typeface="Calibri"/>
              </a:defRPr>
            </a:lvl1pPr>
            <a:lvl2pPr>
              <a:defRPr sz="1875" b="0">
                <a:solidFill>
                  <a:srgbClr val="617384"/>
                </a:solidFill>
                <a:latin typeface="Calibri"/>
                <a:ea typeface="Calibri"/>
                <a:cs typeface="Calibri"/>
              </a:defRPr>
            </a:lvl2pPr>
            <a:lvl3pPr>
              <a:defRPr sz="1875" b="0">
                <a:solidFill>
                  <a:srgbClr val="617384"/>
                </a:solidFill>
                <a:latin typeface="Calibri"/>
                <a:ea typeface="Calibri"/>
                <a:cs typeface="Calibri"/>
              </a:defRPr>
            </a:lvl3pPr>
            <a:lvl4pPr>
              <a:defRPr sz="1875" b="0">
                <a:solidFill>
                  <a:srgbClr val="617384"/>
                </a:solidFill>
                <a:latin typeface="Calibri"/>
                <a:ea typeface="Calibri"/>
                <a:cs typeface="Calibri"/>
              </a:defRPr>
            </a:lvl4pPr>
            <a:lvl5pPr>
              <a:defRPr sz="1875" b="0">
                <a:solidFill>
                  <a:srgbClr val="617384"/>
                </a:solidFill>
                <a:latin typeface="Calibri"/>
                <a:ea typeface="Calibri"/>
                <a:cs typeface="Calibri"/>
              </a:defRPr>
            </a:lvl5pPr>
            <a:lvl6pPr>
              <a:defRPr sz="1875" b="0">
                <a:solidFill>
                  <a:srgbClr val="617384"/>
                </a:solidFill>
                <a:latin typeface="Calibri"/>
                <a:ea typeface="Calibri"/>
                <a:cs typeface="Calibri"/>
              </a:defRPr>
            </a:lvl6pPr>
            <a:lvl7pPr>
              <a:defRPr sz="1875" b="0">
                <a:solidFill>
                  <a:srgbClr val="617384"/>
                </a:solidFill>
                <a:latin typeface="Calibri"/>
                <a:ea typeface="Calibri"/>
                <a:cs typeface="Calibri"/>
              </a:defRPr>
            </a:lvl7pPr>
            <a:lvl8pPr>
              <a:defRPr sz="1875" b="0">
                <a:solidFill>
                  <a:srgbClr val="617384"/>
                </a:solidFill>
                <a:latin typeface="Calibri"/>
                <a:ea typeface="Calibri"/>
                <a:cs typeface="Calibri"/>
              </a:defRPr>
            </a:lvl8pPr>
            <a:lvl9pPr>
              <a:defRPr sz="1875" b="0">
                <a:solidFill>
                  <a:srgbClr val="617384"/>
                </a:solidFill>
                <a:latin typeface="Calibri"/>
                <a:ea typeface="Calibri"/>
                <a:cs typeface="Calibri"/>
              </a:defRPr>
            </a:lvl9pPr>
          </a:lstStyle>
          <a:p xmlns:a="http://schemas.openxmlformats.org/drawingml/2006/main">
            <a:pPr>
              <a:buNone/>
              <a:defRPr sz="1875" b="0">
                <a:solidFill>
                  <a:srgbClr val="617384"/>
                </a:solidFill>
                <a:latin typeface="Calibri"/>
                <a:ea typeface="Calibri"/>
                <a:cs typeface="Calibri"/>
              </a:defRPr>
            </a:pPr>
            <a:r>
              <a:rPr sz="1875" b="0">
                <a:solidFill>
                  <a:srgbClr val="617384"/>
                </a:solidFill>
                <a:latin typeface="Calibri"/>
                <a:ea typeface="Calibri"/>
                <a:cs typeface="Calibri"/>
              </a:rPr>
              <a:t>positive labels after cleaning</a:t>
            </a:r>
          </a:p>
        </p:txBody>
      </p:sp>
      <p:graphicFrame>
        <p:nvGraphicFramePr>
          <p:cNvPr id="7" name="Chart">
            <a:extLst xmlns:a="http://schemas.openxmlformats.org/drawingml/2006/main">
              <a:ext uri="{FF2B5EF4-FFF2-40B4-BE49-F238E27FC236}">
                <a16:creationId xmlns:a16="http://schemas.microsoft.com/office/drawing/2014/main" id="{7920137A-47B5-4992-94CA-48E406E94E3F}"/>
              </a:ext>
            </a:extLst>
          </p:cNvPr>
          <p:cNvGraphicFramePr/>
          <p:nvPr/>
        </p:nvGraphicFramePr>
        <p:xfrm>
          <a:off xmlns:a="http://schemas.openxmlformats.org/drawingml/2006/main" x="5238750" y="3352800"/>
          <a:ext xmlns:a="http://schemas.openxmlformats.org/drawingml/2006/main" cx="6191250" cy="2333625"/>
        </p:xfrm>
        <a:graphic xmlns:a="http://schemas.openxmlformats.org/drawingml/2006/main">
          <a:graphicData uri="http://schemas.openxmlformats.org/drawingml/2006/chart">
            <c:chart xmlns:r="http://schemas.openxmlformats.org/officeDocument/2006/relationships" xmlns:c="http://schemas.openxmlformats.org/drawingml/2006/chart" r:id="Rf2c746f2370945d9"/>
          </a:graphicData>
        </a:graphic>
      </p:graphicFrame>
      <p:sp>
        <p:nvSpPr>
          <p:cNvPr id="8" name="">
            <a:extLst xmlns:a="http://schemas.openxmlformats.org/drawingml/2006/main">
              <a:ext uri="{FF2B5EF4-FFF2-40B4-BE49-F238E27FC236}">
                <a16:creationId xmlns:a16="http://schemas.microsoft.com/office/drawing/2014/main" id="{61ADA323-D60C-4131-B947-F1832A3CEBF2}"/>
              </a:ext>
            </a:extLst>
          </p:cNvPr>
          <p:cNvSpPr>
            <a:spLocks xmlns:a="http://schemas.openxmlformats.org/drawingml/2006/main" noGrp="1"/>
          </p:cNvSpPr>
          <p:nvPr/>
        </p:nvSpPr>
        <p:spPr>
          <a:xfrm xmlns:a="http://schemas.openxmlformats.org/drawingml/2006/main">
            <a:off x="685800" y="5791200"/>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17384"/>
                </a:solidFill>
                <a:latin typeface="Calibri"/>
                <a:ea typeface="Calibri"/>
                <a:cs typeface="Calibri"/>
              </a:defRPr>
            </a:defPPr>
            <a:lvl1pPr>
              <a:defRPr sz="1800" b="0">
                <a:solidFill>
                  <a:srgbClr val="617384"/>
                </a:solidFill>
                <a:latin typeface="Calibri"/>
                <a:ea typeface="Calibri"/>
                <a:cs typeface="Calibri"/>
              </a:defRPr>
            </a:lvl1pPr>
            <a:lvl2pPr>
              <a:defRPr sz="1800" b="0">
                <a:solidFill>
                  <a:srgbClr val="617384"/>
                </a:solidFill>
                <a:latin typeface="Calibri"/>
                <a:ea typeface="Calibri"/>
                <a:cs typeface="Calibri"/>
              </a:defRPr>
            </a:lvl2pPr>
            <a:lvl3pPr>
              <a:defRPr sz="1800" b="0">
                <a:solidFill>
                  <a:srgbClr val="617384"/>
                </a:solidFill>
                <a:latin typeface="Calibri"/>
                <a:ea typeface="Calibri"/>
                <a:cs typeface="Calibri"/>
              </a:defRPr>
            </a:lvl3pPr>
            <a:lvl4pPr>
              <a:defRPr sz="1800" b="0">
                <a:solidFill>
                  <a:srgbClr val="617384"/>
                </a:solidFill>
                <a:latin typeface="Calibri"/>
                <a:ea typeface="Calibri"/>
                <a:cs typeface="Calibri"/>
              </a:defRPr>
            </a:lvl4pPr>
            <a:lvl5pPr>
              <a:defRPr sz="1800" b="0">
                <a:solidFill>
                  <a:srgbClr val="617384"/>
                </a:solidFill>
                <a:latin typeface="Calibri"/>
                <a:ea typeface="Calibri"/>
                <a:cs typeface="Calibri"/>
              </a:defRPr>
            </a:lvl5pPr>
            <a:lvl6pPr>
              <a:defRPr sz="1800" b="0">
                <a:solidFill>
                  <a:srgbClr val="617384"/>
                </a:solidFill>
                <a:latin typeface="Calibri"/>
                <a:ea typeface="Calibri"/>
                <a:cs typeface="Calibri"/>
              </a:defRPr>
            </a:lvl6pPr>
            <a:lvl7pPr>
              <a:defRPr sz="1800" b="0">
                <a:solidFill>
                  <a:srgbClr val="617384"/>
                </a:solidFill>
                <a:latin typeface="Calibri"/>
                <a:ea typeface="Calibri"/>
                <a:cs typeface="Calibri"/>
              </a:defRPr>
            </a:lvl7pPr>
            <a:lvl8pPr>
              <a:defRPr sz="1800" b="0">
                <a:solidFill>
                  <a:srgbClr val="617384"/>
                </a:solidFill>
                <a:latin typeface="Calibri"/>
                <a:ea typeface="Calibri"/>
                <a:cs typeface="Calibri"/>
              </a:defRPr>
            </a:lvl8pPr>
            <a:lvl9pPr>
              <a:defRPr sz="1800" b="0">
                <a:solidFill>
                  <a:srgbClr val="617384"/>
                </a:solidFill>
                <a:latin typeface="Calibri"/>
                <a:ea typeface="Calibri"/>
                <a:cs typeface="Calibri"/>
              </a:defRPr>
            </a:lvl9pPr>
          </a:lstStyle>
          <a:p xmlns:a="http://schemas.openxmlformats.org/drawingml/2006/main">
            <a:pPr>
              <a:buNone/>
              <a:defRPr sz="1800" b="0">
                <a:solidFill>
                  <a:srgbClr val="617384"/>
                </a:solidFill>
                <a:latin typeface="Calibri"/>
                <a:ea typeface="Calibri"/>
                <a:cs typeface="Calibri"/>
              </a:defRPr>
            </a:pPr>
            <a:r>
              <a:rPr sz="1800" b="0">
                <a:solidFill>
                  <a:srgbClr val="617384"/>
                </a:solidFill>
                <a:latin typeface="Calibri"/>
                <a:ea typeface="Calibri"/>
                <a:cs typeface="Calibri"/>
              </a:rPr>
              <a:t>An always non-bankrupt model can exceed 95% accuracy while detecting no failures.</a:t>
            </a:r>
          </a:p>
        </p:txBody>
      </p:sp>
    </p:spTree>
    <p:extLst>
      <p:ext uri="{BB962C8B-B14F-4D97-AF65-F5344CB8AC3E}">
        <p14:creationId xmlns:p14="http://schemas.microsoft.com/office/powerpoint/2010/main" val="76253674"/>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D5F54EE-D2EC-4CB6-A9E8-5F23FB730A09}"/>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Data quality before modeling</a:t>
            </a:r>
          </a:p>
        </p:txBody>
      </p:sp>
      <p:sp>
        <p:nvSpPr>
          <p:cNvPr id="2" name="">
            <a:extLst xmlns:a="http://schemas.openxmlformats.org/drawingml/2006/main">
              <a:ext uri="{FF2B5EF4-FFF2-40B4-BE49-F238E27FC236}">
                <a16:creationId xmlns:a16="http://schemas.microsoft.com/office/drawing/2014/main" id="{9B321EE8-DAB1-4A36-AB01-C7C7F588133E}"/>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03</a:t>
            </a:r>
          </a:p>
        </p:txBody>
      </p:sp>
      <p:graphicFrame>
        <p:nvGraphicFramePr>
          <p:cNvPr id="3" name="">
            <a:extLst xmlns:a="http://schemas.openxmlformats.org/drawingml/2006/main">
              <a:ext uri="{FF2B5EF4-FFF2-40B4-BE49-F238E27FC236}">
                <a16:creationId xmlns:a16="http://schemas.microsoft.com/office/drawing/2014/main" id="{4112E454-2E5E-4DE5-B377-64D3050B4B3C}"/>
              </a:ext>
            </a:extLst>
          </p:cNvPr>
          <p:cNvGraphicFramePr/>
          <p:nvPr/>
        </p:nvGraphicFramePr>
        <p:xfrm>
          <a:off xmlns:a="http://schemas.openxmlformats.org/drawingml/2006/main" x="647700" y="1524000"/>
          <a:ext xmlns:a="http://schemas.openxmlformats.org/drawingml/2006/main" cx="10858500" cy="3476625"/>
        </p:xfrm>
        <a:graphic xmlns:a="http://schemas.openxmlformats.org/drawingml/2006/main">
          <a:graphicData uri="http://schemas.openxmlformats.org/drawingml/2006/table">
            <a:tbl>
              <a:tblPr/>
              <a:tblGrid>
                <a:gridCol w="6858000"/>
                <a:gridCol w="4000500"/>
              </a:tblGrid>
              <a:tr h="579438">
                <a:tc>
                  <a:txBody>
                    <a:bodyPr lIns="114300" tIns="114300" rIns="114300" bIns="114300"/>
                    <a:lstStyle/>
                    <a:p>
                      <a:r>
                        <a:rPr sz="1875" b="1">
                          <a:solidFill>
                            <a:srgbClr val="FFFFFF"/>
                          </a:solidFill>
                          <a:latin typeface="Calibri"/>
                          <a:ea typeface="Calibri"/>
                          <a:cs typeface="Calibri"/>
                        </a:rPr>
                        <a:t>Audit item</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Verified finding</a:t>
                      </a:r>
                    </a:p>
                  </a:txBody>
                  <a:tcPr marL="91440" marR="91440" marT="45720" marB="45720" anchor="ctr">
                    <a:solidFill>
                      <a:srgbClr val="142C42"/>
                    </a:solidFill>
                  </a:tcPr>
                </a:tc>
              </a:tr>
              <a:tr h="579438">
                <a:tc>
                  <a:txBody>
                    <a:bodyPr lIns="114300" tIns="114300" rIns="114300" bIns="114300"/>
                    <a:lstStyle/>
                    <a:p>
                      <a:r>
                        <a:rPr sz="1875" b="0">
                          <a:solidFill>
                            <a:srgbClr val="142C42"/>
                          </a:solidFill>
                          <a:latin typeface="Calibri"/>
                          <a:ea typeface="Calibri"/>
                          <a:cs typeface="Calibri"/>
                        </a:rPr>
                        <a:t>Raw statements</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10,503</a:t>
                      </a:r>
                    </a:p>
                  </a:txBody>
                  <a:tcPr marL="91440" marR="91440" marT="45720" marB="45720" anchor="ctr">
                    <a:solidFill>
                      <a:srgbClr val="FFFFFF"/>
                    </a:solidFill>
                  </a:tcPr>
                </a:tc>
              </a:tr>
              <a:tr h="579438">
                <a:tc>
                  <a:txBody>
                    <a:bodyPr lIns="114300" tIns="114300" rIns="114300" bIns="114300"/>
                    <a:lstStyle/>
                    <a:p>
                      <a:r>
                        <a:rPr sz="1875" b="0">
                          <a:solidFill>
                            <a:srgbClr val="142C42"/>
                          </a:solidFill>
                          <a:latin typeface="Calibri"/>
                          <a:ea typeface="Calibri"/>
                          <a:cs typeface="Calibri"/>
                        </a:rPr>
                        <a:t>Exact duplicate rows removed</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87</a:t>
                      </a:r>
                    </a:p>
                  </a:txBody>
                  <a:tcPr marL="91440" marR="91440" marT="45720" marB="45720" anchor="ctr">
                    <a:solidFill>
                      <a:srgbClr val="F5F4EF"/>
                    </a:solidFill>
                  </a:tcPr>
                </a:tc>
              </a:tr>
              <a:tr h="579438">
                <a:tc>
                  <a:txBody>
                    <a:bodyPr lIns="114300" tIns="114300" rIns="114300" bIns="114300"/>
                    <a:lstStyle/>
                    <a:p>
                      <a:r>
                        <a:rPr sz="1875" b="0">
                          <a:solidFill>
                            <a:srgbClr val="142C42"/>
                          </a:solidFill>
                          <a:latin typeface="Calibri"/>
                          <a:ea typeface="Calibri"/>
                          <a:cs typeface="Calibri"/>
                        </a:rPr>
                        <a:t>Clean statements / bankrupt labels</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10,416 / 493</a:t>
                      </a:r>
                    </a:p>
                  </a:txBody>
                  <a:tcPr marL="91440" marR="91440" marT="45720" marB="45720" anchor="ctr">
                    <a:solidFill>
                      <a:srgbClr val="FFFFFF"/>
                    </a:solidFill>
                  </a:tcPr>
                </a:tc>
              </a:tr>
              <a:tr h="579438">
                <a:tc>
                  <a:txBody>
                    <a:bodyPr lIns="114300" tIns="114300" rIns="114300" bIns="114300"/>
                    <a:lstStyle/>
                    <a:p>
                      <a:r>
                        <a:rPr sz="1875" b="0">
                          <a:solidFill>
                            <a:srgbClr val="142C42"/>
                          </a:solidFill>
                          <a:latin typeface="Calibri"/>
                          <a:ea typeface="Calibri"/>
                          <a:cs typeface="Calibri"/>
                        </a:rPr>
                        <a:t>Missing predictor cells after cleaning</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9,833</a:t>
                      </a:r>
                    </a:p>
                  </a:txBody>
                  <a:tcPr marL="91440" marR="91440" marT="45720" marB="45720" anchor="ctr">
                    <a:solidFill>
                      <a:srgbClr val="F5F4EF"/>
                    </a:solidFill>
                  </a:tcPr>
                </a:tc>
              </a:tr>
              <a:tr h="579438">
                <a:tc>
                  <a:txBody>
                    <a:bodyPr lIns="114300" tIns="114300" rIns="114300" bIns="114300"/>
                    <a:lstStyle/>
                    <a:p>
                      <a:r>
                        <a:rPr sz="1875" b="0">
                          <a:solidFill>
                            <a:srgbClr val="142C42"/>
                          </a:solidFill>
                          <a:latin typeface="Calibri"/>
                          <a:ea typeface="Calibri"/>
                          <a:cs typeface="Calibri"/>
                        </a:rPr>
                        <a:t>Conflicting identical feature vectors</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0</a:t>
                      </a:r>
                    </a:p>
                  </a:txBody>
                  <a:tcPr marL="91440" marR="91440" marT="45720" marB="45720" anchor="ctr">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DCCF9A70-3835-455B-973C-4D90E1A9075F}"/>
              </a:ext>
            </a:extLst>
          </p:cNvPr>
          <p:cNvSpPr>
            <a:spLocks xmlns:a="http://schemas.openxmlformats.org/drawingml/2006/main" noGrp="1"/>
          </p:cNvSpPr>
          <p:nvPr/>
        </p:nvSpPr>
        <p:spPr>
          <a:xfrm xmlns:a="http://schemas.openxmlformats.org/drawingml/2006/main">
            <a:off x="666750" y="535305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617384"/>
                </a:solidFill>
                <a:latin typeface="Calibri"/>
                <a:ea typeface="Calibri"/>
                <a:cs typeface="Calibri"/>
              </a:defRPr>
            </a:defPPr>
            <a:lvl1pPr>
              <a:defRPr sz="2025" b="0">
                <a:solidFill>
                  <a:srgbClr val="617384"/>
                </a:solidFill>
                <a:latin typeface="Calibri"/>
                <a:ea typeface="Calibri"/>
                <a:cs typeface="Calibri"/>
              </a:defRPr>
            </a:lvl1pPr>
            <a:lvl2pPr>
              <a:defRPr sz="2025" b="0">
                <a:solidFill>
                  <a:srgbClr val="617384"/>
                </a:solidFill>
                <a:latin typeface="Calibri"/>
                <a:ea typeface="Calibri"/>
                <a:cs typeface="Calibri"/>
              </a:defRPr>
            </a:lvl2pPr>
            <a:lvl3pPr>
              <a:defRPr sz="2025" b="0">
                <a:solidFill>
                  <a:srgbClr val="617384"/>
                </a:solidFill>
                <a:latin typeface="Calibri"/>
                <a:ea typeface="Calibri"/>
                <a:cs typeface="Calibri"/>
              </a:defRPr>
            </a:lvl3pPr>
            <a:lvl4pPr>
              <a:defRPr sz="2025" b="0">
                <a:solidFill>
                  <a:srgbClr val="617384"/>
                </a:solidFill>
                <a:latin typeface="Calibri"/>
                <a:ea typeface="Calibri"/>
                <a:cs typeface="Calibri"/>
              </a:defRPr>
            </a:lvl4pPr>
            <a:lvl5pPr>
              <a:defRPr sz="2025" b="0">
                <a:solidFill>
                  <a:srgbClr val="617384"/>
                </a:solidFill>
                <a:latin typeface="Calibri"/>
                <a:ea typeface="Calibri"/>
                <a:cs typeface="Calibri"/>
              </a:defRPr>
            </a:lvl5pPr>
            <a:lvl6pPr>
              <a:defRPr sz="2025" b="0">
                <a:solidFill>
                  <a:srgbClr val="617384"/>
                </a:solidFill>
                <a:latin typeface="Calibri"/>
                <a:ea typeface="Calibri"/>
                <a:cs typeface="Calibri"/>
              </a:defRPr>
            </a:lvl6pPr>
            <a:lvl7pPr>
              <a:defRPr sz="2025" b="0">
                <a:solidFill>
                  <a:srgbClr val="617384"/>
                </a:solidFill>
                <a:latin typeface="Calibri"/>
                <a:ea typeface="Calibri"/>
                <a:cs typeface="Calibri"/>
              </a:defRPr>
            </a:lvl7pPr>
            <a:lvl8pPr>
              <a:defRPr sz="2025" b="0">
                <a:solidFill>
                  <a:srgbClr val="617384"/>
                </a:solidFill>
                <a:latin typeface="Calibri"/>
                <a:ea typeface="Calibri"/>
                <a:cs typeface="Calibri"/>
              </a:defRPr>
            </a:lvl8pPr>
            <a:lvl9pPr>
              <a:defRPr sz="2025" b="0">
                <a:solidFill>
                  <a:srgbClr val="617384"/>
                </a:solidFill>
                <a:latin typeface="Calibri"/>
                <a:ea typeface="Calibri"/>
                <a:cs typeface="Calibri"/>
              </a:defRPr>
            </a:lvl9pPr>
          </a:lstStyle>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Missing values are retained for training-time treatment.</a:t>
            </a:r>
          </a:p>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Company IDs are unavailable, so company-level separation cannot be verified.</a:t>
            </a:r>
          </a:p>
        </p:txBody>
      </p:sp>
    </p:spTree>
    <p:extLst>
      <p:ext uri="{BB962C8B-B14F-4D97-AF65-F5344CB8AC3E}">
        <p14:creationId xmlns:p14="http://schemas.microsoft.com/office/powerpoint/2010/main" val="2073217587"/>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D30CDF3-9893-4977-8B57-5C3B97732A6C}"/>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Experimental design</a:t>
            </a:r>
          </a:p>
        </p:txBody>
      </p:sp>
      <p:sp>
        <p:nvSpPr>
          <p:cNvPr id="2" name="">
            <a:extLst xmlns:a="http://schemas.openxmlformats.org/drawingml/2006/main">
              <a:ext uri="{FF2B5EF4-FFF2-40B4-BE49-F238E27FC236}">
                <a16:creationId xmlns:a16="http://schemas.microsoft.com/office/drawing/2014/main" id="{D0C7136A-AB2B-44C1-8225-AFB50099378B}"/>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04</a:t>
            </a:r>
          </a:p>
        </p:txBody>
      </p:sp>
      <p:sp>
        <p:nvSpPr>
          <p:cNvPr id="3" name="">
            <a:extLst xmlns:a="http://schemas.openxmlformats.org/drawingml/2006/main">
              <a:ext uri="{FF2B5EF4-FFF2-40B4-BE49-F238E27FC236}">
                <a16:creationId xmlns:a16="http://schemas.microsoft.com/office/drawing/2014/main" id="{62DAA61C-1071-4F9A-ACE7-08CF42C331A1}"/>
              </a:ext>
            </a:extLst>
          </p:cNvPr>
          <p:cNvSpPr>
            <a:spLocks xmlns:a="http://schemas.openxmlformats.org/drawingml/2006/main" noGrp="1"/>
          </p:cNvSpPr>
          <p:nvPr/>
        </p:nvSpPr>
        <p:spPr>
          <a:xfrm xmlns:a="http://schemas.openxmlformats.org/drawingml/2006/main">
            <a:off x="685800" y="1581150"/>
            <a:ext cx="466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007F78"/>
                </a:solidFill>
                <a:latin typeface="Calibri"/>
                <a:ea typeface="Calibri"/>
                <a:cs typeface="Calibri"/>
              </a:defRPr>
            </a:defPPr>
            <a:lvl1pPr>
              <a:defRPr sz="5100" b="1">
                <a:solidFill>
                  <a:srgbClr val="007F78"/>
                </a:solidFill>
                <a:latin typeface="Calibri"/>
                <a:ea typeface="Calibri"/>
                <a:cs typeface="Calibri"/>
              </a:defRPr>
            </a:lvl1pPr>
            <a:lvl2pPr>
              <a:defRPr sz="5100" b="1">
                <a:solidFill>
                  <a:srgbClr val="007F78"/>
                </a:solidFill>
                <a:latin typeface="Calibri"/>
                <a:ea typeface="Calibri"/>
                <a:cs typeface="Calibri"/>
              </a:defRPr>
            </a:lvl2pPr>
            <a:lvl3pPr>
              <a:defRPr sz="5100" b="1">
                <a:solidFill>
                  <a:srgbClr val="007F78"/>
                </a:solidFill>
                <a:latin typeface="Calibri"/>
                <a:ea typeface="Calibri"/>
                <a:cs typeface="Calibri"/>
              </a:defRPr>
            </a:lvl3pPr>
            <a:lvl4pPr>
              <a:defRPr sz="5100" b="1">
                <a:solidFill>
                  <a:srgbClr val="007F78"/>
                </a:solidFill>
                <a:latin typeface="Calibri"/>
                <a:ea typeface="Calibri"/>
                <a:cs typeface="Calibri"/>
              </a:defRPr>
            </a:lvl4pPr>
            <a:lvl5pPr>
              <a:defRPr sz="5100" b="1">
                <a:solidFill>
                  <a:srgbClr val="007F78"/>
                </a:solidFill>
                <a:latin typeface="Calibri"/>
                <a:ea typeface="Calibri"/>
                <a:cs typeface="Calibri"/>
              </a:defRPr>
            </a:lvl5pPr>
            <a:lvl6pPr>
              <a:defRPr sz="5100" b="1">
                <a:solidFill>
                  <a:srgbClr val="007F78"/>
                </a:solidFill>
                <a:latin typeface="Calibri"/>
                <a:ea typeface="Calibri"/>
                <a:cs typeface="Calibri"/>
              </a:defRPr>
            </a:lvl6pPr>
            <a:lvl7pPr>
              <a:defRPr sz="5100" b="1">
                <a:solidFill>
                  <a:srgbClr val="007F78"/>
                </a:solidFill>
                <a:latin typeface="Calibri"/>
                <a:ea typeface="Calibri"/>
                <a:cs typeface="Calibri"/>
              </a:defRPr>
            </a:lvl7pPr>
            <a:lvl8pPr>
              <a:defRPr sz="5100" b="1">
                <a:solidFill>
                  <a:srgbClr val="007F78"/>
                </a:solidFill>
                <a:latin typeface="Calibri"/>
                <a:ea typeface="Calibri"/>
                <a:cs typeface="Calibri"/>
              </a:defRPr>
            </a:lvl8pPr>
            <a:lvl9pPr>
              <a:defRPr sz="5100" b="1">
                <a:solidFill>
                  <a:srgbClr val="007F78"/>
                </a:solidFill>
                <a:latin typeface="Calibri"/>
                <a:ea typeface="Calibri"/>
                <a:cs typeface="Calibri"/>
              </a:defRPr>
            </a:lvl9pPr>
          </a:lstStyle>
          <a:p xmlns:a="http://schemas.openxmlformats.org/drawingml/2006/main">
            <a:pPr>
              <a:buNone/>
              <a:defRPr sz="5100" b="1">
                <a:solidFill>
                  <a:srgbClr val="007F78"/>
                </a:solidFill>
                <a:latin typeface="Calibri"/>
                <a:ea typeface="Calibri"/>
                <a:cs typeface="Calibri"/>
              </a:defRPr>
            </a:pPr>
            <a:r>
              <a:rPr sz="5100" b="1">
                <a:solidFill>
                  <a:srgbClr val="007F78"/>
                </a:solidFill>
                <a:latin typeface="Calibri"/>
                <a:ea typeface="Calibri"/>
                <a:cs typeface="Calibri"/>
              </a:rPr>
              <a:t>8,332</a:t>
            </a:r>
          </a:p>
        </p:txBody>
      </p:sp>
      <p:sp>
        <p:nvSpPr>
          <p:cNvPr id="4" name="">
            <a:extLst xmlns:a="http://schemas.openxmlformats.org/drawingml/2006/main">
              <a:ext uri="{FF2B5EF4-FFF2-40B4-BE49-F238E27FC236}">
                <a16:creationId xmlns:a16="http://schemas.microsoft.com/office/drawing/2014/main" id="{7651BDFE-ADD5-485B-912D-7A5C79CBB7BC}"/>
              </a:ext>
            </a:extLst>
          </p:cNvPr>
          <p:cNvSpPr>
            <a:spLocks xmlns:a="http://schemas.openxmlformats.org/drawingml/2006/main" noGrp="1"/>
          </p:cNvSpPr>
          <p:nvPr/>
        </p:nvSpPr>
        <p:spPr>
          <a:xfrm xmlns:a="http://schemas.openxmlformats.org/drawingml/2006/main">
            <a:off x="685800" y="2447925"/>
            <a:ext cx="4667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C42"/>
                </a:solidFill>
                <a:latin typeface="Calibri"/>
                <a:ea typeface="Calibri"/>
                <a:cs typeface="Calibri"/>
              </a:defRPr>
            </a:defPPr>
            <a:lvl1pPr>
              <a:defRPr sz="2100" b="0">
                <a:solidFill>
                  <a:srgbClr val="142C42"/>
                </a:solidFill>
                <a:latin typeface="Calibri"/>
                <a:ea typeface="Calibri"/>
                <a:cs typeface="Calibri"/>
              </a:defRPr>
            </a:lvl1pPr>
            <a:lvl2pPr>
              <a:defRPr sz="2100" b="0">
                <a:solidFill>
                  <a:srgbClr val="142C42"/>
                </a:solidFill>
                <a:latin typeface="Calibri"/>
                <a:ea typeface="Calibri"/>
                <a:cs typeface="Calibri"/>
              </a:defRPr>
            </a:lvl2pPr>
            <a:lvl3pPr>
              <a:defRPr sz="2100" b="0">
                <a:solidFill>
                  <a:srgbClr val="142C42"/>
                </a:solidFill>
                <a:latin typeface="Calibri"/>
                <a:ea typeface="Calibri"/>
                <a:cs typeface="Calibri"/>
              </a:defRPr>
            </a:lvl3pPr>
            <a:lvl4pPr>
              <a:defRPr sz="2100" b="0">
                <a:solidFill>
                  <a:srgbClr val="142C42"/>
                </a:solidFill>
                <a:latin typeface="Calibri"/>
                <a:ea typeface="Calibri"/>
                <a:cs typeface="Calibri"/>
              </a:defRPr>
            </a:lvl4pPr>
            <a:lvl5pPr>
              <a:defRPr sz="2100" b="0">
                <a:solidFill>
                  <a:srgbClr val="142C42"/>
                </a:solidFill>
                <a:latin typeface="Calibri"/>
                <a:ea typeface="Calibri"/>
                <a:cs typeface="Calibri"/>
              </a:defRPr>
            </a:lvl5pPr>
            <a:lvl6pPr>
              <a:defRPr sz="2100" b="0">
                <a:solidFill>
                  <a:srgbClr val="142C42"/>
                </a:solidFill>
                <a:latin typeface="Calibri"/>
                <a:ea typeface="Calibri"/>
                <a:cs typeface="Calibri"/>
              </a:defRPr>
            </a:lvl6pPr>
            <a:lvl7pPr>
              <a:defRPr sz="2100" b="0">
                <a:solidFill>
                  <a:srgbClr val="142C42"/>
                </a:solidFill>
                <a:latin typeface="Calibri"/>
                <a:ea typeface="Calibri"/>
                <a:cs typeface="Calibri"/>
              </a:defRPr>
            </a:lvl7pPr>
            <a:lvl8pPr>
              <a:defRPr sz="2100" b="0">
                <a:solidFill>
                  <a:srgbClr val="142C42"/>
                </a:solidFill>
                <a:latin typeface="Calibri"/>
                <a:ea typeface="Calibri"/>
                <a:cs typeface="Calibri"/>
              </a:defRPr>
            </a:lvl8pPr>
            <a:lvl9pPr>
              <a:defRPr sz="2100" b="0">
                <a:solidFill>
                  <a:srgbClr val="142C42"/>
                </a:solidFill>
                <a:latin typeface="Calibri"/>
                <a:ea typeface="Calibri"/>
                <a:cs typeface="Calibri"/>
              </a:defRPr>
            </a:lvl9pPr>
          </a:lstStyle>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development rows</a:t>
            </a:r>
          </a:p>
        </p:txBody>
      </p:sp>
      <p:sp>
        <p:nvSpPr>
          <p:cNvPr id="5" name="">
            <a:extLst xmlns:a="http://schemas.openxmlformats.org/drawingml/2006/main">
              <a:ext uri="{FF2B5EF4-FFF2-40B4-BE49-F238E27FC236}">
                <a16:creationId xmlns:a16="http://schemas.microsoft.com/office/drawing/2014/main" id="{B0C6F754-FE77-4FF6-B92D-DDA375EAFF15}"/>
              </a:ext>
            </a:extLst>
          </p:cNvPr>
          <p:cNvSpPr>
            <a:spLocks xmlns:a="http://schemas.openxmlformats.org/drawingml/2006/main" noGrp="1"/>
          </p:cNvSpPr>
          <p:nvPr/>
        </p:nvSpPr>
        <p:spPr>
          <a:xfrm xmlns:a="http://schemas.openxmlformats.org/drawingml/2006/main">
            <a:off x="6810375" y="1581150"/>
            <a:ext cx="4286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100" b="1">
                <a:solidFill>
                  <a:srgbClr val="142C42"/>
                </a:solidFill>
                <a:latin typeface="Calibri"/>
                <a:ea typeface="Calibri"/>
                <a:cs typeface="Calibri"/>
              </a:defRPr>
            </a:defPPr>
            <a:lvl1pPr>
              <a:defRPr sz="5100" b="1">
                <a:solidFill>
                  <a:srgbClr val="142C42"/>
                </a:solidFill>
                <a:latin typeface="Calibri"/>
                <a:ea typeface="Calibri"/>
                <a:cs typeface="Calibri"/>
              </a:defRPr>
            </a:lvl1pPr>
            <a:lvl2pPr>
              <a:defRPr sz="5100" b="1">
                <a:solidFill>
                  <a:srgbClr val="142C42"/>
                </a:solidFill>
                <a:latin typeface="Calibri"/>
                <a:ea typeface="Calibri"/>
                <a:cs typeface="Calibri"/>
              </a:defRPr>
            </a:lvl2pPr>
            <a:lvl3pPr>
              <a:defRPr sz="5100" b="1">
                <a:solidFill>
                  <a:srgbClr val="142C42"/>
                </a:solidFill>
                <a:latin typeface="Calibri"/>
                <a:ea typeface="Calibri"/>
                <a:cs typeface="Calibri"/>
              </a:defRPr>
            </a:lvl3pPr>
            <a:lvl4pPr>
              <a:defRPr sz="5100" b="1">
                <a:solidFill>
                  <a:srgbClr val="142C42"/>
                </a:solidFill>
                <a:latin typeface="Calibri"/>
                <a:ea typeface="Calibri"/>
                <a:cs typeface="Calibri"/>
              </a:defRPr>
            </a:lvl4pPr>
            <a:lvl5pPr>
              <a:defRPr sz="5100" b="1">
                <a:solidFill>
                  <a:srgbClr val="142C42"/>
                </a:solidFill>
                <a:latin typeface="Calibri"/>
                <a:ea typeface="Calibri"/>
                <a:cs typeface="Calibri"/>
              </a:defRPr>
            </a:lvl5pPr>
            <a:lvl6pPr>
              <a:defRPr sz="5100" b="1">
                <a:solidFill>
                  <a:srgbClr val="142C42"/>
                </a:solidFill>
                <a:latin typeface="Calibri"/>
                <a:ea typeface="Calibri"/>
                <a:cs typeface="Calibri"/>
              </a:defRPr>
            </a:lvl6pPr>
            <a:lvl7pPr>
              <a:defRPr sz="5100" b="1">
                <a:solidFill>
                  <a:srgbClr val="142C42"/>
                </a:solidFill>
                <a:latin typeface="Calibri"/>
                <a:ea typeface="Calibri"/>
                <a:cs typeface="Calibri"/>
              </a:defRPr>
            </a:lvl7pPr>
            <a:lvl8pPr>
              <a:defRPr sz="5100" b="1">
                <a:solidFill>
                  <a:srgbClr val="142C42"/>
                </a:solidFill>
                <a:latin typeface="Calibri"/>
                <a:ea typeface="Calibri"/>
                <a:cs typeface="Calibri"/>
              </a:defRPr>
            </a:lvl8pPr>
            <a:lvl9pPr>
              <a:defRPr sz="5100" b="1">
                <a:solidFill>
                  <a:srgbClr val="142C42"/>
                </a:solidFill>
                <a:latin typeface="Calibri"/>
                <a:ea typeface="Calibri"/>
                <a:cs typeface="Calibri"/>
              </a:defRPr>
            </a:lvl9pPr>
          </a:lstStyle>
          <a:p xmlns:a="http://schemas.openxmlformats.org/drawingml/2006/main">
            <a:pPr>
              <a:buNone/>
              <a:defRPr sz="5100" b="1">
                <a:solidFill>
                  <a:srgbClr val="142C42"/>
                </a:solidFill>
                <a:latin typeface="Calibri"/>
                <a:ea typeface="Calibri"/>
                <a:cs typeface="Calibri"/>
              </a:defRPr>
            </a:pPr>
            <a:r>
              <a:rPr sz="5100" b="1">
                <a:solidFill>
                  <a:srgbClr val="142C42"/>
                </a:solidFill>
                <a:latin typeface="Calibri"/>
                <a:ea typeface="Calibri"/>
                <a:cs typeface="Calibri"/>
              </a:rPr>
              <a:t>2,084</a:t>
            </a:r>
          </a:p>
        </p:txBody>
      </p:sp>
      <p:sp>
        <p:nvSpPr>
          <p:cNvPr id="6" name="">
            <a:extLst xmlns:a="http://schemas.openxmlformats.org/drawingml/2006/main">
              <a:ext uri="{FF2B5EF4-FFF2-40B4-BE49-F238E27FC236}">
                <a16:creationId xmlns:a16="http://schemas.microsoft.com/office/drawing/2014/main" id="{55F6E0F9-98ED-49F1-B121-4ED0953D6F9A}"/>
              </a:ext>
            </a:extLst>
          </p:cNvPr>
          <p:cNvSpPr>
            <a:spLocks xmlns:a="http://schemas.openxmlformats.org/drawingml/2006/main" noGrp="1"/>
          </p:cNvSpPr>
          <p:nvPr/>
        </p:nvSpPr>
        <p:spPr>
          <a:xfrm xmlns:a="http://schemas.openxmlformats.org/drawingml/2006/main">
            <a:off x="6810375" y="2447925"/>
            <a:ext cx="428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C42"/>
                </a:solidFill>
                <a:latin typeface="Calibri"/>
                <a:ea typeface="Calibri"/>
                <a:cs typeface="Calibri"/>
              </a:defRPr>
            </a:defPPr>
            <a:lvl1pPr>
              <a:defRPr sz="2100" b="0">
                <a:solidFill>
                  <a:srgbClr val="142C42"/>
                </a:solidFill>
                <a:latin typeface="Calibri"/>
                <a:ea typeface="Calibri"/>
                <a:cs typeface="Calibri"/>
              </a:defRPr>
            </a:lvl1pPr>
            <a:lvl2pPr>
              <a:defRPr sz="2100" b="0">
                <a:solidFill>
                  <a:srgbClr val="142C42"/>
                </a:solidFill>
                <a:latin typeface="Calibri"/>
                <a:ea typeface="Calibri"/>
                <a:cs typeface="Calibri"/>
              </a:defRPr>
            </a:lvl2pPr>
            <a:lvl3pPr>
              <a:defRPr sz="2100" b="0">
                <a:solidFill>
                  <a:srgbClr val="142C42"/>
                </a:solidFill>
                <a:latin typeface="Calibri"/>
                <a:ea typeface="Calibri"/>
                <a:cs typeface="Calibri"/>
              </a:defRPr>
            </a:lvl3pPr>
            <a:lvl4pPr>
              <a:defRPr sz="2100" b="0">
                <a:solidFill>
                  <a:srgbClr val="142C42"/>
                </a:solidFill>
                <a:latin typeface="Calibri"/>
                <a:ea typeface="Calibri"/>
                <a:cs typeface="Calibri"/>
              </a:defRPr>
            </a:lvl4pPr>
            <a:lvl5pPr>
              <a:defRPr sz="2100" b="0">
                <a:solidFill>
                  <a:srgbClr val="142C42"/>
                </a:solidFill>
                <a:latin typeface="Calibri"/>
                <a:ea typeface="Calibri"/>
                <a:cs typeface="Calibri"/>
              </a:defRPr>
            </a:lvl5pPr>
            <a:lvl6pPr>
              <a:defRPr sz="2100" b="0">
                <a:solidFill>
                  <a:srgbClr val="142C42"/>
                </a:solidFill>
                <a:latin typeface="Calibri"/>
                <a:ea typeface="Calibri"/>
                <a:cs typeface="Calibri"/>
              </a:defRPr>
            </a:lvl6pPr>
            <a:lvl7pPr>
              <a:defRPr sz="2100" b="0">
                <a:solidFill>
                  <a:srgbClr val="142C42"/>
                </a:solidFill>
                <a:latin typeface="Calibri"/>
                <a:ea typeface="Calibri"/>
                <a:cs typeface="Calibri"/>
              </a:defRPr>
            </a:lvl7pPr>
            <a:lvl8pPr>
              <a:defRPr sz="2100" b="0">
                <a:solidFill>
                  <a:srgbClr val="142C42"/>
                </a:solidFill>
                <a:latin typeface="Calibri"/>
                <a:ea typeface="Calibri"/>
                <a:cs typeface="Calibri"/>
              </a:defRPr>
            </a:lvl8pPr>
            <a:lvl9pPr>
              <a:defRPr sz="2100" b="0">
                <a:solidFill>
                  <a:srgbClr val="142C42"/>
                </a:solidFill>
                <a:latin typeface="Calibri"/>
                <a:ea typeface="Calibri"/>
                <a:cs typeface="Calibri"/>
              </a:defRPr>
            </a:lvl9pPr>
          </a:lstStyle>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held-out test rows</a:t>
            </a:r>
          </a:p>
        </p:txBody>
      </p:sp>
      <p:graphicFrame>
        <p:nvGraphicFramePr>
          <p:cNvPr id="7" name="">
            <a:extLst xmlns:a="http://schemas.openxmlformats.org/drawingml/2006/main">
              <a:ext uri="{FF2B5EF4-FFF2-40B4-BE49-F238E27FC236}">
                <a16:creationId xmlns:a16="http://schemas.microsoft.com/office/drawing/2014/main" id="{CA087235-4C1F-4648-AA20-FCD51AAA48B9}"/>
              </a:ext>
            </a:extLst>
          </p:cNvPr>
          <p:cNvGraphicFramePr/>
          <p:nvPr/>
        </p:nvGraphicFramePr>
        <p:xfrm>
          <a:off xmlns:a="http://schemas.openxmlformats.org/drawingml/2006/main" x="666750" y="3257550"/>
          <a:ext xmlns:a="http://schemas.openxmlformats.org/drawingml/2006/main" cx="10810875" cy="2362200"/>
        </p:xfrm>
        <a:graphic xmlns:a="http://schemas.openxmlformats.org/drawingml/2006/main">
          <a:graphicData uri="http://schemas.openxmlformats.org/drawingml/2006/table">
            <a:tbl>
              <a:tblPr/>
              <a:tblGrid>
                <a:gridCol w="6096000"/>
                <a:gridCol w="4714875"/>
              </a:tblGrid>
              <a:tr h="590550">
                <a:tc>
                  <a:txBody>
                    <a:bodyPr lIns="114300" tIns="114300" rIns="114300" bIns="114300"/>
                    <a:lstStyle/>
                    <a:p>
                      <a:r>
                        <a:rPr sz="1875" b="1">
                          <a:solidFill>
                            <a:srgbClr val="FFFFFF"/>
                          </a:solidFill>
                          <a:latin typeface="Calibri"/>
                          <a:ea typeface="Calibri"/>
                          <a:cs typeface="Calibri"/>
                        </a:rPr>
                        <a:t>Development only</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Final evaluation</a:t>
                      </a:r>
                    </a:p>
                  </a:txBody>
                  <a:tcPr marL="91440" marR="91440" marT="45720" marB="45720" anchor="ctr">
                    <a:solidFill>
                      <a:srgbClr val="142C42"/>
                    </a:solidFill>
                  </a:tcPr>
                </a:tc>
              </a:tr>
              <a:tr h="590550">
                <a:tc>
                  <a:txBody>
                    <a:bodyPr lIns="114300" tIns="114300" rIns="114300" bIns="114300"/>
                    <a:lstStyle/>
                    <a:p>
                      <a:r>
                        <a:rPr sz="1875" b="0">
                          <a:solidFill>
                            <a:srgbClr val="142C42"/>
                          </a:solidFill>
                          <a:latin typeface="Calibri"/>
                          <a:ea typeface="Calibri"/>
                          <a:cs typeface="Calibri"/>
                        </a:rPr>
                        <a:t>Three stratified folds</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One untouched stratified holdout</a:t>
                      </a:r>
                    </a:p>
                  </a:txBody>
                  <a:tcPr marL="91440" marR="91440" marT="45720" marB="45720" anchor="ctr">
                    <a:solidFill>
                      <a:srgbClr val="FFFFFF"/>
                    </a:solidFill>
                  </a:tcPr>
                </a:tc>
              </a:tr>
              <a:tr h="590550">
                <a:tc>
                  <a:txBody>
                    <a:bodyPr lIns="114300" tIns="114300" rIns="114300" bIns="114300"/>
                    <a:lstStyle/>
                    <a:p>
                      <a:r>
                        <a:rPr sz="1875" b="0">
                          <a:solidFill>
                            <a:srgbClr val="142C42"/>
                          </a:solidFill>
                          <a:latin typeface="Calibri"/>
                          <a:ea typeface="Calibri"/>
                          <a:cs typeface="Calibri"/>
                        </a:rPr>
                        <a:t>Select model by mean average precision</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Evaluate the frozen model</a:t>
                      </a:r>
                    </a:p>
                  </a:txBody>
                  <a:tcPr marL="91440" marR="91440" marT="45720" marB="45720" anchor="ctr">
                    <a:solidFill>
                      <a:srgbClr val="F5F4EF"/>
                    </a:solidFill>
                  </a:tcPr>
                </a:tc>
              </a:tr>
              <a:tr h="590550">
                <a:tc>
                  <a:txBody>
                    <a:bodyPr lIns="114300" tIns="114300" rIns="114300" bIns="114300"/>
                    <a:lstStyle/>
                    <a:p>
                      <a:r>
                        <a:rPr sz="1875" b="0">
                          <a:solidFill>
                            <a:srgbClr val="142C42"/>
                          </a:solidFill>
                          <a:latin typeface="Calibri"/>
                          <a:ea typeface="Calibri"/>
                          <a:cs typeface="Calibri"/>
                        </a:rPr>
                        <a:t>Choose threshold by OOF F2</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Report detections and errors</a:t>
                      </a:r>
                    </a:p>
                  </a:txBody>
                  <a:tcPr marL="91440" marR="91440" marT="45720" marB="45720" anchor="ctr">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B1F6EF19-C1D9-4391-A648-6A01EBA3A8E3}"/>
              </a:ext>
            </a:extLst>
          </p:cNvPr>
          <p:cNvSpPr>
            <a:spLocks xmlns:a="http://schemas.openxmlformats.org/drawingml/2006/main" noGrp="1"/>
          </p:cNvSpPr>
          <p:nvPr/>
        </p:nvSpPr>
        <p:spPr>
          <a:xfrm xmlns:a="http://schemas.openxmlformats.org/drawingml/2006/main">
            <a:off x="685800" y="59245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725" b="0">
                <a:solidFill>
                  <a:srgbClr val="617384"/>
                </a:solidFill>
                <a:latin typeface="Calibri"/>
                <a:ea typeface="Calibri"/>
                <a:cs typeface="Calibri"/>
              </a:defRPr>
            </a:defPPr>
            <a:lvl1pPr>
              <a:defRPr sz="1725" b="0">
                <a:solidFill>
                  <a:srgbClr val="617384"/>
                </a:solidFill>
                <a:latin typeface="Calibri"/>
                <a:ea typeface="Calibri"/>
                <a:cs typeface="Calibri"/>
              </a:defRPr>
            </a:lvl1pPr>
            <a:lvl2pPr>
              <a:defRPr sz="1725" b="0">
                <a:solidFill>
                  <a:srgbClr val="617384"/>
                </a:solidFill>
                <a:latin typeface="Calibri"/>
                <a:ea typeface="Calibri"/>
                <a:cs typeface="Calibri"/>
              </a:defRPr>
            </a:lvl2pPr>
            <a:lvl3pPr>
              <a:defRPr sz="1725" b="0">
                <a:solidFill>
                  <a:srgbClr val="617384"/>
                </a:solidFill>
                <a:latin typeface="Calibri"/>
                <a:ea typeface="Calibri"/>
                <a:cs typeface="Calibri"/>
              </a:defRPr>
            </a:lvl3pPr>
            <a:lvl4pPr>
              <a:defRPr sz="1725" b="0">
                <a:solidFill>
                  <a:srgbClr val="617384"/>
                </a:solidFill>
                <a:latin typeface="Calibri"/>
                <a:ea typeface="Calibri"/>
                <a:cs typeface="Calibri"/>
              </a:defRPr>
            </a:lvl4pPr>
            <a:lvl5pPr>
              <a:defRPr sz="1725" b="0">
                <a:solidFill>
                  <a:srgbClr val="617384"/>
                </a:solidFill>
                <a:latin typeface="Calibri"/>
                <a:ea typeface="Calibri"/>
                <a:cs typeface="Calibri"/>
              </a:defRPr>
            </a:lvl5pPr>
            <a:lvl6pPr>
              <a:defRPr sz="1725" b="0">
                <a:solidFill>
                  <a:srgbClr val="617384"/>
                </a:solidFill>
                <a:latin typeface="Calibri"/>
                <a:ea typeface="Calibri"/>
                <a:cs typeface="Calibri"/>
              </a:defRPr>
            </a:lvl6pPr>
            <a:lvl7pPr>
              <a:defRPr sz="1725" b="0">
                <a:solidFill>
                  <a:srgbClr val="617384"/>
                </a:solidFill>
                <a:latin typeface="Calibri"/>
                <a:ea typeface="Calibri"/>
                <a:cs typeface="Calibri"/>
              </a:defRPr>
            </a:lvl7pPr>
            <a:lvl8pPr>
              <a:defRPr sz="1725" b="0">
                <a:solidFill>
                  <a:srgbClr val="617384"/>
                </a:solidFill>
                <a:latin typeface="Calibri"/>
                <a:ea typeface="Calibri"/>
                <a:cs typeface="Calibri"/>
              </a:defRPr>
            </a:lvl8pPr>
            <a:lvl9pPr>
              <a:defRPr sz="1725" b="0">
                <a:solidFill>
                  <a:srgbClr val="617384"/>
                </a:solidFill>
                <a:latin typeface="Calibri"/>
                <a:ea typeface="Calibri"/>
                <a:cs typeface="Calibri"/>
              </a:defRPr>
            </a:lvl9pPr>
          </a:lstStyle>
          <a:p xmlns:a="http://schemas.openxmlformats.org/drawingml/2006/main">
            <a:pPr>
              <a:buNone/>
              <a:defRPr sz="1725" b="0">
                <a:solidFill>
                  <a:srgbClr val="617384"/>
                </a:solidFill>
                <a:latin typeface="Calibri"/>
                <a:ea typeface="Calibri"/>
                <a:cs typeface="Calibri"/>
              </a:defRPr>
            </a:pPr>
            <a:r>
              <a:rPr sz="1725" b="0">
                <a:solidFill>
                  <a:srgbClr val="617384"/>
                </a:solidFill>
                <a:latin typeface="Calibri"/>
                <a:ea typeface="Calibri"/>
                <a:cs typeface="Calibri"/>
              </a:rPr>
              <a:t>Seed 42. Learned preprocessing is fitted separately inside every training fold.</a:t>
            </a:r>
          </a:p>
        </p:txBody>
      </p:sp>
    </p:spTree>
    <p:extLst>
      <p:ext uri="{BB962C8B-B14F-4D97-AF65-F5344CB8AC3E}">
        <p14:creationId xmlns:p14="http://schemas.microsoft.com/office/powerpoint/2010/main" val="1306636645"/>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C51570-272B-47B3-B8E9-755BB085DEC4}"/>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Six classifiers, consistent evaluation</a:t>
            </a:r>
          </a:p>
        </p:txBody>
      </p:sp>
      <p:sp>
        <p:nvSpPr>
          <p:cNvPr id="2" name="">
            <a:extLst xmlns:a="http://schemas.openxmlformats.org/drawingml/2006/main">
              <a:ext uri="{FF2B5EF4-FFF2-40B4-BE49-F238E27FC236}">
                <a16:creationId xmlns:a16="http://schemas.microsoft.com/office/drawing/2014/main" id="{2EC78568-EA66-4763-94DE-050819031152}"/>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05</a:t>
            </a:r>
          </a:p>
        </p:txBody>
      </p:sp>
      <p:graphicFrame>
        <p:nvGraphicFramePr>
          <p:cNvPr id="3" name="">
            <a:extLst xmlns:a="http://schemas.openxmlformats.org/drawingml/2006/main">
              <a:ext uri="{FF2B5EF4-FFF2-40B4-BE49-F238E27FC236}">
                <a16:creationId xmlns:a16="http://schemas.microsoft.com/office/drawing/2014/main" id="{8ED353A4-4287-4A42-B78F-EB9276727C71}"/>
              </a:ext>
            </a:extLst>
          </p:cNvPr>
          <p:cNvGraphicFramePr/>
          <p:nvPr/>
        </p:nvGraphicFramePr>
        <p:xfrm>
          <a:off xmlns:a="http://schemas.openxmlformats.org/drawingml/2006/main" x="647700" y="1504950"/>
          <a:ext xmlns:a="http://schemas.openxmlformats.org/drawingml/2006/main" cx="10858500" cy="3962400"/>
        </p:xfrm>
        <a:graphic xmlns:a="http://schemas.openxmlformats.org/drawingml/2006/main">
          <a:graphicData uri="http://schemas.openxmlformats.org/drawingml/2006/table">
            <a:tbl>
              <a:tblPr/>
              <a:tblGrid>
                <a:gridCol w="4619625"/>
                <a:gridCol w="6238875"/>
              </a:tblGrid>
              <a:tr h="566057">
                <a:tc>
                  <a:txBody>
                    <a:bodyPr lIns="114300" tIns="114300" rIns="114300" bIns="114300"/>
                    <a:lstStyle/>
                    <a:p>
                      <a:r>
                        <a:rPr sz="1725" b="1">
                          <a:solidFill>
                            <a:srgbClr val="FFFFFF"/>
                          </a:solidFill>
                          <a:latin typeface="Calibri"/>
                          <a:ea typeface="Calibri"/>
                          <a:cs typeface="Calibri"/>
                        </a:rPr>
                        <a:t>Model family</a:t>
                      </a:r>
                    </a:p>
                  </a:txBody>
                  <a:tcPr marL="91440" marR="91440" marT="45720" marB="45720" anchor="ctr">
                    <a:solidFill>
                      <a:srgbClr val="142C42"/>
                    </a:solidFill>
                  </a:tcPr>
                </a:tc>
                <a:tc>
                  <a:txBody>
                    <a:bodyPr lIns="114300" tIns="114300" rIns="114300" bIns="114300"/>
                    <a:lstStyle/>
                    <a:p>
                      <a:r>
                        <a:rPr sz="1725" b="1">
                          <a:solidFill>
                            <a:srgbClr val="FFFFFF"/>
                          </a:solidFill>
                          <a:latin typeface="Calibri"/>
                          <a:ea typeface="Calibri"/>
                          <a:cs typeface="Calibri"/>
                        </a:rPr>
                        <a:t>Preprocessing / imbalance treatment</a:t>
                      </a:r>
                    </a:p>
                  </a:txBody>
                  <a:tcPr marL="91440" marR="91440" marT="45720" marB="45720" anchor="ctr">
                    <a:solidFill>
                      <a:srgbClr val="142C42"/>
                    </a:solidFill>
                  </a:tcPr>
                </a:tc>
              </a:tr>
              <a:tr h="566057">
                <a:tc>
                  <a:txBody>
                    <a:bodyPr lIns="114300" tIns="114300" rIns="114300" bIns="114300"/>
                    <a:lstStyle/>
                    <a:p>
                      <a:r>
                        <a:rPr sz="1725" b="0">
                          <a:solidFill>
                            <a:srgbClr val="142C42"/>
                          </a:solidFill>
                          <a:latin typeface="Calibri"/>
                          <a:ea typeface="Calibri"/>
                          <a:cs typeface="Calibri"/>
                        </a:rPr>
                        <a:t>Logistic regression</a:t>
                      </a:r>
                    </a:p>
                  </a:txBody>
                  <a:tcPr marL="91440" marR="91440" marT="45720" marB="45720" anchor="ctr">
                    <a:solidFill>
                      <a:srgbClr val="FFFFFF"/>
                    </a:solidFill>
                  </a:tcPr>
                </a:tc>
                <a:tc>
                  <a:txBody>
                    <a:bodyPr lIns="114300" tIns="114300" rIns="114300" bIns="114300"/>
                    <a:lstStyle/>
                    <a:p>
                      <a:r>
                        <a:rPr sz="1725" b="0">
                          <a:solidFill>
                            <a:srgbClr val="142C42"/>
                          </a:solidFill>
                          <a:latin typeface="Calibri"/>
                          <a:ea typeface="Calibri"/>
                          <a:cs typeface="Calibri"/>
                        </a:rPr>
                        <a:t>Impute, transform, scale; balanced weights</a:t>
                      </a:r>
                    </a:p>
                  </a:txBody>
                  <a:tcPr marL="91440" marR="91440" marT="45720" marB="45720" anchor="ctr">
                    <a:solidFill>
                      <a:srgbClr val="FFFFFF"/>
                    </a:solidFill>
                  </a:tcPr>
                </a:tc>
              </a:tr>
              <a:tr h="566057">
                <a:tc>
                  <a:txBody>
                    <a:bodyPr lIns="114300" tIns="114300" rIns="114300" bIns="114300"/>
                    <a:lstStyle/>
                    <a:p>
                      <a:r>
                        <a:rPr sz="1725" b="0">
                          <a:solidFill>
                            <a:srgbClr val="142C42"/>
                          </a:solidFill>
                          <a:latin typeface="Calibri"/>
                          <a:ea typeface="Calibri"/>
                          <a:cs typeface="Calibri"/>
                        </a:rPr>
                        <a:t>Gaussian naive Bayes</a:t>
                      </a:r>
                    </a:p>
                  </a:txBody>
                  <a:tcPr marL="91440" marR="91440" marT="45720" marB="45720" anchor="ctr">
                    <a:solidFill>
                      <a:srgbClr val="F5F4EF"/>
                    </a:solidFill>
                  </a:tcPr>
                </a:tc>
                <a:tc>
                  <a:txBody>
                    <a:bodyPr lIns="114300" tIns="114300" rIns="114300" bIns="114300"/>
                    <a:lstStyle/>
                    <a:p>
                      <a:r>
                        <a:rPr sz="1725" b="0">
                          <a:solidFill>
                            <a:srgbClr val="142C42"/>
                          </a:solidFill>
                          <a:latin typeface="Calibri"/>
                          <a:ea typeface="Calibri"/>
                          <a:cs typeface="Calibri"/>
                        </a:rPr>
                        <a:t>Impute, transform, scale</a:t>
                      </a:r>
                    </a:p>
                  </a:txBody>
                  <a:tcPr marL="91440" marR="91440" marT="45720" marB="45720" anchor="ctr">
                    <a:solidFill>
                      <a:srgbClr val="F5F4EF"/>
                    </a:solidFill>
                  </a:tcPr>
                </a:tc>
              </a:tr>
              <a:tr h="566057">
                <a:tc>
                  <a:txBody>
                    <a:bodyPr lIns="114300" tIns="114300" rIns="114300" bIns="114300"/>
                    <a:lstStyle/>
                    <a:p>
                      <a:r>
                        <a:rPr sz="1725" b="0">
                          <a:solidFill>
                            <a:srgbClr val="142C42"/>
                          </a:solidFill>
                          <a:latin typeface="Calibri"/>
                          <a:ea typeface="Calibri"/>
                          <a:cs typeface="Calibri"/>
                        </a:rPr>
                        <a:t>RBF support vector machine</a:t>
                      </a:r>
                    </a:p>
                  </a:txBody>
                  <a:tcPr marL="91440" marR="91440" marT="45720" marB="45720" anchor="ctr">
                    <a:solidFill>
                      <a:srgbClr val="FFFFFF"/>
                    </a:solidFill>
                  </a:tcPr>
                </a:tc>
                <a:tc>
                  <a:txBody>
                    <a:bodyPr lIns="114300" tIns="114300" rIns="114300" bIns="114300"/>
                    <a:lstStyle/>
                    <a:p>
                      <a:r>
                        <a:rPr sz="1725" b="0">
                          <a:solidFill>
                            <a:srgbClr val="142C42"/>
                          </a:solidFill>
                          <a:latin typeface="Calibri"/>
                          <a:ea typeface="Calibri"/>
                          <a:cs typeface="Calibri"/>
                        </a:rPr>
                        <a:t>Impute, transform, scale; balanced weights</a:t>
                      </a:r>
                    </a:p>
                  </a:txBody>
                  <a:tcPr marL="91440" marR="91440" marT="45720" marB="45720" anchor="ctr">
                    <a:solidFill>
                      <a:srgbClr val="FFFFFF"/>
                    </a:solidFill>
                  </a:tcPr>
                </a:tc>
              </a:tr>
              <a:tr h="566057">
                <a:tc>
                  <a:txBody>
                    <a:bodyPr lIns="114300" tIns="114300" rIns="114300" bIns="114300"/>
                    <a:lstStyle/>
                    <a:p>
                      <a:r>
                        <a:rPr sz="1725" b="0">
                          <a:solidFill>
                            <a:srgbClr val="142C42"/>
                          </a:solidFill>
                          <a:latin typeface="Calibri"/>
                          <a:ea typeface="Calibri"/>
                          <a:cs typeface="Calibri"/>
                        </a:rPr>
                        <a:t>Random forest</a:t>
                      </a:r>
                    </a:p>
                  </a:txBody>
                  <a:tcPr marL="91440" marR="91440" marT="45720" marB="45720" anchor="ctr">
                    <a:solidFill>
                      <a:srgbClr val="F5F4EF"/>
                    </a:solidFill>
                  </a:tcPr>
                </a:tc>
                <a:tc>
                  <a:txBody>
                    <a:bodyPr lIns="114300" tIns="114300" rIns="114300" bIns="114300"/>
                    <a:lstStyle/>
                    <a:p>
                      <a:r>
                        <a:rPr sz="1725" b="0">
                          <a:solidFill>
                            <a:srgbClr val="142C42"/>
                          </a:solidFill>
                          <a:latin typeface="Calibri"/>
                          <a:ea typeface="Calibri"/>
                          <a:cs typeface="Calibri"/>
                        </a:rPr>
                        <a:t>Impute + missing indicators; balanced weights</a:t>
                      </a:r>
                    </a:p>
                  </a:txBody>
                  <a:tcPr marL="91440" marR="91440" marT="45720" marB="45720" anchor="ctr">
                    <a:solidFill>
                      <a:srgbClr val="F5F4EF"/>
                    </a:solidFill>
                  </a:tcPr>
                </a:tc>
              </a:tr>
              <a:tr h="566057">
                <a:tc>
                  <a:txBody>
                    <a:bodyPr lIns="114300" tIns="114300" rIns="114300" bIns="114300"/>
                    <a:lstStyle/>
                    <a:p>
                      <a:r>
                        <a:rPr sz="1725" b="0">
                          <a:solidFill>
                            <a:srgbClr val="142C42"/>
                          </a:solidFill>
                          <a:latin typeface="Calibri"/>
                          <a:ea typeface="Calibri"/>
                          <a:cs typeface="Calibri"/>
                        </a:rPr>
                        <a:t>Extra trees</a:t>
                      </a:r>
                    </a:p>
                  </a:txBody>
                  <a:tcPr marL="91440" marR="91440" marT="45720" marB="45720" anchor="ctr">
                    <a:solidFill>
                      <a:srgbClr val="FFFFFF"/>
                    </a:solidFill>
                  </a:tcPr>
                </a:tc>
                <a:tc>
                  <a:txBody>
                    <a:bodyPr lIns="114300" tIns="114300" rIns="114300" bIns="114300"/>
                    <a:lstStyle/>
                    <a:p>
                      <a:r>
                        <a:rPr sz="1725" b="0">
                          <a:solidFill>
                            <a:srgbClr val="142C42"/>
                          </a:solidFill>
                          <a:latin typeface="Calibri"/>
                          <a:ea typeface="Calibri"/>
                          <a:cs typeface="Calibri"/>
                        </a:rPr>
                        <a:t>Impute + missing indicators; balanced weights</a:t>
                      </a:r>
                    </a:p>
                  </a:txBody>
                  <a:tcPr marL="91440" marR="91440" marT="45720" marB="45720" anchor="ctr">
                    <a:solidFill>
                      <a:srgbClr val="FFFFFF"/>
                    </a:solidFill>
                  </a:tcPr>
                </a:tc>
              </a:tr>
              <a:tr h="566057">
                <a:tc>
                  <a:txBody>
                    <a:bodyPr lIns="114300" tIns="114300" rIns="114300" bIns="114300"/>
                    <a:lstStyle/>
                    <a:p>
                      <a:r>
                        <a:rPr sz="1725" b="0">
                          <a:solidFill>
                            <a:srgbClr val="142C42"/>
                          </a:solidFill>
                          <a:latin typeface="Calibri"/>
                          <a:ea typeface="Calibri"/>
                          <a:cs typeface="Calibri"/>
                        </a:rPr>
                        <a:t>Histogram gradient boosting</a:t>
                      </a:r>
                    </a:p>
                  </a:txBody>
                  <a:tcPr marL="91440" marR="91440" marT="45720" marB="45720" anchor="ctr">
                    <a:solidFill>
                      <a:srgbClr val="F5F4EF"/>
                    </a:solidFill>
                  </a:tcPr>
                </a:tc>
                <a:tc>
                  <a:txBody>
                    <a:bodyPr lIns="114300" tIns="114300" rIns="114300" bIns="114300"/>
                    <a:lstStyle/>
                    <a:p>
                      <a:r>
                        <a:rPr sz="1725" b="0">
                          <a:solidFill>
                            <a:srgbClr val="142C42"/>
                          </a:solidFill>
                          <a:latin typeface="Calibri"/>
                          <a:ea typeface="Calibri"/>
                          <a:cs typeface="Calibri"/>
                        </a:rPr>
                        <a:t>Native missing values; balanced weights</a:t>
                      </a:r>
                    </a:p>
                  </a:txBody>
                  <a:tcPr marL="91440" marR="91440" marT="45720" marB="4572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BE4B4F9D-43CE-43E7-9AED-F22B8A56BA7C}"/>
              </a:ext>
            </a:extLst>
          </p:cNvPr>
          <p:cNvSpPr>
            <a:spLocks xmlns:a="http://schemas.openxmlformats.org/drawingml/2006/main" noGrp="1"/>
          </p:cNvSpPr>
          <p:nvPr/>
        </p:nvSpPr>
        <p:spPr>
          <a:xfrm xmlns:a="http://schemas.openxmlformats.org/drawingml/2006/main">
            <a:off x="685800" y="5857875"/>
            <a:ext cx="1057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1">
                <a:solidFill>
                  <a:srgbClr val="007F78"/>
                </a:solidFill>
                <a:latin typeface="Calibri"/>
                <a:ea typeface="Calibri"/>
                <a:cs typeface="Calibri"/>
              </a:defRPr>
            </a:defPPr>
            <a:lvl1pPr>
              <a:defRPr sz="1875" b="1">
                <a:solidFill>
                  <a:srgbClr val="007F78"/>
                </a:solidFill>
                <a:latin typeface="Calibri"/>
                <a:ea typeface="Calibri"/>
                <a:cs typeface="Calibri"/>
              </a:defRPr>
            </a:lvl1pPr>
            <a:lvl2pPr>
              <a:defRPr sz="1875" b="1">
                <a:solidFill>
                  <a:srgbClr val="007F78"/>
                </a:solidFill>
                <a:latin typeface="Calibri"/>
                <a:ea typeface="Calibri"/>
                <a:cs typeface="Calibri"/>
              </a:defRPr>
            </a:lvl2pPr>
            <a:lvl3pPr>
              <a:defRPr sz="1875" b="1">
                <a:solidFill>
                  <a:srgbClr val="007F78"/>
                </a:solidFill>
                <a:latin typeface="Calibri"/>
                <a:ea typeface="Calibri"/>
                <a:cs typeface="Calibri"/>
              </a:defRPr>
            </a:lvl3pPr>
            <a:lvl4pPr>
              <a:defRPr sz="1875" b="1">
                <a:solidFill>
                  <a:srgbClr val="007F78"/>
                </a:solidFill>
                <a:latin typeface="Calibri"/>
                <a:ea typeface="Calibri"/>
                <a:cs typeface="Calibri"/>
              </a:defRPr>
            </a:lvl4pPr>
            <a:lvl5pPr>
              <a:defRPr sz="1875" b="1">
                <a:solidFill>
                  <a:srgbClr val="007F78"/>
                </a:solidFill>
                <a:latin typeface="Calibri"/>
                <a:ea typeface="Calibri"/>
                <a:cs typeface="Calibri"/>
              </a:defRPr>
            </a:lvl5pPr>
            <a:lvl6pPr>
              <a:defRPr sz="1875" b="1">
                <a:solidFill>
                  <a:srgbClr val="007F78"/>
                </a:solidFill>
                <a:latin typeface="Calibri"/>
                <a:ea typeface="Calibri"/>
                <a:cs typeface="Calibri"/>
              </a:defRPr>
            </a:lvl6pPr>
            <a:lvl7pPr>
              <a:defRPr sz="1875" b="1">
                <a:solidFill>
                  <a:srgbClr val="007F78"/>
                </a:solidFill>
                <a:latin typeface="Calibri"/>
                <a:ea typeface="Calibri"/>
                <a:cs typeface="Calibri"/>
              </a:defRPr>
            </a:lvl7pPr>
            <a:lvl8pPr>
              <a:defRPr sz="1875" b="1">
                <a:solidFill>
                  <a:srgbClr val="007F78"/>
                </a:solidFill>
                <a:latin typeface="Calibri"/>
                <a:ea typeface="Calibri"/>
                <a:cs typeface="Calibri"/>
              </a:defRPr>
            </a:lvl8pPr>
            <a:lvl9pPr>
              <a:defRPr sz="1875" b="1">
                <a:solidFill>
                  <a:srgbClr val="007F78"/>
                </a:solidFill>
                <a:latin typeface="Calibri"/>
                <a:ea typeface="Calibri"/>
                <a:cs typeface="Calibri"/>
              </a:defRPr>
            </a:lvl9pPr>
          </a:lstStyle>
          <a:p xmlns:a="http://schemas.openxmlformats.org/drawingml/2006/main">
            <a:pPr>
              <a:buNone/>
              <a:defRPr sz="1875" b="1">
                <a:solidFill>
                  <a:srgbClr val="007F78"/>
                </a:solidFill>
                <a:latin typeface="Calibri"/>
                <a:ea typeface="Calibri"/>
                <a:cs typeface="Calibri"/>
              </a:defRPr>
            </a:pPr>
            <a:r>
              <a:rPr sz="1875" b="1">
                <a:solidFill>
                  <a:srgbClr val="007F78"/>
                </a:solidFill>
                <a:latin typeface="Calibri"/>
                <a:ea typeface="Calibri"/>
                <a:cs typeface="Calibri"/>
              </a:rPr>
              <a:t>Average precision is the primary selection metric because bankruptcy is rare.</a:t>
            </a:r>
          </a:p>
        </p:txBody>
      </p:sp>
    </p:spTree>
    <p:extLst>
      <p:ext uri="{BB962C8B-B14F-4D97-AF65-F5344CB8AC3E}">
        <p14:creationId xmlns:p14="http://schemas.microsoft.com/office/powerpoint/2010/main" val="1493426142"/>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49AC3CF-7867-478B-ADB2-A76EABC3C8B6}"/>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Histogram boosting leads cross-validation</a:t>
            </a:r>
          </a:p>
        </p:txBody>
      </p:sp>
      <p:sp>
        <p:nvSpPr>
          <p:cNvPr id="2" name="">
            <a:extLst xmlns:a="http://schemas.openxmlformats.org/drawingml/2006/main">
              <a:ext uri="{FF2B5EF4-FFF2-40B4-BE49-F238E27FC236}">
                <a16:creationId xmlns:a16="http://schemas.microsoft.com/office/drawing/2014/main" id="{AD14F8F5-5FE1-4E77-BEBE-24BA3D4FA9D1}"/>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06</a:t>
            </a:r>
          </a:p>
        </p:txBody>
      </p:sp>
      <p:sp>
        <p:nvSpPr>
          <p:cNvPr id="3" name="">
            <a:extLst xmlns:a="http://schemas.openxmlformats.org/drawingml/2006/main">
              <a:ext uri="{FF2B5EF4-FFF2-40B4-BE49-F238E27FC236}">
                <a16:creationId xmlns:a16="http://schemas.microsoft.com/office/drawing/2014/main" id="{7173CA89-2412-47AF-A731-3CAD6E4F6F95}"/>
              </a:ext>
            </a:extLst>
          </p:cNvPr>
          <p:cNvSpPr>
            <a:spLocks xmlns:a="http://schemas.openxmlformats.org/drawingml/2006/main" noGrp="1"/>
          </p:cNvSpPr>
          <p:nvPr/>
        </p:nvSpPr>
        <p:spPr>
          <a:xfrm xmlns:a="http://schemas.openxmlformats.org/drawingml/2006/main">
            <a:off x="638175" y="1257300"/>
            <a:ext cx="10858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17384"/>
                </a:solidFill>
                <a:latin typeface="Calibri"/>
                <a:ea typeface="Calibri"/>
                <a:cs typeface="Calibri"/>
              </a:defRPr>
            </a:defPPr>
            <a:lvl1pPr>
              <a:defRPr sz="1875" b="0">
                <a:solidFill>
                  <a:srgbClr val="617384"/>
                </a:solidFill>
                <a:latin typeface="Calibri"/>
                <a:ea typeface="Calibri"/>
                <a:cs typeface="Calibri"/>
              </a:defRPr>
            </a:lvl1pPr>
            <a:lvl2pPr>
              <a:defRPr sz="1875" b="0">
                <a:solidFill>
                  <a:srgbClr val="617384"/>
                </a:solidFill>
                <a:latin typeface="Calibri"/>
                <a:ea typeface="Calibri"/>
                <a:cs typeface="Calibri"/>
              </a:defRPr>
            </a:lvl2pPr>
            <a:lvl3pPr>
              <a:defRPr sz="1875" b="0">
                <a:solidFill>
                  <a:srgbClr val="617384"/>
                </a:solidFill>
                <a:latin typeface="Calibri"/>
                <a:ea typeface="Calibri"/>
                <a:cs typeface="Calibri"/>
              </a:defRPr>
            </a:lvl3pPr>
            <a:lvl4pPr>
              <a:defRPr sz="1875" b="0">
                <a:solidFill>
                  <a:srgbClr val="617384"/>
                </a:solidFill>
                <a:latin typeface="Calibri"/>
                <a:ea typeface="Calibri"/>
                <a:cs typeface="Calibri"/>
              </a:defRPr>
            </a:lvl4pPr>
            <a:lvl5pPr>
              <a:defRPr sz="1875" b="0">
                <a:solidFill>
                  <a:srgbClr val="617384"/>
                </a:solidFill>
                <a:latin typeface="Calibri"/>
                <a:ea typeface="Calibri"/>
                <a:cs typeface="Calibri"/>
              </a:defRPr>
            </a:lvl5pPr>
            <a:lvl6pPr>
              <a:defRPr sz="1875" b="0">
                <a:solidFill>
                  <a:srgbClr val="617384"/>
                </a:solidFill>
                <a:latin typeface="Calibri"/>
                <a:ea typeface="Calibri"/>
                <a:cs typeface="Calibri"/>
              </a:defRPr>
            </a:lvl6pPr>
            <a:lvl7pPr>
              <a:defRPr sz="1875" b="0">
                <a:solidFill>
                  <a:srgbClr val="617384"/>
                </a:solidFill>
                <a:latin typeface="Calibri"/>
                <a:ea typeface="Calibri"/>
                <a:cs typeface="Calibri"/>
              </a:defRPr>
            </a:lvl7pPr>
            <a:lvl8pPr>
              <a:defRPr sz="1875" b="0">
                <a:solidFill>
                  <a:srgbClr val="617384"/>
                </a:solidFill>
                <a:latin typeface="Calibri"/>
                <a:ea typeface="Calibri"/>
                <a:cs typeface="Calibri"/>
              </a:defRPr>
            </a:lvl8pPr>
            <a:lvl9pPr>
              <a:defRPr sz="1875" b="0">
                <a:solidFill>
                  <a:srgbClr val="617384"/>
                </a:solidFill>
                <a:latin typeface="Calibri"/>
                <a:ea typeface="Calibri"/>
                <a:cs typeface="Calibri"/>
              </a:defRPr>
            </a:lvl9pPr>
          </a:lstStyle>
          <a:p xmlns:a="http://schemas.openxmlformats.org/drawingml/2006/main">
            <a:pPr>
              <a:buNone/>
              <a:defRPr sz="1875" b="0">
                <a:solidFill>
                  <a:srgbClr val="617384"/>
                </a:solidFill>
                <a:latin typeface="Calibri"/>
                <a:ea typeface="Calibri"/>
                <a:cs typeface="Calibri"/>
              </a:defRPr>
            </a:pPr>
            <a:r>
              <a:rPr sz="1875" b="0">
                <a:solidFill>
                  <a:srgbClr val="617384"/>
                </a:solidFill>
                <a:latin typeface="Calibri"/>
                <a:ea typeface="Calibri"/>
                <a:cs typeface="Calibri"/>
              </a:rPr>
              <a:t>Mean average precision across three development folds</a:t>
            </a:r>
          </a:p>
        </p:txBody>
      </p:sp>
      <p:graphicFrame>
        <p:nvGraphicFramePr>
          <p:cNvPr id="4" name="Chart">
            <a:extLst xmlns:a="http://schemas.openxmlformats.org/drawingml/2006/main">
              <a:ext uri="{FF2B5EF4-FFF2-40B4-BE49-F238E27FC236}">
                <a16:creationId xmlns:a16="http://schemas.microsoft.com/office/drawing/2014/main" id="{C05BDE18-4C31-4984-8D70-F8031AC8082C}"/>
              </a:ext>
            </a:extLst>
          </p:cNvPr>
          <p:cNvGraphicFramePr/>
          <p:nvPr/>
        </p:nvGraphicFramePr>
        <p:xfrm>
          <a:off xmlns:a="http://schemas.openxmlformats.org/drawingml/2006/main" x="647700" y="2009775"/>
          <a:ext xmlns:a="http://schemas.openxmlformats.org/drawingml/2006/main" cx="10810875" cy="3429000"/>
        </p:xfrm>
        <a:graphic xmlns:a="http://schemas.openxmlformats.org/drawingml/2006/main">
          <a:graphicData uri="http://schemas.openxmlformats.org/drawingml/2006/chart">
            <c:chart xmlns:r="http://schemas.openxmlformats.org/officeDocument/2006/relationships" xmlns:c="http://schemas.openxmlformats.org/drawingml/2006/chart" r:id="R17d668a3fae745fb"/>
          </a:graphicData>
        </a:graphic>
      </p:graphicFrame>
      <p:sp>
        <p:nvSpPr>
          <p:cNvPr id="5" name="">
            <a:extLst xmlns:a="http://schemas.openxmlformats.org/drawingml/2006/main">
              <a:ext uri="{FF2B5EF4-FFF2-40B4-BE49-F238E27FC236}">
                <a16:creationId xmlns:a16="http://schemas.microsoft.com/office/drawing/2014/main" id="{5DCCE7F7-1460-448E-92D9-AB407A87878C}"/>
              </a:ext>
            </a:extLst>
          </p:cNvPr>
          <p:cNvSpPr>
            <a:spLocks xmlns:a="http://schemas.openxmlformats.org/drawingml/2006/main" noGrp="1"/>
          </p:cNvSpPr>
          <p:nvPr/>
        </p:nvSpPr>
        <p:spPr>
          <a:xfrm xmlns:a="http://schemas.openxmlformats.org/drawingml/2006/main">
            <a:off x="685800" y="57150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42C42"/>
                </a:solidFill>
                <a:latin typeface="Calibri"/>
                <a:ea typeface="Calibri"/>
                <a:cs typeface="Calibri"/>
              </a:defRPr>
            </a:defPPr>
            <a:lvl1pPr>
              <a:defRPr sz="2175" b="1">
                <a:solidFill>
                  <a:srgbClr val="142C42"/>
                </a:solidFill>
                <a:latin typeface="Calibri"/>
                <a:ea typeface="Calibri"/>
                <a:cs typeface="Calibri"/>
              </a:defRPr>
            </a:lvl1pPr>
            <a:lvl2pPr>
              <a:defRPr sz="2175" b="1">
                <a:solidFill>
                  <a:srgbClr val="142C42"/>
                </a:solidFill>
                <a:latin typeface="Calibri"/>
                <a:ea typeface="Calibri"/>
                <a:cs typeface="Calibri"/>
              </a:defRPr>
            </a:lvl2pPr>
            <a:lvl3pPr>
              <a:defRPr sz="2175" b="1">
                <a:solidFill>
                  <a:srgbClr val="142C42"/>
                </a:solidFill>
                <a:latin typeface="Calibri"/>
                <a:ea typeface="Calibri"/>
                <a:cs typeface="Calibri"/>
              </a:defRPr>
            </a:lvl3pPr>
            <a:lvl4pPr>
              <a:defRPr sz="2175" b="1">
                <a:solidFill>
                  <a:srgbClr val="142C42"/>
                </a:solidFill>
                <a:latin typeface="Calibri"/>
                <a:ea typeface="Calibri"/>
                <a:cs typeface="Calibri"/>
              </a:defRPr>
            </a:lvl4pPr>
            <a:lvl5pPr>
              <a:defRPr sz="2175" b="1">
                <a:solidFill>
                  <a:srgbClr val="142C42"/>
                </a:solidFill>
                <a:latin typeface="Calibri"/>
                <a:ea typeface="Calibri"/>
                <a:cs typeface="Calibri"/>
              </a:defRPr>
            </a:lvl5pPr>
            <a:lvl6pPr>
              <a:defRPr sz="2175" b="1">
                <a:solidFill>
                  <a:srgbClr val="142C42"/>
                </a:solidFill>
                <a:latin typeface="Calibri"/>
                <a:ea typeface="Calibri"/>
                <a:cs typeface="Calibri"/>
              </a:defRPr>
            </a:lvl6pPr>
            <a:lvl7pPr>
              <a:defRPr sz="2175" b="1">
                <a:solidFill>
                  <a:srgbClr val="142C42"/>
                </a:solidFill>
                <a:latin typeface="Calibri"/>
                <a:ea typeface="Calibri"/>
                <a:cs typeface="Calibri"/>
              </a:defRPr>
            </a:lvl7pPr>
            <a:lvl8pPr>
              <a:defRPr sz="2175" b="1">
                <a:solidFill>
                  <a:srgbClr val="142C42"/>
                </a:solidFill>
                <a:latin typeface="Calibri"/>
                <a:ea typeface="Calibri"/>
                <a:cs typeface="Calibri"/>
              </a:defRPr>
            </a:lvl8pPr>
            <a:lvl9pPr>
              <a:defRPr sz="2175" b="1">
                <a:solidFill>
                  <a:srgbClr val="142C42"/>
                </a:solidFill>
                <a:latin typeface="Calibri"/>
                <a:ea typeface="Calibri"/>
                <a:cs typeface="Calibri"/>
              </a:defRPr>
            </a:lvl9pPr>
          </a:lstStyle>
          <a:p xmlns:a="http://schemas.openxmlformats.org/drawingml/2006/main">
            <a:pPr>
              <a:buNone/>
              <a:defRPr sz="2175" b="1">
                <a:solidFill>
                  <a:srgbClr val="142C42"/>
                </a:solidFill>
                <a:latin typeface="Calibri"/>
                <a:ea typeface="Calibri"/>
                <a:cs typeface="Calibri"/>
              </a:defRPr>
            </a:pPr>
            <a:r>
              <a:rPr sz="2175" b="1">
                <a:solidFill>
                  <a:srgbClr val="142C42"/>
                </a:solidFill>
                <a:latin typeface="Calibri"/>
                <a:ea typeface="Calibri"/>
                <a:cs typeface="Calibri"/>
              </a:rPr>
              <a:t>Selected model: mean AP 0.619, fold SD 0.037</a:t>
            </a:r>
          </a:p>
        </p:txBody>
      </p:sp>
    </p:spTree>
    <p:extLst>
      <p:ext uri="{BB962C8B-B14F-4D97-AF65-F5344CB8AC3E}">
        <p14:creationId xmlns:p14="http://schemas.microsoft.com/office/powerpoint/2010/main" val="1300200114"/>
      </p:ext>
    </p:extLst>
  </p:cSld>
</p:sld>
</file>

<file path=ppt/slides/slide7.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760A4E-FF8B-4EE1-8409-A20E1AF5E3F9}"/>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The threshold sets the screening trade-off</a:t>
            </a:r>
          </a:p>
        </p:txBody>
      </p:sp>
      <p:sp>
        <p:nvSpPr>
          <p:cNvPr id="2" name="">
            <a:extLst xmlns:a="http://schemas.openxmlformats.org/drawingml/2006/main">
              <a:ext uri="{FF2B5EF4-FFF2-40B4-BE49-F238E27FC236}">
                <a16:creationId xmlns:a16="http://schemas.microsoft.com/office/drawing/2014/main" id="{852B2194-0EE0-4D69-A53D-BCB027C1BD82}"/>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07</a:t>
            </a:r>
          </a:p>
        </p:txBody>
      </p:sp>
      <p:graphicFrame>
        <p:nvGraphicFramePr>
          <p:cNvPr id="3" name="Chart">
            <a:extLst xmlns:a="http://schemas.openxmlformats.org/drawingml/2006/main">
              <a:ext uri="{FF2B5EF4-FFF2-40B4-BE49-F238E27FC236}">
                <a16:creationId xmlns:a16="http://schemas.microsoft.com/office/drawing/2014/main" id="{81E5F8AA-ACE1-4F5A-B053-142D0006CF29}"/>
              </a:ext>
            </a:extLst>
          </p:cNvPr>
          <p:cNvGraphicFramePr/>
          <p:nvPr/>
        </p:nvGraphicFramePr>
        <p:xfrm>
          <a:off xmlns:a="http://schemas.openxmlformats.org/drawingml/2006/main" x="619125" y="1695450"/>
          <a:ext xmlns:a="http://schemas.openxmlformats.org/drawingml/2006/main" cx="7143750" cy="3857625"/>
        </p:xfrm>
        <a:graphic xmlns:a="http://schemas.openxmlformats.org/drawingml/2006/main">
          <a:graphicData uri="http://schemas.openxmlformats.org/drawingml/2006/chart">
            <c:chart xmlns:r="http://schemas.openxmlformats.org/officeDocument/2006/relationships" xmlns:c="http://schemas.openxmlformats.org/drawingml/2006/chart" r:id="Re70b04a33c934981"/>
          </a:graphicData>
        </a:graphic>
      </p:graphicFrame>
      <p:sp>
        <p:nvSpPr>
          <p:cNvPr id="4" name="">
            <a:extLst xmlns:a="http://schemas.openxmlformats.org/drawingml/2006/main">
              <a:ext uri="{FF2B5EF4-FFF2-40B4-BE49-F238E27FC236}">
                <a16:creationId xmlns:a16="http://schemas.microsoft.com/office/drawing/2014/main" id="{466CF727-CB6B-4623-B84A-A32C319B703B}"/>
              </a:ext>
            </a:extLst>
          </p:cNvPr>
          <p:cNvSpPr>
            <a:spLocks xmlns:a="http://schemas.openxmlformats.org/drawingml/2006/main" noGrp="1"/>
          </p:cNvSpPr>
          <p:nvPr/>
        </p:nvSpPr>
        <p:spPr>
          <a:xfrm xmlns:a="http://schemas.openxmlformats.org/drawingml/2006/main">
            <a:off x="8267700" y="2019300"/>
            <a:ext cx="3238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007F78"/>
                </a:solidFill>
                <a:latin typeface="Calibri"/>
                <a:ea typeface="Calibri"/>
                <a:cs typeface="Calibri"/>
              </a:defRPr>
            </a:defPPr>
            <a:lvl1pPr>
              <a:defRPr sz="4950" b="1">
                <a:solidFill>
                  <a:srgbClr val="007F78"/>
                </a:solidFill>
                <a:latin typeface="Calibri"/>
                <a:ea typeface="Calibri"/>
                <a:cs typeface="Calibri"/>
              </a:defRPr>
            </a:lvl1pPr>
            <a:lvl2pPr>
              <a:defRPr sz="4950" b="1">
                <a:solidFill>
                  <a:srgbClr val="007F78"/>
                </a:solidFill>
                <a:latin typeface="Calibri"/>
                <a:ea typeface="Calibri"/>
                <a:cs typeface="Calibri"/>
              </a:defRPr>
            </a:lvl2pPr>
            <a:lvl3pPr>
              <a:defRPr sz="4950" b="1">
                <a:solidFill>
                  <a:srgbClr val="007F78"/>
                </a:solidFill>
                <a:latin typeface="Calibri"/>
                <a:ea typeface="Calibri"/>
                <a:cs typeface="Calibri"/>
              </a:defRPr>
            </a:lvl3pPr>
            <a:lvl4pPr>
              <a:defRPr sz="4950" b="1">
                <a:solidFill>
                  <a:srgbClr val="007F78"/>
                </a:solidFill>
                <a:latin typeface="Calibri"/>
                <a:ea typeface="Calibri"/>
                <a:cs typeface="Calibri"/>
              </a:defRPr>
            </a:lvl4pPr>
            <a:lvl5pPr>
              <a:defRPr sz="4950" b="1">
                <a:solidFill>
                  <a:srgbClr val="007F78"/>
                </a:solidFill>
                <a:latin typeface="Calibri"/>
                <a:ea typeface="Calibri"/>
                <a:cs typeface="Calibri"/>
              </a:defRPr>
            </a:lvl5pPr>
            <a:lvl6pPr>
              <a:defRPr sz="4950" b="1">
                <a:solidFill>
                  <a:srgbClr val="007F78"/>
                </a:solidFill>
                <a:latin typeface="Calibri"/>
                <a:ea typeface="Calibri"/>
                <a:cs typeface="Calibri"/>
              </a:defRPr>
            </a:lvl6pPr>
            <a:lvl7pPr>
              <a:defRPr sz="4950" b="1">
                <a:solidFill>
                  <a:srgbClr val="007F78"/>
                </a:solidFill>
                <a:latin typeface="Calibri"/>
                <a:ea typeface="Calibri"/>
                <a:cs typeface="Calibri"/>
              </a:defRPr>
            </a:lvl7pPr>
            <a:lvl8pPr>
              <a:defRPr sz="4950" b="1">
                <a:solidFill>
                  <a:srgbClr val="007F78"/>
                </a:solidFill>
                <a:latin typeface="Calibri"/>
                <a:ea typeface="Calibri"/>
                <a:cs typeface="Calibri"/>
              </a:defRPr>
            </a:lvl8pPr>
            <a:lvl9pPr>
              <a:defRPr sz="4950" b="1">
                <a:solidFill>
                  <a:srgbClr val="007F78"/>
                </a:solidFill>
                <a:latin typeface="Calibri"/>
                <a:ea typeface="Calibri"/>
                <a:cs typeface="Calibri"/>
              </a:defRPr>
            </a:lvl9pPr>
          </a:lstStyle>
          <a:p xmlns:a="http://schemas.openxmlformats.org/drawingml/2006/main">
            <a:pPr>
              <a:buNone/>
              <a:defRPr sz="4950" b="1">
                <a:solidFill>
                  <a:srgbClr val="007F78"/>
                </a:solidFill>
                <a:latin typeface="Calibri"/>
                <a:ea typeface="Calibri"/>
                <a:cs typeface="Calibri"/>
              </a:defRPr>
            </a:pPr>
            <a:r>
              <a:rPr sz="4950" b="1">
                <a:solidFill>
                  <a:srgbClr val="007F78"/>
                </a:solidFill>
                <a:latin typeface="Calibri"/>
                <a:ea typeface="Calibri"/>
                <a:cs typeface="Calibri"/>
              </a:rPr>
              <a:t>0.1980</a:t>
            </a:r>
          </a:p>
        </p:txBody>
      </p:sp>
      <p:sp>
        <p:nvSpPr>
          <p:cNvPr id="5" name="">
            <a:extLst xmlns:a="http://schemas.openxmlformats.org/drawingml/2006/main">
              <a:ext uri="{FF2B5EF4-FFF2-40B4-BE49-F238E27FC236}">
                <a16:creationId xmlns:a16="http://schemas.microsoft.com/office/drawing/2014/main" id="{D8F30F44-A6C2-4E30-AD66-400FCF9508AC}"/>
              </a:ext>
            </a:extLst>
          </p:cNvPr>
          <p:cNvSpPr>
            <a:spLocks xmlns:a="http://schemas.openxmlformats.org/drawingml/2006/main" noGrp="1"/>
          </p:cNvSpPr>
          <p:nvPr/>
        </p:nvSpPr>
        <p:spPr>
          <a:xfrm xmlns:a="http://schemas.openxmlformats.org/drawingml/2006/main">
            <a:off x="8305800" y="3048000"/>
            <a:ext cx="31623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C42"/>
                </a:solidFill>
                <a:latin typeface="Calibri"/>
                <a:ea typeface="Calibri"/>
                <a:cs typeface="Calibri"/>
              </a:defRPr>
            </a:defPPr>
            <a:lvl1pPr>
              <a:defRPr sz="2100" b="0">
                <a:solidFill>
                  <a:srgbClr val="142C42"/>
                </a:solidFill>
                <a:latin typeface="Calibri"/>
                <a:ea typeface="Calibri"/>
                <a:cs typeface="Calibri"/>
              </a:defRPr>
            </a:lvl1pPr>
            <a:lvl2pPr>
              <a:defRPr sz="2100" b="0">
                <a:solidFill>
                  <a:srgbClr val="142C42"/>
                </a:solidFill>
                <a:latin typeface="Calibri"/>
                <a:ea typeface="Calibri"/>
                <a:cs typeface="Calibri"/>
              </a:defRPr>
            </a:lvl2pPr>
            <a:lvl3pPr>
              <a:defRPr sz="2100" b="0">
                <a:solidFill>
                  <a:srgbClr val="142C42"/>
                </a:solidFill>
                <a:latin typeface="Calibri"/>
                <a:ea typeface="Calibri"/>
                <a:cs typeface="Calibri"/>
              </a:defRPr>
            </a:lvl3pPr>
            <a:lvl4pPr>
              <a:defRPr sz="2100" b="0">
                <a:solidFill>
                  <a:srgbClr val="142C42"/>
                </a:solidFill>
                <a:latin typeface="Calibri"/>
                <a:ea typeface="Calibri"/>
                <a:cs typeface="Calibri"/>
              </a:defRPr>
            </a:lvl4pPr>
            <a:lvl5pPr>
              <a:defRPr sz="2100" b="0">
                <a:solidFill>
                  <a:srgbClr val="142C42"/>
                </a:solidFill>
                <a:latin typeface="Calibri"/>
                <a:ea typeface="Calibri"/>
                <a:cs typeface="Calibri"/>
              </a:defRPr>
            </a:lvl5pPr>
            <a:lvl6pPr>
              <a:defRPr sz="2100" b="0">
                <a:solidFill>
                  <a:srgbClr val="142C42"/>
                </a:solidFill>
                <a:latin typeface="Calibri"/>
                <a:ea typeface="Calibri"/>
                <a:cs typeface="Calibri"/>
              </a:defRPr>
            </a:lvl6pPr>
            <a:lvl7pPr>
              <a:defRPr sz="2100" b="0">
                <a:solidFill>
                  <a:srgbClr val="142C42"/>
                </a:solidFill>
                <a:latin typeface="Calibri"/>
                <a:ea typeface="Calibri"/>
                <a:cs typeface="Calibri"/>
              </a:defRPr>
            </a:lvl7pPr>
            <a:lvl8pPr>
              <a:defRPr sz="2100" b="0">
                <a:solidFill>
                  <a:srgbClr val="142C42"/>
                </a:solidFill>
                <a:latin typeface="Calibri"/>
                <a:ea typeface="Calibri"/>
                <a:cs typeface="Calibri"/>
              </a:defRPr>
            </a:lvl8pPr>
            <a:lvl9pPr>
              <a:defRPr sz="2100" b="0">
                <a:solidFill>
                  <a:srgbClr val="142C42"/>
                </a:solidFill>
                <a:latin typeface="Calibri"/>
                <a:ea typeface="Calibri"/>
                <a:cs typeface="Calibri"/>
              </a:defRPr>
            </a:lvl9pPr>
          </a:lstStyle>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chosen from development</a:t>
            </a:r>
          </a:p>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out-of-fold predictions</a:t>
            </a:r>
          </a:p>
        </p:txBody>
      </p:sp>
      <p:sp>
        <p:nvSpPr>
          <p:cNvPr id="6" name="">
            <a:extLst xmlns:a="http://schemas.openxmlformats.org/drawingml/2006/main">
              <a:ext uri="{FF2B5EF4-FFF2-40B4-BE49-F238E27FC236}">
                <a16:creationId xmlns:a16="http://schemas.microsoft.com/office/drawing/2014/main" id="{2DB66B94-A50A-430B-ADA8-7E9D90AEC3D6}"/>
              </a:ext>
            </a:extLst>
          </p:cNvPr>
          <p:cNvSpPr>
            <a:spLocks xmlns:a="http://schemas.openxmlformats.org/drawingml/2006/main" noGrp="1"/>
          </p:cNvSpPr>
          <p:nvPr/>
        </p:nvSpPr>
        <p:spPr>
          <a:xfrm xmlns:a="http://schemas.openxmlformats.org/drawingml/2006/main">
            <a:off x="8305800" y="4362450"/>
            <a:ext cx="309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1">
                <a:solidFill>
                  <a:srgbClr val="142C42"/>
                </a:solidFill>
                <a:latin typeface="Calibri"/>
                <a:ea typeface="Calibri"/>
                <a:cs typeface="Calibri"/>
              </a:defRPr>
            </a:defPPr>
            <a:lvl1pPr>
              <a:defRPr sz="2025" b="1">
                <a:solidFill>
                  <a:srgbClr val="142C42"/>
                </a:solidFill>
                <a:latin typeface="Calibri"/>
                <a:ea typeface="Calibri"/>
                <a:cs typeface="Calibri"/>
              </a:defRPr>
            </a:lvl1pPr>
            <a:lvl2pPr>
              <a:defRPr sz="2025" b="1">
                <a:solidFill>
                  <a:srgbClr val="142C42"/>
                </a:solidFill>
                <a:latin typeface="Calibri"/>
                <a:ea typeface="Calibri"/>
                <a:cs typeface="Calibri"/>
              </a:defRPr>
            </a:lvl2pPr>
            <a:lvl3pPr>
              <a:defRPr sz="2025" b="1">
                <a:solidFill>
                  <a:srgbClr val="142C42"/>
                </a:solidFill>
                <a:latin typeface="Calibri"/>
                <a:ea typeface="Calibri"/>
                <a:cs typeface="Calibri"/>
              </a:defRPr>
            </a:lvl3pPr>
            <a:lvl4pPr>
              <a:defRPr sz="2025" b="1">
                <a:solidFill>
                  <a:srgbClr val="142C42"/>
                </a:solidFill>
                <a:latin typeface="Calibri"/>
                <a:ea typeface="Calibri"/>
                <a:cs typeface="Calibri"/>
              </a:defRPr>
            </a:lvl4pPr>
            <a:lvl5pPr>
              <a:defRPr sz="2025" b="1">
                <a:solidFill>
                  <a:srgbClr val="142C42"/>
                </a:solidFill>
                <a:latin typeface="Calibri"/>
                <a:ea typeface="Calibri"/>
                <a:cs typeface="Calibri"/>
              </a:defRPr>
            </a:lvl5pPr>
            <a:lvl6pPr>
              <a:defRPr sz="2025" b="1">
                <a:solidFill>
                  <a:srgbClr val="142C42"/>
                </a:solidFill>
                <a:latin typeface="Calibri"/>
                <a:ea typeface="Calibri"/>
                <a:cs typeface="Calibri"/>
              </a:defRPr>
            </a:lvl6pPr>
            <a:lvl7pPr>
              <a:defRPr sz="2025" b="1">
                <a:solidFill>
                  <a:srgbClr val="142C42"/>
                </a:solidFill>
                <a:latin typeface="Calibri"/>
                <a:ea typeface="Calibri"/>
                <a:cs typeface="Calibri"/>
              </a:defRPr>
            </a:lvl7pPr>
            <a:lvl8pPr>
              <a:defRPr sz="2025" b="1">
                <a:solidFill>
                  <a:srgbClr val="142C42"/>
                </a:solidFill>
                <a:latin typeface="Calibri"/>
                <a:ea typeface="Calibri"/>
                <a:cs typeface="Calibri"/>
              </a:defRPr>
            </a:lvl8pPr>
            <a:lvl9pPr>
              <a:defRPr sz="2025" b="1">
                <a:solidFill>
                  <a:srgbClr val="142C42"/>
                </a:solidFill>
                <a:latin typeface="Calibri"/>
                <a:ea typeface="Calibri"/>
                <a:cs typeface="Calibri"/>
              </a:defRPr>
            </a:lvl9pPr>
          </a:lstStyle>
          <a:p xmlns:a="http://schemas.openxmlformats.org/drawingml/2006/main">
            <a:pPr>
              <a:buNone/>
              <a:defRPr sz="2025" b="1">
                <a:solidFill>
                  <a:srgbClr val="142C42"/>
                </a:solidFill>
                <a:latin typeface="Calibri"/>
                <a:ea typeface="Calibri"/>
                <a:cs typeface="Calibri"/>
              </a:defRPr>
            </a:pPr>
            <a:r>
              <a:rPr sz="2025" b="1">
                <a:solidFill>
                  <a:srgbClr val="142C42"/>
                </a:solidFill>
                <a:latin typeface="Calibri"/>
                <a:ea typeface="Calibri"/>
                <a:cs typeface="Calibri"/>
              </a:rPr>
              <a:t>F2 emphasizes recall</a:t>
            </a:r>
          </a:p>
        </p:txBody>
      </p:sp>
      <p:sp>
        <p:nvSpPr>
          <p:cNvPr id="7" name="">
            <a:extLst xmlns:a="http://schemas.openxmlformats.org/drawingml/2006/main">
              <a:ext uri="{FF2B5EF4-FFF2-40B4-BE49-F238E27FC236}">
                <a16:creationId xmlns:a16="http://schemas.microsoft.com/office/drawing/2014/main" id="{56F9ED1B-88C9-46DB-B953-F0A99AD5C828}"/>
              </a:ext>
            </a:extLst>
          </p:cNvPr>
          <p:cNvSpPr>
            <a:spLocks xmlns:a="http://schemas.openxmlformats.org/drawingml/2006/main" noGrp="1"/>
          </p:cNvSpPr>
          <p:nvPr/>
        </p:nvSpPr>
        <p:spPr>
          <a:xfrm xmlns:a="http://schemas.openxmlformats.org/drawingml/2006/main">
            <a:off x="8305800" y="4943475"/>
            <a:ext cx="30956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75" b="0">
                <a:solidFill>
                  <a:srgbClr val="617384"/>
                </a:solidFill>
                <a:latin typeface="Calibri"/>
                <a:ea typeface="Calibri"/>
                <a:cs typeface="Calibri"/>
              </a:defRPr>
            </a:defPPr>
            <a:lvl1pPr>
              <a:defRPr sz="1875" b="0">
                <a:solidFill>
                  <a:srgbClr val="617384"/>
                </a:solidFill>
                <a:latin typeface="Calibri"/>
                <a:ea typeface="Calibri"/>
                <a:cs typeface="Calibri"/>
              </a:defRPr>
            </a:lvl1pPr>
            <a:lvl2pPr>
              <a:defRPr sz="1875" b="0">
                <a:solidFill>
                  <a:srgbClr val="617384"/>
                </a:solidFill>
                <a:latin typeface="Calibri"/>
                <a:ea typeface="Calibri"/>
                <a:cs typeface="Calibri"/>
              </a:defRPr>
            </a:lvl2pPr>
            <a:lvl3pPr>
              <a:defRPr sz="1875" b="0">
                <a:solidFill>
                  <a:srgbClr val="617384"/>
                </a:solidFill>
                <a:latin typeface="Calibri"/>
                <a:ea typeface="Calibri"/>
                <a:cs typeface="Calibri"/>
              </a:defRPr>
            </a:lvl3pPr>
            <a:lvl4pPr>
              <a:defRPr sz="1875" b="0">
                <a:solidFill>
                  <a:srgbClr val="617384"/>
                </a:solidFill>
                <a:latin typeface="Calibri"/>
                <a:ea typeface="Calibri"/>
                <a:cs typeface="Calibri"/>
              </a:defRPr>
            </a:lvl4pPr>
            <a:lvl5pPr>
              <a:defRPr sz="1875" b="0">
                <a:solidFill>
                  <a:srgbClr val="617384"/>
                </a:solidFill>
                <a:latin typeface="Calibri"/>
                <a:ea typeface="Calibri"/>
                <a:cs typeface="Calibri"/>
              </a:defRPr>
            </a:lvl5pPr>
            <a:lvl6pPr>
              <a:defRPr sz="1875" b="0">
                <a:solidFill>
                  <a:srgbClr val="617384"/>
                </a:solidFill>
                <a:latin typeface="Calibri"/>
                <a:ea typeface="Calibri"/>
                <a:cs typeface="Calibri"/>
              </a:defRPr>
            </a:lvl6pPr>
            <a:lvl7pPr>
              <a:defRPr sz="1875" b="0">
                <a:solidFill>
                  <a:srgbClr val="617384"/>
                </a:solidFill>
                <a:latin typeface="Calibri"/>
                <a:ea typeface="Calibri"/>
                <a:cs typeface="Calibri"/>
              </a:defRPr>
            </a:lvl7pPr>
            <a:lvl8pPr>
              <a:defRPr sz="1875" b="0">
                <a:solidFill>
                  <a:srgbClr val="617384"/>
                </a:solidFill>
                <a:latin typeface="Calibri"/>
                <a:ea typeface="Calibri"/>
                <a:cs typeface="Calibri"/>
              </a:defRPr>
            </a:lvl8pPr>
            <a:lvl9pPr>
              <a:defRPr sz="1875" b="0">
                <a:solidFill>
                  <a:srgbClr val="617384"/>
                </a:solidFill>
                <a:latin typeface="Calibri"/>
                <a:ea typeface="Calibri"/>
                <a:cs typeface="Calibri"/>
              </a:defRPr>
            </a:lvl9pPr>
          </a:lstStyle>
          <a:p xmlns:a="http://schemas.openxmlformats.org/drawingml/2006/main">
            <a:pPr>
              <a:buNone/>
              <a:defRPr sz="1875" b="0">
                <a:solidFill>
                  <a:srgbClr val="617384"/>
                </a:solidFill>
                <a:latin typeface="Calibri"/>
                <a:ea typeface="Calibri"/>
                <a:cs typeface="Calibri"/>
              </a:defRPr>
            </a:pPr>
            <a:r>
              <a:rPr sz="1875" b="0">
                <a:solidFill>
                  <a:srgbClr val="617384"/>
                </a:solidFill>
                <a:latin typeface="Calibri"/>
                <a:ea typeface="Calibri"/>
                <a:cs typeface="Calibri"/>
              </a:rPr>
              <a:t>The test set does not</a:t>
            </a:r>
          </a:p>
          <a:p xmlns:a="http://schemas.openxmlformats.org/drawingml/2006/main">
            <a:pPr>
              <a:buNone/>
              <a:defRPr sz="1875" b="0">
                <a:solidFill>
                  <a:srgbClr val="617384"/>
                </a:solidFill>
                <a:latin typeface="Calibri"/>
                <a:ea typeface="Calibri"/>
                <a:cs typeface="Calibri"/>
              </a:defRPr>
            </a:pPr>
            <a:r>
              <a:rPr sz="1875" b="0">
                <a:solidFill>
                  <a:srgbClr val="617384"/>
                </a:solidFill>
                <a:latin typeface="Calibri"/>
                <a:ea typeface="Calibri"/>
                <a:cs typeface="Calibri"/>
              </a:rPr>
              <a:t>choose the threshold.</a:t>
            </a:r>
          </a:p>
        </p:txBody>
      </p:sp>
    </p:spTree>
    <p:extLst>
      <p:ext uri="{BB962C8B-B14F-4D97-AF65-F5344CB8AC3E}">
        <p14:creationId xmlns:p14="http://schemas.microsoft.com/office/powerpoint/2010/main" val="1613156839"/>
      </p:ext>
    </p:extLst>
  </p:cSld>
</p:sld>
</file>

<file path=ppt/slides/slide8.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5C22C2F-62EB-4E36-831E-5FE8940CF3EB}"/>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84 of 99 bankruptcies detected</a:t>
            </a:r>
          </a:p>
        </p:txBody>
      </p:sp>
      <p:sp>
        <p:nvSpPr>
          <p:cNvPr id="2" name="">
            <a:extLst xmlns:a="http://schemas.openxmlformats.org/drawingml/2006/main">
              <a:ext uri="{FF2B5EF4-FFF2-40B4-BE49-F238E27FC236}">
                <a16:creationId xmlns:a16="http://schemas.microsoft.com/office/drawing/2014/main" id="{8FC0E3B8-1400-4B5D-BB44-94E455EBACDB}"/>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08</a:t>
            </a:r>
          </a:p>
        </p:txBody>
      </p:sp>
      <p:sp>
        <p:nvSpPr>
          <p:cNvPr id="3" name="">
            <a:extLst xmlns:a="http://schemas.openxmlformats.org/drawingml/2006/main">
              <a:ext uri="{FF2B5EF4-FFF2-40B4-BE49-F238E27FC236}">
                <a16:creationId xmlns:a16="http://schemas.microsoft.com/office/drawing/2014/main" id="{214D0428-4A1E-44DF-8D95-E87B9A42CEA4}"/>
              </a:ext>
            </a:extLst>
          </p:cNvPr>
          <p:cNvSpPr>
            <a:spLocks xmlns:a="http://schemas.openxmlformats.org/drawingml/2006/main" noGrp="1"/>
          </p:cNvSpPr>
          <p:nvPr/>
        </p:nvSpPr>
        <p:spPr>
          <a:xfrm xmlns:a="http://schemas.openxmlformats.org/drawingml/2006/main">
            <a:off x="666750" y="1647825"/>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007F78"/>
                </a:solidFill>
                <a:latin typeface="Calibri"/>
                <a:ea typeface="Calibri"/>
                <a:cs typeface="Calibri"/>
              </a:defRPr>
            </a:defPPr>
            <a:lvl1pPr>
              <a:defRPr sz="5700" b="1">
                <a:solidFill>
                  <a:srgbClr val="007F78"/>
                </a:solidFill>
                <a:latin typeface="Calibri"/>
                <a:ea typeface="Calibri"/>
                <a:cs typeface="Calibri"/>
              </a:defRPr>
            </a:lvl1pPr>
            <a:lvl2pPr>
              <a:defRPr sz="5700" b="1">
                <a:solidFill>
                  <a:srgbClr val="007F78"/>
                </a:solidFill>
                <a:latin typeface="Calibri"/>
                <a:ea typeface="Calibri"/>
                <a:cs typeface="Calibri"/>
              </a:defRPr>
            </a:lvl2pPr>
            <a:lvl3pPr>
              <a:defRPr sz="5700" b="1">
                <a:solidFill>
                  <a:srgbClr val="007F78"/>
                </a:solidFill>
                <a:latin typeface="Calibri"/>
                <a:ea typeface="Calibri"/>
                <a:cs typeface="Calibri"/>
              </a:defRPr>
            </a:lvl3pPr>
            <a:lvl4pPr>
              <a:defRPr sz="5700" b="1">
                <a:solidFill>
                  <a:srgbClr val="007F78"/>
                </a:solidFill>
                <a:latin typeface="Calibri"/>
                <a:ea typeface="Calibri"/>
                <a:cs typeface="Calibri"/>
              </a:defRPr>
            </a:lvl4pPr>
            <a:lvl5pPr>
              <a:defRPr sz="5700" b="1">
                <a:solidFill>
                  <a:srgbClr val="007F78"/>
                </a:solidFill>
                <a:latin typeface="Calibri"/>
                <a:ea typeface="Calibri"/>
                <a:cs typeface="Calibri"/>
              </a:defRPr>
            </a:lvl5pPr>
            <a:lvl6pPr>
              <a:defRPr sz="5700" b="1">
                <a:solidFill>
                  <a:srgbClr val="007F78"/>
                </a:solidFill>
                <a:latin typeface="Calibri"/>
                <a:ea typeface="Calibri"/>
                <a:cs typeface="Calibri"/>
              </a:defRPr>
            </a:lvl6pPr>
            <a:lvl7pPr>
              <a:defRPr sz="5700" b="1">
                <a:solidFill>
                  <a:srgbClr val="007F78"/>
                </a:solidFill>
                <a:latin typeface="Calibri"/>
                <a:ea typeface="Calibri"/>
                <a:cs typeface="Calibri"/>
              </a:defRPr>
            </a:lvl7pPr>
            <a:lvl8pPr>
              <a:defRPr sz="5700" b="1">
                <a:solidFill>
                  <a:srgbClr val="007F78"/>
                </a:solidFill>
                <a:latin typeface="Calibri"/>
                <a:ea typeface="Calibri"/>
                <a:cs typeface="Calibri"/>
              </a:defRPr>
            </a:lvl8pPr>
            <a:lvl9pPr>
              <a:defRPr sz="5700" b="1">
                <a:solidFill>
                  <a:srgbClr val="007F78"/>
                </a:solidFill>
                <a:latin typeface="Calibri"/>
                <a:ea typeface="Calibri"/>
                <a:cs typeface="Calibri"/>
              </a:defRPr>
            </a:lvl9pPr>
          </a:lstStyle>
          <a:p xmlns:a="http://schemas.openxmlformats.org/drawingml/2006/main">
            <a:pPr>
              <a:buNone/>
              <a:defRPr sz="5700" b="1">
                <a:solidFill>
                  <a:srgbClr val="007F78"/>
                </a:solidFill>
                <a:latin typeface="Calibri"/>
                <a:ea typeface="Calibri"/>
                <a:cs typeface="Calibri"/>
              </a:defRPr>
            </a:pPr>
            <a:r>
              <a:rPr sz="5700" b="1">
                <a:solidFill>
                  <a:srgbClr val="007F78"/>
                </a:solidFill>
                <a:latin typeface="Calibri"/>
                <a:ea typeface="Calibri"/>
                <a:cs typeface="Calibri"/>
              </a:rPr>
              <a:t>84.8%</a:t>
            </a:r>
          </a:p>
        </p:txBody>
      </p:sp>
      <p:sp>
        <p:nvSpPr>
          <p:cNvPr id="4" name="">
            <a:extLst xmlns:a="http://schemas.openxmlformats.org/drawingml/2006/main">
              <a:ext uri="{FF2B5EF4-FFF2-40B4-BE49-F238E27FC236}">
                <a16:creationId xmlns:a16="http://schemas.microsoft.com/office/drawing/2014/main" id="{4A427DB6-6209-4492-8ACA-6E73F6A3854A}"/>
              </a:ext>
            </a:extLst>
          </p:cNvPr>
          <p:cNvSpPr>
            <a:spLocks xmlns:a="http://schemas.openxmlformats.org/drawingml/2006/main" noGrp="1"/>
          </p:cNvSpPr>
          <p:nvPr/>
        </p:nvSpPr>
        <p:spPr>
          <a:xfrm xmlns:a="http://schemas.openxmlformats.org/drawingml/2006/main">
            <a:off x="695325" y="26479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C42"/>
                </a:solidFill>
                <a:latin typeface="Calibri"/>
                <a:ea typeface="Calibri"/>
                <a:cs typeface="Calibri"/>
              </a:defRPr>
            </a:defPPr>
            <a:lvl1pPr>
              <a:defRPr sz="2025" b="0">
                <a:solidFill>
                  <a:srgbClr val="142C42"/>
                </a:solidFill>
                <a:latin typeface="Calibri"/>
                <a:ea typeface="Calibri"/>
                <a:cs typeface="Calibri"/>
              </a:defRPr>
            </a:lvl1pPr>
            <a:lvl2pPr>
              <a:defRPr sz="2025" b="0">
                <a:solidFill>
                  <a:srgbClr val="142C42"/>
                </a:solidFill>
                <a:latin typeface="Calibri"/>
                <a:ea typeface="Calibri"/>
                <a:cs typeface="Calibri"/>
              </a:defRPr>
            </a:lvl2pPr>
            <a:lvl3pPr>
              <a:defRPr sz="2025" b="0">
                <a:solidFill>
                  <a:srgbClr val="142C42"/>
                </a:solidFill>
                <a:latin typeface="Calibri"/>
                <a:ea typeface="Calibri"/>
                <a:cs typeface="Calibri"/>
              </a:defRPr>
            </a:lvl3pPr>
            <a:lvl4pPr>
              <a:defRPr sz="2025" b="0">
                <a:solidFill>
                  <a:srgbClr val="142C42"/>
                </a:solidFill>
                <a:latin typeface="Calibri"/>
                <a:ea typeface="Calibri"/>
                <a:cs typeface="Calibri"/>
              </a:defRPr>
            </a:lvl4pPr>
            <a:lvl5pPr>
              <a:defRPr sz="2025" b="0">
                <a:solidFill>
                  <a:srgbClr val="142C42"/>
                </a:solidFill>
                <a:latin typeface="Calibri"/>
                <a:ea typeface="Calibri"/>
                <a:cs typeface="Calibri"/>
              </a:defRPr>
            </a:lvl5pPr>
            <a:lvl6pPr>
              <a:defRPr sz="2025" b="0">
                <a:solidFill>
                  <a:srgbClr val="142C42"/>
                </a:solidFill>
                <a:latin typeface="Calibri"/>
                <a:ea typeface="Calibri"/>
                <a:cs typeface="Calibri"/>
              </a:defRPr>
            </a:lvl6pPr>
            <a:lvl7pPr>
              <a:defRPr sz="2025" b="0">
                <a:solidFill>
                  <a:srgbClr val="142C42"/>
                </a:solidFill>
                <a:latin typeface="Calibri"/>
                <a:ea typeface="Calibri"/>
                <a:cs typeface="Calibri"/>
              </a:defRPr>
            </a:lvl7pPr>
            <a:lvl8pPr>
              <a:defRPr sz="2025" b="0">
                <a:solidFill>
                  <a:srgbClr val="142C42"/>
                </a:solidFill>
                <a:latin typeface="Calibri"/>
                <a:ea typeface="Calibri"/>
                <a:cs typeface="Calibri"/>
              </a:defRPr>
            </a:lvl8pPr>
            <a:lvl9pPr>
              <a:defRPr sz="2025" b="0">
                <a:solidFill>
                  <a:srgbClr val="142C42"/>
                </a:solidFill>
                <a:latin typeface="Calibri"/>
                <a:ea typeface="Calibri"/>
                <a:cs typeface="Calibri"/>
              </a:defRPr>
            </a:lvl9pPr>
          </a:lstStyle>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bankruptcy recall</a:t>
            </a:r>
          </a:p>
        </p:txBody>
      </p:sp>
      <p:sp>
        <p:nvSpPr>
          <p:cNvPr id="5" name="">
            <a:extLst xmlns:a="http://schemas.openxmlformats.org/drawingml/2006/main">
              <a:ext uri="{FF2B5EF4-FFF2-40B4-BE49-F238E27FC236}">
                <a16:creationId xmlns:a16="http://schemas.microsoft.com/office/drawing/2014/main" id="{F2B124BA-ABF3-4E99-9522-89072F47740A}"/>
              </a:ext>
            </a:extLst>
          </p:cNvPr>
          <p:cNvSpPr>
            <a:spLocks xmlns:a="http://schemas.openxmlformats.org/drawingml/2006/main" noGrp="1"/>
          </p:cNvSpPr>
          <p:nvPr/>
        </p:nvSpPr>
        <p:spPr>
          <a:xfrm xmlns:a="http://schemas.openxmlformats.org/drawingml/2006/main">
            <a:off x="666750" y="3695700"/>
            <a:ext cx="3476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5700" b="1">
                <a:solidFill>
                  <a:srgbClr val="142C42"/>
                </a:solidFill>
                <a:latin typeface="Calibri"/>
                <a:ea typeface="Calibri"/>
                <a:cs typeface="Calibri"/>
              </a:defRPr>
            </a:defPPr>
            <a:lvl1pPr>
              <a:defRPr sz="5700" b="1">
                <a:solidFill>
                  <a:srgbClr val="142C42"/>
                </a:solidFill>
                <a:latin typeface="Calibri"/>
                <a:ea typeface="Calibri"/>
                <a:cs typeface="Calibri"/>
              </a:defRPr>
            </a:lvl1pPr>
            <a:lvl2pPr>
              <a:defRPr sz="5700" b="1">
                <a:solidFill>
                  <a:srgbClr val="142C42"/>
                </a:solidFill>
                <a:latin typeface="Calibri"/>
                <a:ea typeface="Calibri"/>
                <a:cs typeface="Calibri"/>
              </a:defRPr>
            </a:lvl2pPr>
            <a:lvl3pPr>
              <a:defRPr sz="5700" b="1">
                <a:solidFill>
                  <a:srgbClr val="142C42"/>
                </a:solidFill>
                <a:latin typeface="Calibri"/>
                <a:ea typeface="Calibri"/>
                <a:cs typeface="Calibri"/>
              </a:defRPr>
            </a:lvl3pPr>
            <a:lvl4pPr>
              <a:defRPr sz="5700" b="1">
                <a:solidFill>
                  <a:srgbClr val="142C42"/>
                </a:solidFill>
                <a:latin typeface="Calibri"/>
                <a:ea typeface="Calibri"/>
                <a:cs typeface="Calibri"/>
              </a:defRPr>
            </a:lvl4pPr>
            <a:lvl5pPr>
              <a:defRPr sz="5700" b="1">
                <a:solidFill>
                  <a:srgbClr val="142C42"/>
                </a:solidFill>
                <a:latin typeface="Calibri"/>
                <a:ea typeface="Calibri"/>
                <a:cs typeface="Calibri"/>
              </a:defRPr>
            </a:lvl5pPr>
            <a:lvl6pPr>
              <a:defRPr sz="5700" b="1">
                <a:solidFill>
                  <a:srgbClr val="142C42"/>
                </a:solidFill>
                <a:latin typeface="Calibri"/>
                <a:ea typeface="Calibri"/>
                <a:cs typeface="Calibri"/>
              </a:defRPr>
            </a:lvl6pPr>
            <a:lvl7pPr>
              <a:defRPr sz="5700" b="1">
                <a:solidFill>
                  <a:srgbClr val="142C42"/>
                </a:solidFill>
                <a:latin typeface="Calibri"/>
                <a:ea typeface="Calibri"/>
                <a:cs typeface="Calibri"/>
              </a:defRPr>
            </a:lvl7pPr>
            <a:lvl8pPr>
              <a:defRPr sz="5700" b="1">
                <a:solidFill>
                  <a:srgbClr val="142C42"/>
                </a:solidFill>
                <a:latin typeface="Calibri"/>
                <a:ea typeface="Calibri"/>
                <a:cs typeface="Calibri"/>
              </a:defRPr>
            </a:lvl8pPr>
            <a:lvl9pPr>
              <a:defRPr sz="5700" b="1">
                <a:solidFill>
                  <a:srgbClr val="142C42"/>
                </a:solidFill>
                <a:latin typeface="Calibri"/>
                <a:ea typeface="Calibri"/>
                <a:cs typeface="Calibri"/>
              </a:defRPr>
            </a:lvl9pPr>
          </a:lstStyle>
          <a:p xmlns:a="http://schemas.openxmlformats.org/drawingml/2006/main">
            <a:pPr>
              <a:buNone/>
              <a:defRPr sz="5700" b="1">
                <a:solidFill>
                  <a:srgbClr val="142C42"/>
                </a:solidFill>
                <a:latin typeface="Calibri"/>
                <a:ea typeface="Calibri"/>
                <a:cs typeface="Calibri"/>
              </a:defRPr>
            </a:pPr>
            <a:r>
              <a:rPr sz="5700" b="1">
                <a:solidFill>
                  <a:srgbClr val="142C42"/>
                </a:solidFill>
                <a:latin typeface="Calibri"/>
                <a:ea typeface="Calibri"/>
                <a:cs typeface="Calibri"/>
              </a:rPr>
              <a:t>34.3%</a:t>
            </a:r>
          </a:p>
        </p:txBody>
      </p:sp>
      <p:sp>
        <p:nvSpPr>
          <p:cNvPr id="6" name="">
            <a:extLst xmlns:a="http://schemas.openxmlformats.org/drawingml/2006/main">
              <a:ext uri="{FF2B5EF4-FFF2-40B4-BE49-F238E27FC236}">
                <a16:creationId xmlns:a16="http://schemas.microsoft.com/office/drawing/2014/main" id="{9DE71C4F-0AC6-41F9-92FA-CB1A32B20F3E}"/>
              </a:ext>
            </a:extLst>
          </p:cNvPr>
          <p:cNvSpPr>
            <a:spLocks xmlns:a="http://schemas.openxmlformats.org/drawingml/2006/main" noGrp="1"/>
          </p:cNvSpPr>
          <p:nvPr/>
        </p:nvSpPr>
        <p:spPr>
          <a:xfrm xmlns:a="http://schemas.openxmlformats.org/drawingml/2006/main">
            <a:off x="695325" y="469582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C42"/>
                </a:solidFill>
                <a:latin typeface="Calibri"/>
                <a:ea typeface="Calibri"/>
                <a:cs typeface="Calibri"/>
              </a:defRPr>
            </a:defPPr>
            <a:lvl1pPr>
              <a:defRPr sz="2025" b="0">
                <a:solidFill>
                  <a:srgbClr val="142C42"/>
                </a:solidFill>
                <a:latin typeface="Calibri"/>
                <a:ea typeface="Calibri"/>
                <a:cs typeface="Calibri"/>
              </a:defRPr>
            </a:lvl1pPr>
            <a:lvl2pPr>
              <a:defRPr sz="2025" b="0">
                <a:solidFill>
                  <a:srgbClr val="142C42"/>
                </a:solidFill>
                <a:latin typeface="Calibri"/>
                <a:ea typeface="Calibri"/>
                <a:cs typeface="Calibri"/>
              </a:defRPr>
            </a:lvl2pPr>
            <a:lvl3pPr>
              <a:defRPr sz="2025" b="0">
                <a:solidFill>
                  <a:srgbClr val="142C42"/>
                </a:solidFill>
                <a:latin typeface="Calibri"/>
                <a:ea typeface="Calibri"/>
                <a:cs typeface="Calibri"/>
              </a:defRPr>
            </a:lvl3pPr>
            <a:lvl4pPr>
              <a:defRPr sz="2025" b="0">
                <a:solidFill>
                  <a:srgbClr val="142C42"/>
                </a:solidFill>
                <a:latin typeface="Calibri"/>
                <a:ea typeface="Calibri"/>
                <a:cs typeface="Calibri"/>
              </a:defRPr>
            </a:lvl4pPr>
            <a:lvl5pPr>
              <a:defRPr sz="2025" b="0">
                <a:solidFill>
                  <a:srgbClr val="142C42"/>
                </a:solidFill>
                <a:latin typeface="Calibri"/>
                <a:ea typeface="Calibri"/>
                <a:cs typeface="Calibri"/>
              </a:defRPr>
            </a:lvl5pPr>
            <a:lvl6pPr>
              <a:defRPr sz="2025" b="0">
                <a:solidFill>
                  <a:srgbClr val="142C42"/>
                </a:solidFill>
                <a:latin typeface="Calibri"/>
                <a:ea typeface="Calibri"/>
                <a:cs typeface="Calibri"/>
              </a:defRPr>
            </a:lvl6pPr>
            <a:lvl7pPr>
              <a:defRPr sz="2025" b="0">
                <a:solidFill>
                  <a:srgbClr val="142C42"/>
                </a:solidFill>
                <a:latin typeface="Calibri"/>
                <a:ea typeface="Calibri"/>
                <a:cs typeface="Calibri"/>
              </a:defRPr>
            </a:lvl7pPr>
            <a:lvl8pPr>
              <a:defRPr sz="2025" b="0">
                <a:solidFill>
                  <a:srgbClr val="142C42"/>
                </a:solidFill>
                <a:latin typeface="Calibri"/>
                <a:ea typeface="Calibri"/>
                <a:cs typeface="Calibri"/>
              </a:defRPr>
            </a:lvl8pPr>
            <a:lvl9pPr>
              <a:defRPr sz="2025" b="0">
                <a:solidFill>
                  <a:srgbClr val="142C42"/>
                </a:solidFill>
                <a:latin typeface="Calibri"/>
                <a:ea typeface="Calibri"/>
                <a:cs typeface="Calibri"/>
              </a:defRPr>
            </a:lvl9pPr>
          </a:lstStyle>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precision</a:t>
            </a:r>
          </a:p>
        </p:txBody>
      </p:sp>
      <p:graphicFrame>
        <p:nvGraphicFramePr>
          <p:cNvPr id="7" name="">
            <a:extLst xmlns:a="http://schemas.openxmlformats.org/drawingml/2006/main">
              <a:ext uri="{FF2B5EF4-FFF2-40B4-BE49-F238E27FC236}">
                <a16:creationId xmlns:a16="http://schemas.microsoft.com/office/drawing/2014/main" id="{7911DFB7-1B78-4377-9AFA-7EFB179763FD}"/>
              </a:ext>
            </a:extLst>
          </p:cNvPr>
          <p:cNvGraphicFramePr/>
          <p:nvPr/>
        </p:nvGraphicFramePr>
        <p:xfrm>
          <a:off xmlns:a="http://schemas.openxmlformats.org/drawingml/2006/main" x="4857750" y="1905000"/>
          <a:ext xmlns:a="http://schemas.openxmlformats.org/drawingml/2006/main" cx="6572250" cy="2857500"/>
        </p:xfrm>
        <a:graphic xmlns:a="http://schemas.openxmlformats.org/drawingml/2006/main">
          <a:graphicData uri="http://schemas.openxmlformats.org/drawingml/2006/table">
            <a:tbl>
              <a:tblPr/>
              <a:tblGrid>
                <a:gridCol w="2857500"/>
                <a:gridCol w="1857375"/>
                <a:gridCol w="1857375"/>
              </a:tblGrid>
              <a:tr h="952500">
                <a:tc>
                  <a:txBody>
                    <a:bodyPr lIns="114300" tIns="114300" rIns="114300" bIns="114300"/>
                    <a:lstStyle/>
                    <a:p>
                      <a:r>
                        <a:rPr sz="2025" b="1">
                          <a:solidFill>
                            <a:srgbClr val="FFFFFF"/>
                          </a:solidFill>
                          <a:latin typeface="Calibri"/>
                          <a:ea typeface="Calibri"/>
                          <a:cs typeface="Calibri"/>
                        </a:rPr>
                        <a:t>Actual / predicted</a:t>
                      </a:r>
                    </a:p>
                  </a:txBody>
                  <a:tcPr marL="91440" marR="91440" marT="45720" marB="45720" anchor="ctr">
                    <a:solidFill>
                      <a:srgbClr val="142C42"/>
                    </a:solidFill>
                  </a:tcPr>
                </a:tc>
                <a:tc>
                  <a:txBody>
                    <a:bodyPr lIns="114300" tIns="114300" rIns="114300" bIns="114300"/>
                    <a:lstStyle/>
                    <a:p>
                      <a:r>
                        <a:rPr sz="2025" b="1">
                          <a:solidFill>
                            <a:srgbClr val="FFFFFF"/>
                          </a:solidFill>
                          <a:latin typeface="Calibri"/>
                          <a:ea typeface="Calibri"/>
                          <a:cs typeface="Calibri"/>
                        </a:rPr>
                        <a:t>Non-bankrupt</a:t>
                      </a:r>
                    </a:p>
                  </a:txBody>
                  <a:tcPr marL="91440" marR="91440" marT="45720" marB="45720" anchor="ctr">
                    <a:solidFill>
                      <a:srgbClr val="142C42"/>
                    </a:solidFill>
                  </a:tcPr>
                </a:tc>
                <a:tc>
                  <a:txBody>
                    <a:bodyPr lIns="114300" tIns="114300" rIns="114300" bIns="114300"/>
                    <a:lstStyle/>
                    <a:p>
                      <a:r>
                        <a:rPr sz="2025" b="1">
                          <a:solidFill>
                            <a:srgbClr val="FFFFFF"/>
                          </a:solidFill>
                          <a:latin typeface="Calibri"/>
                          <a:ea typeface="Calibri"/>
                          <a:cs typeface="Calibri"/>
                        </a:rPr>
                        <a:t>Bankrupt</a:t>
                      </a:r>
                    </a:p>
                  </a:txBody>
                  <a:tcPr marL="91440" marR="91440" marT="45720" marB="45720" anchor="ctr">
                    <a:solidFill>
                      <a:srgbClr val="142C42"/>
                    </a:solidFill>
                  </a:tcPr>
                </a:tc>
              </a:tr>
              <a:tr h="952500">
                <a:tc>
                  <a:txBody>
                    <a:bodyPr lIns="114300" tIns="114300" rIns="114300" bIns="114300"/>
                    <a:lstStyle/>
                    <a:p>
                      <a:r>
                        <a:rPr sz="2025" b="0">
                          <a:solidFill>
                            <a:srgbClr val="142C42"/>
                          </a:solidFill>
                          <a:latin typeface="Calibri"/>
                          <a:ea typeface="Calibri"/>
                          <a:cs typeface="Calibri"/>
                        </a:rPr>
                        <a:t>Non-bankrupt</a:t>
                      </a:r>
                    </a:p>
                  </a:txBody>
                  <a:tcPr marL="91440" marR="91440" marT="45720" marB="45720" anchor="ctr">
                    <a:solidFill>
                      <a:srgbClr val="FFFFFF"/>
                    </a:solidFill>
                  </a:tcPr>
                </a:tc>
                <a:tc>
                  <a:txBody>
                    <a:bodyPr lIns="114300" tIns="114300" rIns="114300" bIns="114300"/>
                    <a:lstStyle/>
                    <a:p>
                      <a:r>
                        <a:rPr sz="2025" b="0">
                          <a:solidFill>
                            <a:srgbClr val="142C42"/>
                          </a:solidFill>
                          <a:latin typeface="Calibri"/>
                          <a:ea typeface="Calibri"/>
                          <a:cs typeface="Calibri"/>
                        </a:rPr>
                        <a:t>1,824</a:t>
                      </a:r>
                    </a:p>
                  </a:txBody>
                  <a:tcPr marL="91440" marR="91440" marT="45720" marB="45720" anchor="ctr">
                    <a:solidFill>
                      <a:srgbClr val="FFFFFF"/>
                    </a:solidFill>
                  </a:tcPr>
                </a:tc>
                <a:tc>
                  <a:txBody>
                    <a:bodyPr lIns="114300" tIns="114300" rIns="114300" bIns="114300"/>
                    <a:lstStyle/>
                    <a:p>
                      <a:r>
                        <a:rPr sz="2025" b="0">
                          <a:solidFill>
                            <a:srgbClr val="142C42"/>
                          </a:solidFill>
                          <a:latin typeface="Calibri"/>
                          <a:ea typeface="Calibri"/>
                          <a:cs typeface="Calibri"/>
                        </a:rPr>
                        <a:t>161</a:t>
                      </a:r>
                    </a:p>
                  </a:txBody>
                  <a:tcPr marL="91440" marR="91440" marT="45720" marB="45720" anchor="ctr">
                    <a:solidFill>
                      <a:srgbClr val="FFFFFF"/>
                    </a:solidFill>
                  </a:tcPr>
                </a:tc>
              </a:tr>
              <a:tr h="952500">
                <a:tc>
                  <a:txBody>
                    <a:bodyPr lIns="114300" tIns="114300" rIns="114300" bIns="114300"/>
                    <a:lstStyle/>
                    <a:p>
                      <a:r>
                        <a:rPr sz="2025" b="0">
                          <a:solidFill>
                            <a:srgbClr val="142C42"/>
                          </a:solidFill>
                          <a:latin typeface="Calibri"/>
                          <a:ea typeface="Calibri"/>
                          <a:cs typeface="Calibri"/>
                        </a:rPr>
                        <a:t>Bankrupt</a:t>
                      </a:r>
                    </a:p>
                  </a:txBody>
                  <a:tcPr marL="91440" marR="91440" marT="45720" marB="45720" anchor="ctr">
                    <a:solidFill>
                      <a:srgbClr val="F5F4EF"/>
                    </a:solidFill>
                  </a:tcPr>
                </a:tc>
                <a:tc>
                  <a:txBody>
                    <a:bodyPr lIns="114300" tIns="114300" rIns="114300" bIns="114300"/>
                    <a:lstStyle/>
                    <a:p>
                      <a:r>
                        <a:rPr sz="2025" b="0">
                          <a:solidFill>
                            <a:srgbClr val="142C42"/>
                          </a:solidFill>
                          <a:latin typeface="Calibri"/>
                          <a:ea typeface="Calibri"/>
                          <a:cs typeface="Calibri"/>
                        </a:rPr>
                        <a:t>15</a:t>
                      </a:r>
                    </a:p>
                  </a:txBody>
                  <a:tcPr marL="91440" marR="91440" marT="45720" marB="45720" anchor="ctr">
                    <a:solidFill>
                      <a:srgbClr val="F5F4EF"/>
                    </a:solidFill>
                  </a:tcPr>
                </a:tc>
                <a:tc>
                  <a:txBody>
                    <a:bodyPr lIns="114300" tIns="114300" rIns="114300" bIns="114300"/>
                    <a:lstStyle/>
                    <a:p>
                      <a:r>
                        <a:rPr sz="2025" b="0">
                          <a:solidFill>
                            <a:srgbClr val="142C42"/>
                          </a:solidFill>
                          <a:latin typeface="Calibri"/>
                          <a:ea typeface="Calibri"/>
                          <a:cs typeface="Calibri"/>
                        </a:rPr>
                        <a:t>84</a:t>
                      </a:r>
                    </a:p>
                  </a:txBody>
                  <a:tcPr marL="91440" marR="91440" marT="45720" marB="45720" anchor="ctr">
                    <a:solidFill>
                      <a:srgbClr val="F5F4EF"/>
                    </a:solidFill>
                  </a:tcPr>
                </a:tc>
              </a:tr>
            </a:tbl>
          </a:graphicData>
        </a:graphic>
      </p:graphicFrame>
      <p:sp>
        <p:nvSpPr>
          <p:cNvPr id="8" name="">
            <a:extLst xmlns:a="http://schemas.openxmlformats.org/drawingml/2006/main">
              <a:ext uri="{FF2B5EF4-FFF2-40B4-BE49-F238E27FC236}">
                <a16:creationId xmlns:a16="http://schemas.microsoft.com/office/drawing/2014/main" id="{7E9EA771-D264-418E-90AC-6EE95E7B9B0E}"/>
              </a:ext>
            </a:extLst>
          </p:cNvPr>
          <p:cNvSpPr>
            <a:spLocks xmlns:a="http://schemas.openxmlformats.org/drawingml/2006/main" noGrp="1"/>
          </p:cNvSpPr>
          <p:nvPr/>
        </p:nvSpPr>
        <p:spPr>
          <a:xfrm xmlns:a="http://schemas.openxmlformats.org/drawingml/2006/main">
            <a:off x="4876800" y="5143500"/>
            <a:ext cx="65722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617384"/>
                </a:solidFill>
                <a:latin typeface="Calibri"/>
                <a:ea typeface="Calibri"/>
                <a:cs typeface="Calibri"/>
              </a:defRPr>
            </a:defPPr>
            <a:lvl1pPr>
              <a:defRPr sz="2025" b="0">
                <a:solidFill>
                  <a:srgbClr val="617384"/>
                </a:solidFill>
                <a:latin typeface="Calibri"/>
                <a:ea typeface="Calibri"/>
                <a:cs typeface="Calibri"/>
              </a:defRPr>
            </a:lvl1pPr>
            <a:lvl2pPr>
              <a:defRPr sz="2025" b="0">
                <a:solidFill>
                  <a:srgbClr val="617384"/>
                </a:solidFill>
                <a:latin typeface="Calibri"/>
                <a:ea typeface="Calibri"/>
                <a:cs typeface="Calibri"/>
              </a:defRPr>
            </a:lvl2pPr>
            <a:lvl3pPr>
              <a:defRPr sz="2025" b="0">
                <a:solidFill>
                  <a:srgbClr val="617384"/>
                </a:solidFill>
                <a:latin typeface="Calibri"/>
                <a:ea typeface="Calibri"/>
                <a:cs typeface="Calibri"/>
              </a:defRPr>
            </a:lvl3pPr>
            <a:lvl4pPr>
              <a:defRPr sz="2025" b="0">
                <a:solidFill>
                  <a:srgbClr val="617384"/>
                </a:solidFill>
                <a:latin typeface="Calibri"/>
                <a:ea typeface="Calibri"/>
                <a:cs typeface="Calibri"/>
              </a:defRPr>
            </a:lvl4pPr>
            <a:lvl5pPr>
              <a:defRPr sz="2025" b="0">
                <a:solidFill>
                  <a:srgbClr val="617384"/>
                </a:solidFill>
                <a:latin typeface="Calibri"/>
                <a:ea typeface="Calibri"/>
                <a:cs typeface="Calibri"/>
              </a:defRPr>
            </a:lvl5pPr>
            <a:lvl6pPr>
              <a:defRPr sz="2025" b="0">
                <a:solidFill>
                  <a:srgbClr val="617384"/>
                </a:solidFill>
                <a:latin typeface="Calibri"/>
                <a:ea typeface="Calibri"/>
                <a:cs typeface="Calibri"/>
              </a:defRPr>
            </a:lvl6pPr>
            <a:lvl7pPr>
              <a:defRPr sz="2025" b="0">
                <a:solidFill>
                  <a:srgbClr val="617384"/>
                </a:solidFill>
                <a:latin typeface="Calibri"/>
                <a:ea typeface="Calibri"/>
                <a:cs typeface="Calibri"/>
              </a:defRPr>
            </a:lvl7pPr>
            <a:lvl8pPr>
              <a:defRPr sz="2025" b="0">
                <a:solidFill>
                  <a:srgbClr val="617384"/>
                </a:solidFill>
                <a:latin typeface="Calibri"/>
                <a:ea typeface="Calibri"/>
                <a:cs typeface="Calibri"/>
              </a:defRPr>
            </a:lvl8pPr>
            <a:lvl9pPr>
              <a:defRPr sz="2025" b="0">
                <a:solidFill>
                  <a:srgbClr val="617384"/>
                </a:solidFill>
                <a:latin typeface="Calibri"/>
                <a:ea typeface="Calibri"/>
                <a:cs typeface="Calibri"/>
              </a:defRPr>
            </a:lvl9pPr>
          </a:lstStyle>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15 missed bankruptcies. 161 false alarms.</a:t>
            </a:r>
          </a:p>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Test set: 2,084 statements with 99 positive labels.</a:t>
            </a:r>
          </a:p>
        </p:txBody>
      </p:sp>
    </p:spTree>
    <p:extLst>
      <p:ext uri="{BB962C8B-B14F-4D97-AF65-F5344CB8AC3E}">
        <p14:creationId xmlns:p14="http://schemas.microsoft.com/office/powerpoint/2010/main" val="1288813762"/>
      </p:ext>
    </p:extLst>
  </p:cSld>
</p:sld>
</file>

<file path=ppt/slides/slide9.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87483B9-1074-4750-BBAF-19E8868401D1}"/>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Ranking quality on the held-out test set</a:t>
            </a:r>
          </a:p>
        </p:txBody>
      </p:sp>
      <p:sp>
        <p:nvSpPr>
          <p:cNvPr id="2" name="">
            <a:extLst xmlns:a="http://schemas.openxmlformats.org/drawingml/2006/main">
              <a:ext uri="{FF2B5EF4-FFF2-40B4-BE49-F238E27FC236}">
                <a16:creationId xmlns:a16="http://schemas.microsoft.com/office/drawing/2014/main" id="{24BBB2DE-4D9C-47EA-809E-D5BF2006DAAD}"/>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09</a:t>
            </a:r>
          </a:p>
        </p:txBody>
      </p:sp>
      <p:sp>
        <p:nvSpPr>
          <p:cNvPr id="3" name="">
            <a:extLst xmlns:a="http://schemas.openxmlformats.org/drawingml/2006/main">
              <a:ext uri="{FF2B5EF4-FFF2-40B4-BE49-F238E27FC236}">
                <a16:creationId xmlns:a16="http://schemas.microsoft.com/office/drawing/2014/main" id="{0F70EA17-B784-432B-849C-9ABA08CF80D4}"/>
              </a:ext>
            </a:extLst>
          </p:cNvPr>
          <p:cNvSpPr>
            <a:spLocks xmlns:a="http://schemas.openxmlformats.org/drawingml/2006/main" noGrp="1"/>
          </p:cNvSpPr>
          <p:nvPr/>
        </p:nvSpPr>
        <p:spPr>
          <a:xfrm xmlns:a="http://schemas.openxmlformats.org/drawingml/2006/main">
            <a:off x="666750" y="1409700"/>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Average precision 0.750</a:t>
            </a:r>
          </a:p>
        </p:txBody>
      </p:sp>
      <p:sp>
        <p:nvSpPr>
          <p:cNvPr id="4" name="">
            <a:extLst xmlns:a="http://schemas.openxmlformats.org/drawingml/2006/main">
              <a:ext uri="{FF2B5EF4-FFF2-40B4-BE49-F238E27FC236}">
                <a16:creationId xmlns:a16="http://schemas.microsoft.com/office/drawing/2014/main" id="{C075158D-1C13-435B-84B4-5D998F82BFA8}"/>
              </a:ext>
            </a:extLst>
          </p:cNvPr>
          <p:cNvSpPr>
            <a:spLocks xmlns:a="http://schemas.openxmlformats.org/drawingml/2006/main" noGrp="1"/>
          </p:cNvSpPr>
          <p:nvPr/>
        </p:nvSpPr>
        <p:spPr>
          <a:xfrm xmlns:a="http://schemas.openxmlformats.org/drawingml/2006/main">
            <a:off x="6648450" y="1409700"/>
            <a:ext cx="466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ROC AUC 0.968</a:t>
            </a:r>
          </a:p>
        </p:txBody>
      </p:sp>
      <p:graphicFrame>
        <p:nvGraphicFramePr>
          <p:cNvPr id="5" name="Chart">
            <a:extLst xmlns:a="http://schemas.openxmlformats.org/drawingml/2006/main">
              <a:ext uri="{FF2B5EF4-FFF2-40B4-BE49-F238E27FC236}">
                <a16:creationId xmlns:a16="http://schemas.microsoft.com/office/drawing/2014/main" id="{52F15AF1-B496-480D-A467-903ADE1FCD18}"/>
              </a:ext>
            </a:extLst>
          </p:cNvPr>
          <p:cNvGraphicFramePr/>
          <p:nvPr/>
        </p:nvGraphicFramePr>
        <p:xfrm>
          <a:off xmlns:a="http://schemas.openxmlformats.org/drawingml/2006/main" x="590550" y="2095500"/>
          <a:ext xmlns:a="http://schemas.openxmlformats.org/drawingml/2006/main" cx="5334000" cy="3524250"/>
        </p:xfrm>
        <a:graphic xmlns:a="http://schemas.openxmlformats.org/drawingml/2006/main">
          <a:graphicData uri="http://schemas.openxmlformats.org/drawingml/2006/chart">
            <c:chart xmlns:r="http://schemas.openxmlformats.org/officeDocument/2006/relationships" xmlns:c="http://schemas.openxmlformats.org/drawingml/2006/chart" r:id="R0f1f6b27be9642d9"/>
          </a:graphicData>
        </a:graphic>
      </p:graphicFrame>
      <p:graphicFrame>
        <p:nvGraphicFramePr>
          <p:cNvPr id="6" name="Chart">
            <a:extLst xmlns:a="http://schemas.openxmlformats.org/drawingml/2006/main">
              <a:ext uri="{FF2B5EF4-FFF2-40B4-BE49-F238E27FC236}">
                <a16:creationId xmlns:a16="http://schemas.microsoft.com/office/drawing/2014/main" id="{94DD21AE-D5EE-4389-AA3A-33C837B51E44}"/>
              </a:ext>
            </a:extLst>
          </p:cNvPr>
          <p:cNvGraphicFramePr/>
          <p:nvPr/>
        </p:nvGraphicFramePr>
        <p:xfrm>
          <a:off xmlns:a="http://schemas.openxmlformats.org/drawingml/2006/main" x="6581775" y="2095500"/>
          <a:ext xmlns:a="http://schemas.openxmlformats.org/drawingml/2006/main" cx="4953000" cy="3524250"/>
        </p:xfrm>
        <a:graphic xmlns:a="http://schemas.openxmlformats.org/drawingml/2006/main">
          <a:graphicData uri="http://schemas.openxmlformats.org/drawingml/2006/chart">
            <c:chart xmlns:r="http://schemas.openxmlformats.org/officeDocument/2006/relationships" xmlns:c="http://schemas.openxmlformats.org/drawingml/2006/chart" r:id="R9c40014d7b6b462c"/>
          </a:graphicData>
        </a:graphic>
      </p:graphicFrame>
      <p:sp>
        <p:nvSpPr>
          <p:cNvPr id="7" name="">
            <a:extLst xmlns:a="http://schemas.openxmlformats.org/drawingml/2006/main">
              <a:ext uri="{FF2B5EF4-FFF2-40B4-BE49-F238E27FC236}">
                <a16:creationId xmlns:a16="http://schemas.microsoft.com/office/drawing/2014/main" id="{653ABDBF-4A27-47B3-B02F-B1AE204D31E1}"/>
              </a:ext>
            </a:extLst>
          </p:cNvPr>
          <p:cNvSpPr>
            <a:spLocks xmlns:a="http://schemas.openxmlformats.org/drawingml/2006/main" noGrp="1"/>
          </p:cNvSpPr>
          <p:nvPr/>
        </p:nvSpPr>
        <p:spPr>
          <a:xfrm xmlns:a="http://schemas.openxmlformats.org/drawingml/2006/main">
            <a:off x="685800" y="595312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17384"/>
                </a:solidFill>
                <a:latin typeface="Calibri"/>
                <a:ea typeface="Calibri"/>
                <a:cs typeface="Calibri"/>
              </a:defRPr>
            </a:defPPr>
            <a:lvl1pPr>
              <a:defRPr sz="1650" b="0">
                <a:solidFill>
                  <a:srgbClr val="617384"/>
                </a:solidFill>
                <a:latin typeface="Calibri"/>
                <a:ea typeface="Calibri"/>
                <a:cs typeface="Calibri"/>
              </a:defRPr>
            </a:lvl1pPr>
            <a:lvl2pPr>
              <a:defRPr sz="1650" b="0">
                <a:solidFill>
                  <a:srgbClr val="617384"/>
                </a:solidFill>
                <a:latin typeface="Calibri"/>
                <a:ea typeface="Calibri"/>
                <a:cs typeface="Calibri"/>
              </a:defRPr>
            </a:lvl2pPr>
            <a:lvl3pPr>
              <a:defRPr sz="1650" b="0">
                <a:solidFill>
                  <a:srgbClr val="617384"/>
                </a:solidFill>
                <a:latin typeface="Calibri"/>
                <a:ea typeface="Calibri"/>
                <a:cs typeface="Calibri"/>
              </a:defRPr>
            </a:lvl3pPr>
            <a:lvl4pPr>
              <a:defRPr sz="1650" b="0">
                <a:solidFill>
                  <a:srgbClr val="617384"/>
                </a:solidFill>
                <a:latin typeface="Calibri"/>
                <a:ea typeface="Calibri"/>
                <a:cs typeface="Calibri"/>
              </a:defRPr>
            </a:lvl4pPr>
            <a:lvl5pPr>
              <a:defRPr sz="1650" b="0">
                <a:solidFill>
                  <a:srgbClr val="617384"/>
                </a:solidFill>
                <a:latin typeface="Calibri"/>
                <a:ea typeface="Calibri"/>
                <a:cs typeface="Calibri"/>
              </a:defRPr>
            </a:lvl5pPr>
            <a:lvl6pPr>
              <a:defRPr sz="1650" b="0">
                <a:solidFill>
                  <a:srgbClr val="617384"/>
                </a:solidFill>
                <a:latin typeface="Calibri"/>
                <a:ea typeface="Calibri"/>
                <a:cs typeface="Calibri"/>
              </a:defRPr>
            </a:lvl6pPr>
            <a:lvl7pPr>
              <a:defRPr sz="1650" b="0">
                <a:solidFill>
                  <a:srgbClr val="617384"/>
                </a:solidFill>
                <a:latin typeface="Calibri"/>
                <a:ea typeface="Calibri"/>
                <a:cs typeface="Calibri"/>
              </a:defRPr>
            </a:lvl7pPr>
            <a:lvl8pPr>
              <a:defRPr sz="1650" b="0">
                <a:solidFill>
                  <a:srgbClr val="617384"/>
                </a:solidFill>
                <a:latin typeface="Calibri"/>
                <a:ea typeface="Calibri"/>
                <a:cs typeface="Calibri"/>
              </a:defRPr>
            </a:lvl8pPr>
            <a:lvl9pPr>
              <a:defRPr sz="1650" b="0">
                <a:solidFill>
                  <a:srgbClr val="617384"/>
                </a:solidFill>
                <a:latin typeface="Calibri"/>
                <a:ea typeface="Calibri"/>
                <a:cs typeface="Calibri"/>
              </a:defRPr>
            </a:lvl9pPr>
          </a:lstStyle>
          <a:p xmlns:a="http://schemas.openxmlformats.org/drawingml/2006/main">
            <a:pPr>
              <a:buNone/>
              <a:defRPr sz="1650" b="0">
                <a:solidFill>
                  <a:srgbClr val="617384"/>
                </a:solidFill>
                <a:latin typeface="Calibri"/>
                <a:ea typeface="Calibri"/>
                <a:cs typeface="Calibri"/>
              </a:defRPr>
            </a:pPr>
            <a:r>
              <a:rPr sz="1650" b="0">
                <a:solidFill>
                  <a:srgbClr val="617384"/>
                </a:solidFill>
                <a:latin typeface="Calibri"/>
                <a:ea typeface="Calibri"/>
                <a:cs typeface="Calibri"/>
              </a:rPr>
              <a:t>Bootstrap 95% AP interval: 0.683–0.820, conditional on the fixed model and test split.</a:t>
            </a:r>
          </a:p>
        </p:txBody>
      </p:sp>
    </p:spTree>
    <p:extLst>
      <p:ext uri="{BB962C8B-B14F-4D97-AF65-F5344CB8AC3E}">
        <p14:creationId xmlns:p14="http://schemas.microsoft.com/office/powerpoint/2010/main" val="1726079891"/>
      </p:ext>
    </p:extLst>
  </p:cSld>
</p:sld>
</file>

<file path=ppt/slides/slide10.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ACB6442-98CA-466F-AC97-9987D414BAA9}"/>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More detections also mean more false alarms</a:t>
            </a:r>
          </a:p>
        </p:txBody>
      </p:sp>
      <p:sp>
        <p:nvSpPr>
          <p:cNvPr id="2" name="">
            <a:extLst xmlns:a="http://schemas.openxmlformats.org/drawingml/2006/main">
              <a:ext uri="{FF2B5EF4-FFF2-40B4-BE49-F238E27FC236}">
                <a16:creationId xmlns:a16="http://schemas.microsoft.com/office/drawing/2014/main" id="{F694A754-752C-430D-89C7-76692D5A06B3}"/>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10</a:t>
            </a:r>
          </a:p>
        </p:txBody>
      </p:sp>
      <p:graphicFrame>
        <p:nvGraphicFramePr>
          <p:cNvPr id="3" name="">
            <a:extLst xmlns:a="http://schemas.openxmlformats.org/drawingml/2006/main">
              <a:ext uri="{FF2B5EF4-FFF2-40B4-BE49-F238E27FC236}">
                <a16:creationId xmlns:a16="http://schemas.microsoft.com/office/drawing/2014/main" id="{2F439A7F-A93C-4647-AAE6-BA3A066F69EB}"/>
              </a:ext>
            </a:extLst>
          </p:cNvPr>
          <p:cNvGraphicFramePr/>
          <p:nvPr/>
        </p:nvGraphicFramePr>
        <p:xfrm>
          <a:off xmlns:a="http://schemas.openxmlformats.org/drawingml/2006/main" x="647700" y="1714500"/>
          <a:ext xmlns:a="http://schemas.openxmlformats.org/drawingml/2006/main" cx="10858500" cy="2171700"/>
        </p:xfrm>
        <a:graphic xmlns:a="http://schemas.openxmlformats.org/drawingml/2006/main">
          <a:graphicData uri="http://schemas.openxmlformats.org/drawingml/2006/table">
            <a:tbl>
              <a:tblPr/>
              <a:tblGrid>
                <a:gridCol w="3238500"/>
                <a:gridCol w="1714500"/>
                <a:gridCol w="1714500"/>
                <a:gridCol w="2238375"/>
                <a:gridCol w="1952625"/>
              </a:tblGrid>
              <a:tr h="723900">
                <a:tc>
                  <a:txBody>
                    <a:bodyPr lIns="114300" tIns="114300" rIns="114300" bIns="114300"/>
                    <a:lstStyle/>
                    <a:p>
                      <a:r>
                        <a:rPr sz="1875" b="1">
                          <a:solidFill>
                            <a:srgbClr val="FFFFFF"/>
                          </a:solidFill>
                          <a:latin typeface="Calibri"/>
                          <a:ea typeface="Calibri"/>
                          <a:cs typeface="Calibri"/>
                        </a:rPr>
                        <a:t>Threshold</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Recall</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Precision</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False alarms</a:t>
                      </a:r>
                    </a:p>
                  </a:txBody>
                  <a:tcPr marL="91440" marR="91440" marT="45720" marB="45720" anchor="ctr">
                    <a:solidFill>
                      <a:srgbClr val="142C42"/>
                    </a:solidFill>
                  </a:tcPr>
                </a:tc>
                <a:tc>
                  <a:txBody>
                    <a:bodyPr lIns="114300" tIns="114300" rIns="114300" bIns="114300"/>
                    <a:lstStyle/>
                    <a:p>
                      <a:r>
                        <a:rPr sz="1875" b="1">
                          <a:solidFill>
                            <a:srgbClr val="FFFFFF"/>
                          </a:solidFill>
                          <a:latin typeface="Calibri"/>
                          <a:ea typeface="Calibri"/>
                          <a:cs typeface="Calibri"/>
                        </a:rPr>
                        <a:t>Missed</a:t>
                      </a:r>
                    </a:p>
                  </a:txBody>
                  <a:tcPr marL="91440" marR="91440" marT="45720" marB="45720" anchor="ctr">
                    <a:solidFill>
                      <a:srgbClr val="142C42"/>
                    </a:solidFill>
                  </a:tcPr>
                </a:tc>
              </a:tr>
              <a:tr h="723900">
                <a:tc>
                  <a:txBody>
                    <a:bodyPr lIns="114300" tIns="114300" rIns="114300" bIns="114300"/>
                    <a:lstStyle/>
                    <a:p>
                      <a:r>
                        <a:rPr sz="1875" b="0">
                          <a:solidFill>
                            <a:srgbClr val="142C42"/>
                          </a:solidFill>
                          <a:latin typeface="Calibri"/>
                          <a:ea typeface="Calibri"/>
                          <a:cs typeface="Calibri"/>
                        </a:rPr>
                        <a:t>OOF choice: 0.198</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84.8%</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34.3%</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161</a:t>
                      </a:r>
                    </a:p>
                  </a:txBody>
                  <a:tcPr marL="91440" marR="91440" marT="45720" marB="45720" anchor="ctr">
                    <a:solidFill>
                      <a:srgbClr val="FFFFFF"/>
                    </a:solidFill>
                  </a:tcPr>
                </a:tc>
                <a:tc>
                  <a:txBody>
                    <a:bodyPr lIns="114300" tIns="114300" rIns="114300" bIns="114300"/>
                    <a:lstStyle/>
                    <a:p>
                      <a:r>
                        <a:rPr sz="1875" b="0">
                          <a:solidFill>
                            <a:srgbClr val="142C42"/>
                          </a:solidFill>
                          <a:latin typeface="Calibri"/>
                          <a:ea typeface="Calibri"/>
                          <a:cs typeface="Calibri"/>
                        </a:rPr>
                        <a:t>15</a:t>
                      </a:r>
                    </a:p>
                  </a:txBody>
                  <a:tcPr marL="91440" marR="91440" marT="45720" marB="45720" anchor="ctr">
                    <a:solidFill>
                      <a:srgbClr val="FFFFFF"/>
                    </a:solidFill>
                  </a:tcPr>
                </a:tc>
              </a:tr>
              <a:tr h="723900">
                <a:tc>
                  <a:txBody>
                    <a:bodyPr lIns="114300" tIns="114300" rIns="114300" bIns="114300"/>
                    <a:lstStyle/>
                    <a:p>
                      <a:r>
                        <a:rPr sz="1875" b="0">
                          <a:solidFill>
                            <a:srgbClr val="142C42"/>
                          </a:solidFill>
                          <a:latin typeface="Calibri"/>
                          <a:ea typeface="Calibri"/>
                          <a:cs typeface="Calibri"/>
                        </a:rPr>
                        <a:t>Default: 0.500</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68.7%</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65.4%</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36</a:t>
                      </a:r>
                    </a:p>
                  </a:txBody>
                  <a:tcPr marL="91440" marR="91440" marT="45720" marB="45720" anchor="ctr">
                    <a:solidFill>
                      <a:srgbClr val="F5F4EF"/>
                    </a:solidFill>
                  </a:tcPr>
                </a:tc>
                <a:tc>
                  <a:txBody>
                    <a:bodyPr lIns="114300" tIns="114300" rIns="114300" bIns="114300"/>
                    <a:lstStyle/>
                    <a:p>
                      <a:r>
                        <a:rPr sz="1875" b="0">
                          <a:solidFill>
                            <a:srgbClr val="142C42"/>
                          </a:solidFill>
                          <a:latin typeface="Calibri"/>
                          <a:ea typeface="Calibri"/>
                          <a:cs typeface="Calibri"/>
                        </a:rPr>
                        <a:t>31</a:t>
                      </a:r>
                    </a:p>
                  </a:txBody>
                  <a:tcPr marL="91440" marR="91440" marT="45720" marB="45720" anchor="ctr">
                    <a:solidFill>
                      <a:srgbClr val="F5F4EF"/>
                    </a:solidFill>
                  </a:tcPr>
                </a:tc>
              </a:tr>
            </a:tbl>
          </a:graphicData>
        </a:graphic>
      </p:graphicFrame>
      <p:sp>
        <p:nvSpPr>
          <p:cNvPr id="4" name="">
            <a:extLst xmlns:a="http://schemas.openxmlformats.org/drawingml/2006/main">
              <a:ext uri="{FF2B5EF4-FFF2-40B4-BE49-F238E27FC236}">
                <a16:creationId xmlns:a16="http://schemas.microsoft.com/office/drawing/2014/main" id="{B90A5473-789E-4C10-BFEA-8EA04E7C9A83}"/>
              </a:ext>
            </a:extLst>
          </p:cNvPr>
          <p:cNvSpPr>
            <a:spLocks xmlns:a="http://schemas.openxmlformats.org/drawingml/2006/main" noGrp="1"/>
          </p:cNvSpPr>
          <p:nvPr/>
        </p:nvSpPr>
        <p:spPr>
          <a:xfrm xmlns:a="http://schemas.openxmlformats.org/drawingml/2006/main">
            <a:off x="685800" y="4362450"/>
            <a:ext cx="200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007F78"/>
                </a:solidFill>
                <a:latin typeface="Calibri"/>
                <a:ea typeface="Calibri"/>
                <a:cs typeface="Calibri"/>
              </a:defRPr>
            </a:defPPr>
            <a:lvl1pPr>
              <a:defRPr sz="4950" b="1">
                <a:solidFill>
                  <a:srgbClr val="007F78"/>
                </a:solidFill>
                <a:latin typeface="Calibri"/>
                <a:ea typeface="Calibri"/>
                <a:cs typeface="Calibri"/>
              </a:defRPr>
            </a:lvl1pPr>
            <a:lvl2pPr>
              <a:defRPr sz="4950" b="1">
                <a:solidFill>
                  <a:srgbClr val="007F78"/>
                </a:solidFill>
                <a:latin typeface="Calibri"/>
                <a:ea typeface="Calibri"/>
                <a:cs typeface="Calibri"/>
              </a:defRPr>
            </a:lvl2pPr>
            <a:lvl3pPr>
              <a:defRPr sz="4950" b="1">
                <a:solidFill>
                  <a:srgbClr val="007F78"/>
                </a:solidFill>
                <a:latin typeface="Calibri"/>
                <a:ea typeface="Calibri"/>
                <a:cs typeface="Calibri"/>
              </a:defRPr>
            </a:lvl3pPr>
            <a:lvl4pPr>
              <a:defRPr sz="4950" b="1">
                <a:solidFill>
                  <a:srgbClr val="007F78"/>
                </a:solidFill>
                <a:latin typeface="Calibri"/>
                <a:ea typeface="Calibri"/>
                <a:cs typeface="Calibri"/>
              </a:defRPr>
            </a:lvl4pPr>
            <a:lvl5pPr>
              <a:defRPr sz="4950" b="1">
                <a:solidFill>
                  <a:srgbClr val="007F78"/>
                </a:solidFill>
                <a:latin typeface="Calibri"/>
                <a:ea typeface="Calibri"/>
                <a:cs typeface="Calibri"/>
              </a:defRPr>
            </a:lvl5pPr>
            <a:lvl6pPr>
              <a:defRPr sz="4950" b="1">
                <a:solidFill>
                  <a:srgbClr val="007F78"/>
                </a:solidFill>
                <a:latin typeface="Calibri"/>
                <a:ea typeface="Calibri"/>
                <a:cs typeface="Calibri"/>
              </a:defRPr>
            </a:lvl6pPr>
            <a:lvl7pPr>
              <a:defRPr sz="4950" b="1">
                <a:solidFill>
                  <a:srgbClr val="007F78"/>
                </a:solidFill>
                <a:latin typeface="Calibri"/>
                <a:ea typeface="Calibri"/>
                <a:cs typeface="Calibri"/>
              </a:defRPr>
            </a:lvl7pPr>
            <a:lvl8pPr>
              <a:defRPr sz="4950" b="1">
                <a:solidFill>
                  <a:srgbClr val="007F78"/>
                </a:solidFill>
                <a:latin typeface="Calibri"/>
                <a:ea typeface="Calibri"/>
                <a:cs typeface="Calibri"/>
              </a:defRPr>
            </a:lvl8pPr>
            <a:lvl9pPr>
              <a:defRPr sz="4950" b="1">
                <a:solidFill>
                  <a:srgbClr val="007F78"/>
                </a:solidFill>
                <a:latin typeface="Calibri"/>
                <a:ea typeface="Calibri"/>
                <a:cs typeface="Calibri"/>
              </a:defRPr>
            </a:lvl9pPr>
          </a:lstStyle>
          <a:p xmlns:a="http://schemas.openxmlformats.org/drawingml/2006/main">
            <a:pPr>
              <a:buNone/>
              <a:defRPr sz="4950" b="1">
                <a:solidFill>
                  <a:srgbClr val="007F78"/>
                </a:solidFill>
                <a:latin typeface="Calibri"/>
                <a:ea typeface="Calibri"/>
                <a:cs typeface="Calibri"/>
              </a:defRPr>
            </a:pPr>
            <a:r>
              <a:rPr sz="4950" b="1">
                <a:solidFill>
                  <a:srgbClr val="007F78"/>
                </a:solidFill>
                <a:latin typeface="Calibri"/>
                <a:ea typeface="Calibri"/>
                <a:cs typeface="Calibri"/>
              </a:rPr>
              <a:t>16</a:t>
            </a:r>
          </a:p>
        </p:txBody>
      </p:sp>
      <p:sp>
        <p:nvSpPr>
          <p:cNvPr id="5" name="">
            <a:extLst xmlns:a="http://schemas.openxmlformats.org/drawingml/2006/main">
              <a:ext uri="{FF2B5EF4-FFF2-40B4-BE49-F238E27FC236}">
                <a16:creationId xmlns:a16="http://schemas.microsoft.com/office/drawing/2014/main" id="{6D756AC7-ED96-48B5-9D49-3EDCCD3C16C7}"/>
              </a:ext>
            </a:extLst>
          </p:cNvPr>
          <p:cNvSpPr>
            <a:spLocks xmlns:a="http://schemas.openxmlformats.org/drawingml/2006/main" noGrp="1"/>
          </p:cNvSpPr>
          <p:nvPr/>
        </p:nvSpPr>
        <p:spPr>
          <a:xfrm xmlns:a="http://schemas.openxmlformats.org/drawingml/2006/main">
            <a:off x="2619375" y="4552950"/>
            <a:ext cx="833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142C42"/>
                </a:solidFill>
                <a:latin typeface="Calibri"/>
                <a:ea typeface="Calibri"/>
                <a:cs typeface="Calibri"/>
              </a:defRPr>
            </a:defPPr>
            <a:lvl1pPr>
              <a:defRPr sz="2475" b="0">
                <a:solidFill>
                  <a:srgbClr val="142C42"/>
                </a:solidFill>
                <a:latin typeface="Calibri"/>
                <a:ea typeface="Calibri"/>
                <a:cs typeface="Calibri"/>
              </a:defRPr>
            </a:lvl1pPr>
            <a:lvl2pPr>
              <a:defRPr sz="2475" b="0">
                <a:solidFill>
                  <a:srgbClr val="142C42"/>
                </a:solidFill>
                <a:latin typeface="Calibri"/>
                <a:ea typeface="Calibri"/>
                <a:cs typeface="Calibri"/>
              </a:defRPr>
            </a:lvl2pPr>
            <a:lvl3pPr>
              <a:defRPr sz="2475" b="0">
                <a:solidFill>
                  <a:srgbClr val="142C42"/>
                </a:solidFill>
                <a:latin typeface="Calibri"/>
                <a:ea typeface="Calibri"/>
                <a:cs typeface="Calibri"/>
              </a:defRPr>
            </a:lvl3pPr>
            <a:lvl4pPr>
              <a:defRPr sz="2475" b="0">
                <a:solidFill>
                  <a:srgbClr val="142C42"/>
                </a:solidFill>
                <a:latin typeface="Calibri"/>
                <a:ea typeface="Calibri"/>
                <a:cs typeface="Calibri"/>
              </a:defRPr>
            </a:lvl4pPr>
            <a:lvl5pPr>
              <a:defRPr sz="2475" b="0">
                <a:solidFill>
                  <a:srgbClr val="142C42"/>
                </a:solidFill>
                <a:latin typeface="Calibri"/>
                <a:ea typeface="Calibri"/>
                <a:cs typeface="Calibri"/>
              </a:defRPr>
            </a:lvl5pPr>
            <a:lvl6pPr>
              <a:defRPr sz="2475" b="0">
                <a:solidFill>
                  <a:srgbClr val="142C42"/>
                </a:solidFill>
                <a:latin typeface="Calibri"/>
                <a:ea typeface="Calibri"/>
                <a:cs typeface="Calibri"/>
              </a:defRPr>
            </a:lvl6pPr>
            <a:lvl7pPr>
              <a:defRPr sz="2475" b="0">
                <a:solidFill>
                  <a:srgbClr val="142C42"/>
                </a:solidFill>
                <a:latin typeface="Calibri"/>
                <a:ea typeface="Calibri"/>
                <a:cs typeface="Calibri"/>
              </a:defRPr>
            </a:lvl7pPr>
            <a:lvl8pPr>
              <a:defRPr sz="2475" b="0">
                <a:solidFill>
                  <a:srgbClr val="142C42"/>
                </a:solidFill>
                <a:latin typeface="Calibri"/>
                <a:ea typeface="Calibri"/>
                <a:cs typeface="Calibri"/>
              </a:defRPr>
            </a:lvl8pPr>
            <a:lvl9pPr>
              <a:defRPr sz="2475" b="0">
                <a:solidFill>
                  <a:srgbClr val="142C42"/>
                </a:solidFill>
                <a:latin typeface="Calibri"/>
                <a:ea typeface="Calibri"/>
                <a:cs typeface="Calibri"/>
              </a:defRPr>
            </a:lvl9pPr>
          </a:lstStyle>
          <a:p xmlns:a="http://schemas.openxmlformats.org/drawingml/2006/main">
            <a:pPr>
              <a:buNone/>
              <a:defRPr sz="2475" b="0">
                <a:solidFill>
                  <a:srgbClr val="142C42"/>
                </a:solidFill>
                <a:latin typeface="Calibri"/>
                <a:ea typeface="Calibri"/>
                <a:cs typeface="Calibri"/>
              </a:defRPr>
            </a:pPr>
            <a:r>
              <a:rPr sz="2475" b="0">
                <a:solidFill>
                  <a:srgbClr val="142C42"/>
                </a:solidFill>
                <a:latin typeface="Calibri"/>
                <a:ea typeface="Calibri"/>
                <a:cs typeface="Calibri"/>
              </a:rPr>
              <a:t>additional bankruptcies detected</a:t>
            </a:r>
          </a:p>
        </p:txBody>
      </p:sp>
      <p:sp>
        <p:nvSpPr>
          <p:cNvPr id="6" name="">
            <a:extLst xmlns:a="http://schemas.openxmlformats.org/drawingml/2006/main">
              <a:ext uri="{FF2B5EF4-FFF2-40B4-BE49-F238E27FC236}">
                <a16:creationId xmlns:a16="http://schemas.microsoft.com/office/drawing/2014/main" id="{BA3C25C4-C738-4517-BC80-88AB012BE1CD}"/>
              </a:ext>
            </a:extLst>
          </p:cNvPr>
          <p:cNvSpPr>
            <a:spLocks xmlns:a="http://schemas.openxmlformats.org/drawingml/2006/main" noGrp="1"/>
          </p:cNvSpPr>
          <p:nvPr/>
        </p:nvSpPr>
        <p:spPr>
          <a:xfrm xmlns:a="http://schemas.openxmlformats.org/drawingml/2006/main">
            <a:off x="685800" y="5276850"/>
            <a:ext cx="2000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4950" b="1">
                <a:solidFill>
                  <a:srgbClr val="C35A43"/>
                </a:solidFill>
                <a:latin typeface="Calibri"/>
                <a:ea typeface="Calibri"/>
                <a:cs typeface="Calibri"/>
              </a:defRPr>
            </a:defPPr>
            <a:lvl1pPr>
              <a:defRPr sz="4950" b="1">
                <a:solidFill>
                  <a:srgbClr val="C35A43"/>
                </a:solidFill>
                <a:latin typeface="Calibri"/>
                <a:ea typeface="Calibri"/>
                <a:cs typeface="Calibri"/>
              </a:defRPr>
            </a:lvl1pPr>
            <a:lvl2pPr>
              <a:defRPr sz="4950" b="1">
                <a:solidFill>
                  <a:srgbClr val="C35A43"/>
                </a:solidFill>
                <a:latin typeface="Calibri"/>
                <a:ea typeface="Calibri"/>
                <a:cs typeface="Calibri"/>
              </a:defRPr>
            </a:lvl2pPr>
            <a:lvl3pPr>
              <a:defRPr sz="4950" b="1">
                <a:solidFill>
                  <a:srgbClr val="C35A43"/>
                </a:solidFill>
                <a:latin typeface="Calibri"/>
                <a:ea typeface="Calibri"/>
                <a:cs typeface="Calibri"/>
              </a:defRPr>
            </a:lvl3pPr>
            <a:lvl4pPr>
              <a:defRPr sz="4950" b="1">
                <a:solidFill>
                  <a:srgbClr val="C35A43"/>
                </a:solidFill>
                <a:latin typeface="Calibri"/>
                <a:ea typeface="Calibri"/>
                <a:cs typeface="Calibri"/>
              </a:defRPr>
            </a:lvl4pPr>
            <a:lvl5pPr>
              <a:defRPr sz="4950" b="1">
                <a:solidFill>
                  <a:srgbClr val="C35A43"/>
                </a:solidFill>
                <a:latin typeface="Calibri"/>
                <a:ea typeface="Calibri"/>
                <a:cs typeface="Calibri"/>
              </a:defRPr>
            </a:lvl5pPr>
            <a:lvl6pPr>
              <a:defRPr sz="4950" b="1">
                <a:solidFill>
                  <a:srgbClr val="C35A43"/>
                </a:solidFill>
                <a:latin typeface="Calibri"/>
                <a:ea typeface="Calibri"/>
                <a:cs typeface="Calibri"/>
              </a:defRPr>
            </a:lvl6pPr>
            <a:lvl7pPr>
              <a:defRPr sz="4950" b="1">
                <a:solidFill>
                  <a:srgbClr val="C35A43"/>
                </a:solidFill>
                <a:latin typeface="Calibri"/>
                <a:ea typeface="Calibri"/>
                <a:cs typeface="Calibri"/>
              </a:defRPr>
            </a:lvl7pPr>
            <a:lvl8pPr>
              <a:defRPr sz="4950" b="1">
                <a:solidFill>
                  <a:srgbClr val="C35A43"/>
                </a:solidFill>
                <a:latin typeface="Calibri"/>
                <a:ea typeface="Calibri"/>
                <a:cs typeface="Calibri"/>
              </a:defRPr>
            </a:lvl8pPr>
            <a:lvl9pPr>
              <a:defRPr sz="4950" b="1">
                <a:solidFill>
                  <a:srgbClr val="C35A43"/>
                </a:solidFill>
                <a:latin typeface="Calibri"/>
                <a:ea typeface="Calibri"/>
                <a:cs typeface="Calibri"/>
              </a:defRPr>
            </a:lvl9pPr>
          </a:lstStyle>
          <a:p xmlns:a="http://schemas.openxmlformats.org/drawingml/2006/main">
            <a:pPr>
              <a:buNone/>
              <a:defRPr sz="4950" b="1">
                <a:solidFill>
                  <a:srgbClr val="C35A43"/>
                </a:solidFill>
                <a:latin typeface="Calibri"/>
                <a:ea typeface="Calibri"/>
                <a:cs typeface="Calibri"/>
              </a:defRPr>
            </a:pPr>
            <a:r>
              <a:rPr sz="4950" b="1">
                <a:solidFill>
                  <a:srgbClr val="C35A43"/>
                </a:solidFill>
                <a:latin typeface="Calibri"/>
                <a:ea typeface="Calibri"/>
                <a:cs typeface="Calibri"/>
              </a:rPr>
              <a:t>125</a:t>
            </a:r>
          </a:p>
        </p:txBody>
      </p:sp>
      <p:sp>
        <p:nvSpPr>
          <p:cNvPr id="7" name="">
            <a:extLst xmlns:a="http://schemas.openxmlformats.org/drawingml/2006/main">
              <a:ext uri="{FF2B5EF4-FFF2-40B4-BE49-F238E27FC236}">
                <a16:creationId xmlns:a16="http://schemas.microsoft.com/office/drawing/2014/main" id="{628EE4C8-CB21-4492-8F1E-D43189B87D89}"/>
              </a:ext>
            </a:extLst>
          </p:cNvPr>
          <p:cNvSpPr>
            <a:spLocks xmlns:a="http://schemas.openxmlformats.org/drawingml/2006/main" noGrp="1"/>
          </p:cNvSpPr>
          <p:nvPr/>
        </p:nvSpPr>
        <p:spPr>
          <a:xfrm xmlns:a="http://schemas.openxmlformats.org/drawingml/2006/main">
            <a:off x="2619375" y="5467350"/>
            <a:ext cx="833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475" b="0">
                <a:solidFill>
                  <a:srgbClr val="142C42"/>
                </a:solidFill>
                <a:latin typeface="Calibri"/>
                <a:ea typeface="Calibri"/>
                <a:cs typeface="Calibri"/>
              </a:defRPr>
            </a:defPPr>
            <a:lvl1pPr>
              <a:defRPr sz="2475" b="0">
                <a:solidFill>
                  <a:srgbClr val="142C42"/>
                </a:solidFill>
                <a:latin typeface="Calibri"/>
                <a:ea typeface="Calibri"/>
                <a:cs typeface="Calibri"/>
              </a:defRPr>
            </a:lvl1pPr>
            <a:lvl2pPr>
              <a:defRPr sz="2475" b="0">
                <a:solidFill>
                  <a:srgbClr val="142C42"/>
                </a:solidFill>
                <a:latin typeface="Calibri"/>
                <a:ea typeface="Calibri"/>
                <a:cs typeface="Calibri"/>
              </a:defRPr>
            </a:lvl2pPr>
            <a:lvl3pPr>
              <a:defRPr sz="2475" b="0">
                <a:solidFill>
                  <a:srgbClr val="142C42"/>
                </a:solidFill>
                <a:latin typeface="Calibri"/>
                <a:ea typeface="Calibri"/>
                <a:cs typeface="Calibri"/>
              </a:defRPr>
            </a:lvl3pPr>
            <a:lvl4pPr>
              <a:defRPr sz="2475" b="0">
                <a:solidFill>
                  <a:srgbClr val="142C42"/>
                </a:solidFill>
                <a:latin typeface="Calibri"/>
                <a:ea typeface="Calibri"/>
                <a:cs typeface="Calibri"/>
              </a:defRPr>
            </a:lvl4pPr>
            <a:lvl5pPr>
              <a:defRPr sz="2475" b="0">
                <a:solidFill>
                  <a:srgbClr val="142C42"/>
                </a:solidFill>
                <a:latin typeface="Calibri"/>
                <a:ea typeface="Calibri"/>
                <a:cs typeface="Calibri"/>
              </a:defRPr>
            </a:lvl5pPr>
            <a:lvl6pPr>
              <a:defRPr sz="2475" b="0">
                <a:solidFill>
                  <a:srgbClr val="142C42"/>
                </a:solidFill>
                <a:latin typeface="Calibri"/>
                <a:ea typeface="Calibri"/>
                <a:cs typeface="Calibri"/>
              </a:defRPr>
            </a:lvl6pPr>
            <a:lvl7pPr>
              <a:defRPr sz="2475" b="0">
                <a:solidFill>
                  <a:srgbClr val="142C42"/>
                </a:solidFill>
                <a:latin typeface="Calibri"/>
                <a:ea typeface="Calibri"/>
                <a:cs typeface="Calibri"/>
              </a:defRPr>
            </a:lvl7pPr>
            <a:lvl8pPr>
              <a:defRPr sz="2475" b="0">
                <a:solidFill>
                  <a:srgbClr val="142C42"/>
                </a:solidFill>
                <a:latin typeface="Calibri"/>
                <a:ea typeface="Calibri"/>
                <a:cs typeface="Calibri"/>
              </a:defRPr>
            </a:lvl8pPr>
            <a:lvl9pPr>
              <a:defRPr sz="2475" b="0">
                <a:solidFill>
                  <a:srgbClr val="142C42"/>
                </a:solidFill>
                <a:latin typeface="Calibri"/>
                <a:ea typeface="Calibri"/>
                <a:cs typeface="Calibri"/>
              </a:defRPr>
            </a:lvl9pPr>
          </a:lstStyle>
          <a:p xmlns:a="http://schemas.openxmlformats.org/drawingml/2006/main">
            <a:pPr>
              <a:buNone/>
              <a:defRPr sz="2475" b="0">
                <a:solidFill>
                  <a:srgbClr val="142C42"/>
                </a:solidFill>
                <a:latin typeface="Calibri"/>
                <a:ea typeface="Calibri"/>
                <a:cs typeface="Calibri"/>
              </a:defRPr>
            </a:pPr>
            <a:r>
              <a:rPr sz="2475" b="0">
                <a:solidFill>
                  <a:srgbClr val="142C42"/>
                </a:solidFill>
                <a:latin typeface="Calibri"/>
                <a:ea typeface="Calibri"/>
                <a:cs typeface="Calibri"/>
              </a:rPr>
              <a:t>additional false alarms</a:t>
            </a:r>
          </a:p>
        </p:txBody>
      </p:sp>
    </p:spTree>
    <p:extLst>
      <p:ext uri="{BB962C8B-B14F-4D97-AF65-F5344CB8AC3E}">
        <p14:creationId xmlns:p14="http://schemas.microsoft.com/office/powerpoint/2010/main" val="294287991"/>
      </p:ext>
    </p:extLst>
  </p:cSld>
</p:sld>
</file>

<file path=ppt/slides/slide11.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65FAF5-9778-435A-9E62-0F3AE149311B}"/>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Which ratios influence the selected model?</a:t>
            </a:r>
          </a:p>
        </p:txBody>
      </p:sp>
      <p:sp>
        <p:nvSpPr>
          <p:cNvPr id="2" name="">
            <a:extLst xmlns:a="http://schemas.openxmlformats.org/drawingml/2006/main">
              <a:ext uri="{FF2B5EF4-FFF2-40B4-BE49-F238E27FC236}">
                <a16:creationId xmlns:a16="http://schemas.microsoft.com/office/drawing/2014/main" id="{2B7527EE-766B-46A9-B013-E9D70312B2CC}"/>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11</a:t>
            </a:r>
          </a:p>
        </p:txBody>
      </p:sp>
      <p:graphicFrame>
        <p:nvGraphicFramePr>
          <p:cNvPr id="3" name="Chart">
            <a:extLst xmlns:a="http://schemas.openxmlformats.org/drawingml/2006/main">
              <a:ext uri="{FF2B5EF4-FFF2-40B4-BE49-F238E27FC236}">
                <a16:creationId xmlns:a16="http://schemas.microsoft.com/office/drawing/2014/main" id="{B6C1A792-99C2-4039-8C24-2C661279D3D3}"/>
              </a:ext>
            </a:extLst>
          </p:cNvPr>
          <p:cNvGraphicFramePr/>
          <p:nvPr/>
        </p:nvGraphicFramePr>
        <p:xfrm>
          <a:off xmlns:a="http://schemas.openxmlformats.org/drawingml/2006/main" x="590550" y="1619250"/>
          <a:ext xmlns:a="http://schemas.openxmlformats.org/drawingml/2006/main" cx="6762750" cy="3714750"/>
        </p:xfrm>
        <a:graphic xmlns:a="http://schemas.openxmlformats.org/drawingml/2006/main">
          <a:graphicData uri="http://schemas.openxmlformats.org/drawingml/2006/chart">
            <c:chart xmlns:r="http://schemas.openxmlformats.org/officeDocument/2006/relationships" xmlns:c="http://schemas.openxmlformats.org/drawingml/2006/chart" r:id="R285874f0c58b407e"/>
          </a:graphicData>
        </a:graphic>
      </p:graphicFrame>
      <p:sp>
        <p:nvSpPr>
          <p:cNvPr id="4" name="">
            <a:extLst xmlns:a="http://schemas.openxmlformats.org/drawingml/2006/main">
              <a:ext uri="{FF2B5EF4-FFF2-40B4-BE49-F238E27FC236}">
                <a16:creationId xmlns:a16="http://schemas.microsoft.com/office/drawing/2014/main" id="{95F74F6C-1CF6-4F53-9B03-8D8FE7C269AF}"/>
              </a:ext>
            </a:extLst>
          </p:cNvPr>
          <p:cNvSpPr>
            <a:spLocks xmlns:a="http://schemas.openxmlformats.org/drawingml/2006/main" noGrp="1"/>
          </p:cNvSpPr>
          <p:nvPr/>
        </p:nvSpPr>
        <p:spPr>
          <a:xfrm xmlns:a="http://schemas.openxmlformats.org/drawingml/2006/main">
            <a:off x="7905750" y="16192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7F78"/>
                </a:solidFill>
                <a:latin typeface="Calibri"/>
                <a:ea typeface="Calibri"/>
                <a:cs typeface="Calibri"/>
              </a:defRPr>
            </a:defPPr>
            <a:lvl1pPr>
              <a:defRPr sz="2250" b="1">
                <a:solidFill>
                  <a:srgbClr val="007F78"/>
                </a:solidFill>
                <a:latin typeface="Calibri"/>
                <a:ea typeface="Calibri"/>
                <a:cs typeface="Calibri"/>
              </a:defRPr>
            </a:lvl1pPr>
            <a:lvl2pPr>
              <a:defRPr sz="2250" b="1">
                <a:solidFill>
                  <a:srgbClr val="007F78"/>
                </a:solidFill>
                <a:latin typeface="Calibri"/>
                <a:ea typeface="Calibri"/>
                <a:cs typeface="Calibri"/>
              </a:defRPr>
            </a:lvl2pPr>
            <a:lvl3pPr>
              <a:defRPr sz="2250" b="1">
                <a:solidFill>
                  <a:srgbClr val="007F78"/>
                </a:solidFill>
                <a:latin typeface="Calibri"/>
                <a:ea typeface="Calibri"/>
                <a:cs typeface="Calibri"/>
              </a:defRPr>
            </a:lvl3pPr>
            <a:lvl4pPr>
              <a:defRPr sz="2250" b="1">
                <a:solidFill>
                  <a:srgbClr val="007F78"/>
                </a:solidFill>
                <a:latin typeface="Calibri"/>
                <a:ea typeface="Calibri"/>
                <a:cs typeface="Calibri"/>
              </a:defRPr>
            </a:lvl4pPr>
            <a:lvl5pPr>
              <a:defRPr sz="2250" b="1">
                <a:solidFill>
                  <a:srgbClr val="007F78"/>
                </a:solidFill>
                <a:latin typeface="Calibri"/>
                <a:ea typeface="Calibri"/>
                <a:cs typeface="Calibri"/>
              </a:defRPr>
            </a:lvl5pPr>
            <a:lvl6pPr>
              <a:defRPr sz="2250" b="1">
                <a:solidFill>
                  <a:srgbClr val="007F78"/>
                </a:solidFill>
                <a:latin typeface="Calibri"/>
                <a:ea typeface="Calibri"/>
                <a:cs typeface="Calibri"/>
              </a:defRPr>
            </a:lvl6pPr>
            <a:lvl7pPr>
              <a:defRPr sz="2250" b="1">
                <a:solidFill>
                  <a:srgbClr val="007F78"/>
                </a:solidFill>
                <a:latin typeface="Calibri"/>
                <a:ea typeface="Calibri"/>
                <a:cs typeface="Calibri"/>
              </a:defRPr>
            </a:lvl7pPr>
            <a:lvl8pPr>
              <a:defRPr sz="2250" b="1">
                <a:solidFill>
                  <a:srgbClr val="007F78"/>
                </a:solidFill>
                <a:latin typeface="Calibri"/>
                <a:ea typeface="Calibri"/>
                <a:cs typeface="Calibri"/>
              </a:defRPr>
            </a:lvl8pPr>
            <a:lvl9pPr>
              <a:defRPr sz="2250" b="1">
                <a:solidFill>
                  <a:srgbClr val="007F78"/>
                </a:solidFill>
                <a:latin typeface="Calibri"/>
                <a:ea typeface="Calibri"/>
                <a:cs typeface="Calibri"/>
              </a:defRPr>
            </a:lvl9pPr>
          </a:lstStyle>
          <a:p xmlns:a="http://schemas.openxmlformats.org/drawingml/2006/main">
            <a:pPr>
              <a:buNone/>
              <a:defRPr sz="2250" b="1">
                <a:solidFill>
                  <a:srgbClr val="007F78"/>
                </a:solidFill>
                <a:latin typeface="Calibri"/>
                <a:ea typeface="Calibri"/>
                <a:cs typeface="Calibri"/>
              </a:defRPr>
            </a:pPr>
            <a:r>
              <a:rPr sz="2250" b="1">
                <a:solidFill>
                  <a:srgbClr val="007F78"/>
                </a:solidFill>
                <a:latin typeface="Calibri"/>
                <a:ea typeface="Calibri"/>
                <a:cs typeface="Calibri"/>
              </a:rPr>
              <a:t>X27</a:t>
            </a:r>
          </a:p>
        </p:txBody>
      </p:sp>
      <p:sp>
        <p:nvSpPr>
          <p:cNvPr id="5" name="">
            <a:extLst xmlns:a="http://schemas.openxmlformats.org/drawingml/2006/main">
              <a:ext uri="{FF2B5EF4-FFF2-40B4-BE49-F238E27FC236}">
                <a16:creationId xmlns:a16="http://schemas.microsoft.com/office/drawing/2014/main" id="{D0522E46-039A-429B-9B23-5E0FC4B2FDBD}"/>
              </a:ext>
            </a:extLst>
          </p:cNvPr>
          <p:cNvSpPr>
            <a:spLocks xmlns:a="http://schemas.openxmlformats.org/drawingml/2006/main" noGrp="1"/>
          </p:cNvSpPr>
          <p:nvPr/>
        </p:nvSpPr>
        <p:spPr>
          <a:xfrm xmlns:a="http://schemas.openxmlformats.org/drawingml/2006/main">
            <a:off x="7905750" y="200977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C42"/>
                </a:solidFill>
                <a:latin typeface="Calibri"/>
                <a:ea typeface="Calibri"/>
                <a:cs typeface="Calibri"/>
              </a:defRPr>
            </a:defPPr>
            <a:lvl1pPr>
              <a:defRPr sz="2025" b="0">
                <a:solidFill>
                  <a:srgbClr val="142C42"/>
                </a:solidFill>
                <a:latin typeface="Calibri"/>
                <a:ea typeface="Calibri"/>
                <a:cs typeface="Calibri"/>
              </a:defRPr>
            </a:lvl1pPr>
            <a:lvl2pPr>
              <a:defRPr sz="2025" b="0">
                <a:solidFill>
                  <a:srgbClr val="142C42"/>
                </a:solidFill>
                <a:latin typeface="Calibri"/>
                <a:ea typeface="Calibri"/>
                <a:cs typeface="Calibri"/>
              </a:defRPr>
            </a:lvl2pPr>
            <a:lvl3pPr>
              <a:defRPr sz="2025" b="0">
                <a:solidFill>
                  <a:srgbClr val="142C42"/>
                </a:solidFill>
                <a:latin typeface="Calibri"/>
                <a:ea typeface="Calibri"/>
                <a:cs typeface="Calibri"/>
              </a:defRPr>
            </a:lvl3pPr>
            <a:lvl4pPr>
              <a:defRPr sz="2025" b="0">
                <a:solidFill>
                  <a:srgbClr val="142C42"/>
                </a:solidFill>
                <a:latin typeface="Calibri"/>
                <a:ea typeface="Calibri"/>
                <a:cs typeface="Calibri"/>
              </a:defRPr>
            </a:lvl4pPr>
            <a:lvl5pPr>
              <a:defRPr sz="2025" b="0">
                <a:solidFill>
                  <a:srgbClr val="142C42"/>
                </a:solidFill>
                <a:latin typeface="Calibri"/>
                <a:ea typeface="Calibri"/>
                <a:cs typeface="Calibri"/>
              </a:defRPr>
            </a:lvl5pPr>
            <a:lvl6pPr>
              <a:defRPr sz="2025" b="0">
                <a:solidFill>
                  <a:srgbClr val="142C42"/>
                </a:solidFill>
                <a:latin typeface="Calibri"/>
                <a:ea typeface="Calibri"/>
                <a:cs typeface="Calibri"/>
              </a:defRPr>
            </a:lvl6pPr>
            <a:lvl7pPr>
              <a:defRPr sz="2025" b="0">
                <a:solidFill>
                  <a:srgbClr val="142C42"/>
                </a:solidFill>
                <a:latin typeface="Calibri"/>
                <a:ea typeface="Calibri"/>
                <a:cs typeface="Calibri"/>
              </a:defRPr>
            </a:lvl7pPr>
            <a:lvl8pPr>
              <a:defRPr sz="2025" b="0">
                <a:solidFill>
                  <a:srgbClr val="142C42"/>
                </a:solidFill>
                <a:latin typeface="Calibri"/>
                <a:ea typeface="Calibri"/>
                <a:cs typeface="Calibri"/>
              </a:defRPr>
            </a:lvl8pPr>
            <a:lvl9pPr>
              <a:defRPr sz="2025" b="0">
                <a:solidFill>
                  <a:srgbClr val="142C42"/>
                </a:solidFill>
                <a:latin typeface="Calibri"/>
                <a:ea typeface="Calibri"/>
                <a:cs typeface="Calibri"/>
              </a:defRPr>
            </a:lvl9pPr>
          </a:lstStyle>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Operating profit /</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financial expenses</a:t>
            </a:r>
          </a:p>
        </p:txBody>
      </p:sp>
      <p:sp>
        <p:nvSpPr>
          <p:cNvPr id="6" name="">
            <a:extLst xmlns:a="http://schemas.openxmlformats.org/drawingml/2006/main">
              <a:ext uri="{FF2B5EF4-FFF2-40B4-BE49-F238E27FC236}">
                <a16:creationId xmlns:a16="http://schemas.microsoft.com/office/drawing/2014/main" id="{B777622E-E45F-4AE1-8403-CF0321523C31}"/>
              </a:ext>
            </a:extLst>
          </p:cNvPr>
          <p:cNvSpPr>
            <a:spLocks xmlns:a="http://schemas.openxmlformats.org/drawingml/2006/main" noGrp="1"/>
          </p:cNvSpPr>
          <p:nvPr/>
        </p:nvSpPr>
        <p:spPr>
          <a:xfrm xmlns:a="http://schemas.openxmlformats.org/drawingml/2006/main">
            <a:off x="7905750" y="3095625"/>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250" b="1">
                <a:solidFill>
                  <a:srgbClr val="007F78"/>
                </a:solidFill>
                <a:latin typeface="Calibri"/>
                <a:ea typeface="Calibri"/>
                <a:cs typeface="Calibri"/>
              </a:defRPr>
            </a:defPPr>
            <a:lvl1pPr>
              <a:defRPr sz="2250" b="1">
                <a:solidFill>
                  <a:srgbClr val="007F78"/>
                </a:solidFill>
                <a:latin typeface="Calibri"/>
                <a:ea typeface="Calibri"/>
                <a:cs typeface="Calibri"/>
              </a:defRPr>
            </a:lvl1pPr>
            <a:lvl2pPr>
              <a:defRPr sz="2250" b="1">
                <a:solidFill>
                  <a:srgbClr val="007F78"/>
                </a:solidFill>
                <a:latin typeface="Calibri"/>
                <a:ea typeface="Calibri"/>
                <a:cs typeface="Calibri"/>
              </a:defRPr>
            </a:lvl2pPr>
            <a:lvl3pPr>
              <a:defRPr sz="2250" b="1">
                <a:solidFill>
                  <a:srgbClr val="007F78"/>
                </a:solidFill>
                <a:latin typeface="Calibri"/>
                <a:ea typeface="Calibri"/>
                <a:cs typeface="Calibri"/>
              </a:defRPr>
            </a:lvl3pPr>
            <a:lvl4pPr>
              <a:defRPr sz="2250" b="1">
                <a:solidFill>
                  <a:srgbClr val="007F78"/>
                </a:solidFill>
                <a:latin typeface="Calibri"/>
                <a:ea typeface="Calibri"/>
                <a:cs typeface="Calibri"/>
              </a:defRPr>
            </a:lvl4pPr>
            <a:lvl5pPr>
              <a:defRPr sz="2250" b="1">
                <a:solidFill>
                  <a:srgbClr val="007F78"/>
                </a:solidFill>
                <a:latin typeface="Calibri"/>
                <a:ea typeface="Calibri"/>
                <a:cs typeface="Calibri"/>
              </a:defRPr>
            </a:lvl5pPr>
            <a:lvl6pPr>
              <a:defRPr sz="2250" b="1">
                <a:solidFill>
                  <a:srgbClr val="007F78"/>
                </a:solidFill>
                <a:latin typeface="Calibri"/>
                <a:ea typeface="Calibri"/>
                <a:cs typeface="Calibri"/>
              </a:defRPr>
            </a:lvl6pPr>
            <a:lvl7pPr>
              <a:defRPr sz="2250" b="1">
                <a:solidFill>
                  <a:srgbClr val="007F78"/>
                </a:solidFill>
                <a:latin typeface="Calibri"/>
                <a:ea typeface="Calibri"/>
                <a:cs typeface="Calibri"/>
              </a:defRPr>
            </a:lvl7pPr>
            <a:lvl8pPr>
              <a:defRPr sz="2250" b="1">
                <a:solidFill>
                  <a:srgbClr val="007F78"/>
                </a:solidFill>
                <a:latin typeface="Calibri"/>
                <a:ea typeface="Calibri"/>
                <a:cs typeface="Calibri"/>
              </a:defRPr>
            </a:lvl8pPr>
            <a:lvl9pPr>
              <a:defRPr sz="2250" b="1">
                <a:solidFill>
                  <a:srgbClr val="007F78"/>
                </a:solidFill>
                <a:latin typeface="Calibri"/>
                <a:ea typeface="Calibri"/>
                <a:cs typeface="Calibri"/>
              </a:defRPr>
            </a:lvl9pPr>
          </a:lstStyle>
          <a:p xmlns:a="http://schemas.openxmlformats.org/drawingml/2006/main">
            <a:pPr>
              <a:buNone/>
              <a:defRPr sz="2250" b="1">
                <a:solidFill>
                  <a:srgbClr val="007F78"/>
                </a:solidFill>
                <a:latin typeface="Calibri"/>
                <a:ea typeface="Calibri"/>
                <a:cs typeface="Calibri"/>
              </a:defRPr>
            </a:pPr>
            <a:r>
              <a:rPr sz="2250" b="1">
                <a:solidFill>
                  <a:srgbClr val="007F78"/>
                </a:solidFill>
                <a:latin typeface="Calibri"/>
                <a:ea typeface="Calibri"/>
                <a:cs typeface="Calibri"/>
              </a:rPr>
              <a:t>X34</a:t>
            </a:r>
          </a:p>
        </p:txBody>
      </p:sp>
      <p:sp>
        <p:nvSpPr>
          <p:cNvPr id="7" name="">
            <a:extLst xmlns:a="http://schemas.openxmlformats.org/drawingml/2006/main">
              <a:ext uri="{FF2B5EF4-FFF2-40B4-BE49-F238E27FC236}">
                <a16:creationId xmlns:a16="http://schemas.microsoft.com/office/drawing/2014/main" id="{4404D796-C64F-487D-8FAE-800BE79F6ABC}"/>
              </a:ext>
            </a:extLst>
          </p:cNvPr>
          <p:cNvSpPr>
            <a:spLocks xmlns:a="http://schemas.openxmlformats.org/drawingml/2006/main" noGrp="1"/>
          </p:cNvSpPr>
          <p:nvPr/>
        </p:nvSpPr>
        <p:spPr>
          <a:xfrm xmlns:a="http://schemas.openxmlformats.org/drawingml/2006/main">
            <a:off x="7905750" y="3476625"/>
            <a:ext cx="34766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C42"/>
                </a:solidFill>
                <a:latin typeface="Calibri"/>
                <a:ea typeface="Calibri"/>
                <a:cs typeface="Calibri"/>
              </a:defRPr>
            </a:defPPr>
            <a:lvl1pPr>
              <a:defRPr sz="2025" b="0">
                <a:solidFill>
                  <a:srgbClr val="142C42"/>
                </a:solidFill>
                <a:latin typeface="Calibri"/>
                <a:ea typeface="Calibri"/>
                <a:cs typeface="Calibri"/>
              </a:defRPr>
            </a:lvl1pPr>
            <a:lvl2pPr>
              <a:defRPr sz="2025" b="0">
                <a:solidFill>
                  <a:srgbClr val="142C42"/>
                </a:solidFill>
                <a:latin typeface="Calibri"/>
                <a:ea typeface="Calibri"/>
                <a:cs typeface="Calibri"/>
              </a:defRPr>
            </a:lvl2pPr>
            <a:lvl3pPr>
              <a:defRPr sz="2025" b="0">
                <a:solidFill>
                  <a:srgbClr val="142C42"/>
                </a:solidFill>
                <a:latin typeface="Calibri"/>
                <a:ea typeface="Calibri"/>
                <a:cs typeface="Calibri"/>
              </a:defRPr>
            </a:lvl3pPr>
            <a:lvl4pPr>
              <a:defRPr sz="2025" b="0">
                <a:solidFill>
                  <a:srgbClr val="142C42"/>
                </a:solidFill>
                <a:latin typeface="Calibri"/>
                <a:ea typeface="Calibri"/>
                <a:cs typeface="Calibri"/>
              </a:defRPr>
            </a:lvl4pPr>
            <a:lvl5pPr>
              <a:defRPr sz="2025" b="0">
                <a:solidFill>
                  <a:srgbClr val="142C42"/>
                </a:solidFill>
                <a:latin typeface="Calibri"/>
                <a:ea typeface="Calibri"/>
                <a:cs typeface="Calibri"/>
              </a:defRPr>
            </a:lvl5pPr>
            <a:lvl6pPr>
              <a:defRPr sz="2025" b="0">
                <a:solidFill>
                  <a:srgbClr val="142C42"/>
                </a:solidFill>
                <a:latin typeface="Calibri"/>
                <a:ea typeface="Calibri"/>
                <a:cs typeface="Calibri"/>
              </a:defRPr>
            </a:lvl6pPr>
            <a:lvl7pPr>
              <a:defRPr sz="2025" b="0">
                <a:solidFill>
                  <a:srgbClr val="142C42"/>
                </a:solidFill>
                <a:latin typeface="Calibri"/>
                <a:ea typeface="Calibri"/>
                <a:cs typeface="Calibri"/>
              </a:defRPr>
            </a:lvl7pPr>
            <a:lvl8pPr>
              <a:defRPr sz="2025" b="0">
                <a:solidFill>
                  <a:srgbClr val="142C42"/>
                </a:solidFill>
                <a:latin typeface="Calibri"/>
                <a:ea typeface="Calibri"/>
                <a:cs typeface="Calibri"/>
              </a:defRPr>
            </a:lvl8pPr>
            <a:lvl9pPr>
              <a:defRPr sz="2025" b="0">
                <a:solidFill>
                  <a:srgbClr val="142C42"/>
                </a:solidFill>
                <a:latin typeface="Calibri"/>
                <a:ea typeface="Calibri"/>
                <a:cs typeface="Calibri"/>
              </a:defRPr>
            </a:lvl9pPr>
          </a:lstStyle>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Operating expenses /</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total liabilities</a:t>
            </a:r>
          </a:p>
        </p:txBody>
      </p:sp>
      <p:sp>
        <p:nvSpPr>
          <p:cNvPr id="8" name="">
            <a:extLst xmlns:a="http://schemas.openxmlformats.org/drawingml/2006/main">
              <a:ext uri="{FF2B5EF4-FFF2-40B4-BE49-F238E27FC236}">
                <a16:creationId xmlns:a16="http://schemas.microsoft.com/office/drawing/2014/main" id="{2A52D79F-00B1-4402-BB93-B8530B2C6DA5}"/>
              </a:ext>
            </a:extLst>
          </p:cNvPr>
          <p:cNvSpPr>
            <a:spLocks xmlns:a="http://schemas.openxmlformats.org/drawingml/2006/main" noGrp="1"/>
          </p:cNvSpPr>
          <p:nvPr/>
        </p:nvSpPr>
        <p:spPr>
          <a:xfrm xmlns:a="http://schemas.openxmlformats.org/drawingml/2006/main">
            <a:off x="685800" y="5791200"/>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800" b="0">
                <a:solidFill>
                  <a:srgbClr val="617384"/>
                </a:solidFill>
                <a:latin typeface="Calibri"/>
                <a:ea typeface="Calibri"/>
                <a:cs typeface="Calibri"/>
              </a:defRPr>
            </a:defPPr>
            <a:lvl1pPr>
              <a:defRPr sz="1800" b="0">
                <a:solidFill>
                  <a:srgbClr val="617384"/>
                </a:solidFill>
                <a:latin typeface="Calibri"/>
                <a:ea typeface="Calibri"/>
                <a:cs typeface="Calibri"/>
              </a:defRPr>
            </a:lvl1pPr>
            <a:lvl2pPr>
              <a:defRPr sz="1800" b="0">
                <a:solidFill>
                  <a:srgbClr val="617384"/>
                </a:solidFill>
                <a:latin typeface="Calibri"/>
                <a:ea typeface="Calibri"/>
                <a:cs typeface="Calibri"/>
              </a:defRPr>
            </a:lvl2pPr>
            <a:lvl3pPr>
              <a:defRPr sz="1800" b="0">
                <a:solidFill>
                  <a:srgbClr val="617384"/>
                </a:solidFill>
                <a:latin typeface="Calibri"/>
                <a:ea typeface="Calibri"/>
                <a:cs typeface="Calibri"/>
              </a:defRPr>
            </a:lvl3pPr>
            <a:lvl4pPr>
              <a:defRPr sz="1800" b="0">
                <a:solidFill>
                  <a:srgbClr val="617384"/>
                </a:solidFill>
                <a:latin typeface="Calibri"/>
                <a:ea typeface="Calibri"/>
                <a:cs typeface="Calibri"/>
              </a:defRPr>
            </a:lvl4pPr>
            <a:lvl5pPr>
              <a:defRPr sz="1800" b="0">
                <a:solidFill>
                  <a:srgbClr val="617384"/>
                </a:solidFill>
                <a:latin typeface="Calibri"/>
                <a:ea typeface="Calibri"/>
                <a:cs typeface="Calibri"/>
              </a:defRPr>
            </a:lvl5pPr>
            <a:lvl6pPr>
              <a:defRPr sz="1800" b="0">
                <a:solidFill>
                  <a:srgbClr val="617384"/>
                </a:solidFill>
                <a:latin typeface="Calibri"/>
                <a:ea typeface="Calibri"/>
                <a:cs typeface="Calibri"/>
              </a:defRPr>
            </a:lvl6pPr>
            <a:lvl7pPr>
              <a:defRPr sz="1800" b="0">
                <a:solidFill>
                  <a:srgbClr val="617384"/>
                </a:solidFill>
                <a:latin typeface="Calibri"/>
                <a:ea typeface="Calibri"/>
                <a:cs typeface="Calibri"/>
              </a:defRPr>
            </a:lvl7pPr>
            <a:lvl8pPr>
              <a:defRPr sz="1800" b="0">
                <a:solidFill>
                  <a:srgbClr val="617384"/>
                </a:solidFill>
                <a:latin typeface="Calibri"/>
                <a:ea typeface="Calibri"/>
                <a:cs typeface="Calibri"/>
              </a:defRPr>
            </a:lvl8pPr>
            <a:lvl9pPr>
              <a:defRPr sz="1800" b="0">
                <a:solidFill>
                  <a:srgbClr val="617384"/>
                </a:solidFill>
                <a:latin typeface="Calibri"/>
                <a:ea typeface="Calibri"/>
                <a:cs typeface="Calibri"/>
              </a:defRPr>
            </a:lvl9pPr>
          </a:lstStyle>
          <a:p xmlns:a="http://schemas.openxmlformats.org/drawingml/2006/main">
            <a:pPr>
              <a:buNone/>
              <a:defRPr sz="1800" b="0">
                <a:solidFill>
                  <a:srgbClr val="617384"/>
                </a:solidFill>
                <a:latin typeface="Calibri"/>
                <a:ea typeface="Calibri"/>
                <a:cs typeface="Calibri"/>
              </a:defRPr>
            </a:pPr>
            <a:r>
              <a:rPr sz="1800" b="0">
                <a:solidFill>
                  <a:srgbClr val="617384"/>
                </a:solidFill>
                <a:latin typeface="Calibri"/>
                <a:ea typeface="Calibri"/>
                <a:cs typeface="Calibri"/>
              </a:rPr>
              <a:t>Permutation importance measures model reliance. Correlation prevents a causal reading.</a:t>
            </a:r>
          </a:p>
        </p:txBody>
      </p:sp>
      <p:sp>
        <p:nvSpPr>
          <p:cNvPr id="10" name="">
            <a:extLst xmlns:a="http://schemas.openxmlformats.org/drawingml/2006/main">
              <a:ext uri="{FF2B5EF4-FFF2-40B4-BE49-F238E27FC236}">
                <a16:creationId xmlns:a16="http://schemas.microsoft.com/office/drawing/2014/main" id="{26C2F980-7632-4AD6-8BCA-A6517F0B4233}"/>
              </a:ext>
            </a:extLst>
          </p:cNvPr>
          <p:cNvSpPr>
            <a:spLocks xmlns:a="http://schemas.openxmlformats.org/drawingml/2006/main" noGrp="1"/>
          </p:cNvSpPr>
          <p:nvPr/>
        </p:nvSpPr>
        <p:spPr>
          <a:xfrm xmlns:a="http://schemas.openxmlformats.org/drawingml/2006/main">
            <a:off x="7905750" y="4619625"/>
            <a:ext cx="2857500" cy="381000"/>
          </a:xfrm>
          <a:prstGeom xmlns:a="http://schemas.openxmlformats.org/drawingml/2006/main" prst="rect">
            <a:avLst/>
          </a:prstGeom>
        </p:spPr>
        <p:txBody>
          <a:bodyPr xmlns:a="http://schemas.openxmlformats.org/drawingml/2006/main"/>
          <a:lstStyle xmlns:a="http://schemas.openxmlformats.org/drawingml/2006/main">
            <a:defPPr>
              <a:defRPr sz="2250" b="1">
                <a:solidFill>
                  <a:srgbClr val="007F78"/>
                </a:solidFill>
                <a:latin typeface="Calibri"/>
                <a:ea typeface="Calibri"/>
                <a:cs typeface="Calibri"/>
              </a:defRPr>
            </a:defPPr>
            <a:lvl1pPr>
              <a:defRPr sz="2250" b="1">
                <a:solidFill>
                  <a:srgbClr val="007F78"/>
                </a:solidFill>
                <a:latin typeface="Calibri"/>
                <a:ea typeface="Calibri"/>
                <a:cs typeface="Calibri"/>
              </a:defRPr>
            </a:lvl1pPr>
            <a:lvl2pPr>
              <a:defRPr sz="2250" b="1">
                <a:solidFill>
                  <a:srgbClr val="007F78"/>
                </a:solidFill>
                <a:latin typeface="Calibri"/>
                <a:ea typeface="Calibri"/>
                <a:cs typeface="Calibri"/>
              </a:defRPr>
            </a:lvl2pPr>
            <a:lvl3pPr>
              <a:defRPr sz="2250" b="1">
                <a:solidFill>
                  <a:srgbClr val="007F78"/>
                </a:solidFill>
                <a:latin typeface="Calibri"/>
                <a:ea typeface="Calibri"/>
                <a:cs typeface="Calibri"/>
              </a:defRPr>
            </a:lvl3pPr>
            <a:lvl4pPr>
              <a:defRPr sz="2250" b="1">
                <a:solidFill>
                  <a:srgbClr val="007F78"/>
                </a:solidFill>
                <a:latin typeface="Calibri"/>
                <a:ea typeface="Calibri"/>
                <a:cs typeface="Calibri"/>
              </a:defRPr>
            </a:lvl4pPr>
            <a:lvl5pPr>
              <a:defRPr sz="2250" b="1">
                <a:solidFill>
                  <a:srgbClr val="007F78"/>
                </a:solidFill>
                <a:latin typeface="Calibri"/>
                <a:ea typeface="Calibri"/>
                <a:cs typeface="Calibri"/>
              </a:defRPr>
            </a:lvl5pPr>
            <a:lvl6pPr>
              <a:defRPr sz="2250" b="1">
                <a:solidFill>
                  <a:srgbClr val="007F78"/>
                </a:solidFill>
                <a:latin typeface="Calibri"/>
                <a:ea typeface="Calibri"/>
                <a:cs typeface="Calibri"/>
              </a:defRPr>
            </a:lvl6pPr>
            <a:lvl7pPr>
              <a:defRPr sz="2250" b="1">
                <a:solidFill>
                  <a:srgbClr val="007F78"/>
                </a:solidFill>
                <a:latin typeface="Calibri"/>
                <a:ea typeface="Calibri"/>
                <a:cs typeface="Calibri"/>
              </a:defRPr>
            </a:lvl7pPr>
            <a:lvl8pPr>
              <a:defRPr sz="2250" b="1">
                <a:solidFill>
                  <a:srgbClr val="007F78"/>
                </a:solidFill>
                <a:latin typeface="Calibri"/>
                <a:ea typeface="Calibri"/>
                <a:cs typeface="Calibri"/>
              </a:defRPr>
            </a:lvl8pPr>
            <a:lvl9pPr>
              <a:defRPr sz="2250" b="1">
                <a:solidFill>
                  <a:srgbClr val="007F78"/>
                </a:solidFill>
                <a:latin typeface="Calibri"/>
                <a:ea typeface="Calibri"/>
                <a:cs typeface="Calibri"/>
              </a:defRPr>
            </a:lvl9pPr>
          </a:lstStyle>
          <a:p xmlns:a="http://schemas.openxmlformats.org/drawingml/2006/main">
            <a:pPr>
              <a:defRPr sz="2250" b="1">
                <a:solidFill>
                  <a:srgbClr val="007F78"/>
                </a:solidFill>
                <a:latin typeface="Calibri"/>
                <a:ea typeface="Calibri"/>
                <a:cs typeface="Calibri"/>
              </a:defRPr>
            </a:pPr>
            <a:r>
              <a:rPr sz="2250" b="1">
                <a:solidFill>
                  <a:srgbClr val="007F78"/>
                </a:solidFill>
                <a:latin typeface="Calibri"/>
                <a:ea typeface="Calibri"/>
                <a:cs typeface="Calibri"/>
              </a:rPr>
              <a:t>X46</a:t>
            </a:r>
          </a:p>
        </p:txBody>
      </p:sp>
      <p:sp>
        <p:nvSpPr>
          <p:cNvPr id="11" name="">
            <a:extLst xmlns:a="http://schemas.openxmlformats.org/drawingml/2006/main">
              <a:ext uri="{FF2B5EF4-FFF2-40B4-BE49-F238E27FC236}">
                <a16:creationId xmlns:a16="http://schemas.microsoft.com/office/drawing/2014/main" id="{E388C1BB-6E36-4C8D-92D4-D4D3C2A8DA97}"/>
              </a:ext>
            </a:extLst>
          </p:cNvPr>
          <p:cNvSpPr>
            <a:spLocks xmlns:a="http://schemas.openxmlformats.org/drawingml/2006/main" noGrp="1"/>
          </p:cNvSpPr>
          <p:nvPr/>
        </p:nvSpPr>
        <p:spPr>
          <a:xfrm xmlns:a="http://schemas.openxmlformats.org/drawingml/2006/main">
            <a:off x="7905750" y="5029200"/>
            <a:ext cx="3476625" cy="666750"/>
          </a:xfrm>
          <a:prstGeom xmlns:a="http://schemas.openxmlformats.org/drawingml/2006/main" prst="rect">
            <a:avLst/>
          </a:prstGeom>
        </p:spPr>
        <p:txBody>
          <a:bodyPr xmlns:a="http://schemas.openxmlformats.org/drawingml/2006/main"/>
          <a:lstStyle xmlns:a="http://schemas.openxmlformats.org/drawingml/2006/main">
            <a:defPPr>
              <a:defRPr sz="2025">
                <a:solidFill>
                  <a:srgbClr val="142C42"/>
                </a:solidFill>
                <a:latin typeface="Calibri"/>
                <a:ea typeface="Calibri"/>
                <a:cs typeface="Calibri"/>
              </a:defRPr>
            </a:defPPr>
            <a:lvl1pPr>
              <a:defRPr sz="2025">
                <a:solidFill>
                  <a:srgbClr val="142C42"/>
                </a:solidFill>
                <a:latin typeface="Calibri"/>
                <a:ea typeface="Calibri"/>
                <a:cs typeface="Calibri"/>
              </a:defRPr>
            </a:lvl1pPr>
            <a:lvl2pPr>
              <a:defRPr sz="2025">
                <a:solidFill>
                  <a:srgbClr val="142C42"/>
                </a:solidFill>
                <a:latin typeface="Calibri"/>
                <a:ea typeface="Calibri"/>
                <a:cs typeface="Calibri"/>
              </a:defRPr>
            </a:lvl2pPr>
            <a:lvl3pPr>
              <a:defRPr sz="2025">
                <a:solidFill>
                  <a:srgbClr val="142C42"/>
                </a:solidFill>
                <a:latin typeface="Calibri"/>
                <a:ea typeface="Calibri"/>
                <a:cs typeface="Calibri"/>
              </a:defRPr>
            </a:lvl3pPr>
            <a:lvl4pPr>
              <a:defRPr sz="2025">
                <a:solidFill>
                  <a:srgbClr val="142C42"/>
                </a:solidFill>
                <a:latin typeface="Calibri"/>
                <a:ea typeface="Calibri"/>
                <a:cs typeface="Calibri"/>
              </a:defRPr>
            </a:lvl4pPr>
            <a:lvl5pPr>
              <a:defRPr sz="2025">
                <a:solidFill>
                  <a:srgbClr val="142C42"/>
                </a:solidFill>
                <a:latin typeface="Calibri"/>
                <a:ea typeface="Calibri"/>
                <a:cs typeface="Calibri"/>
              </a:defRPr>
            </a:lvl5pPr>
            <a:lvl6pPr>
              <a:defRPr sz="2025">
                <a:solidFill>
                  <a:srgbClr val="142C42"/>
                </a:solidFill>
                <a:latin typeface="Calibri"/>
                <a:ea typeface="Calibri"/>
                <a:cs typeface="Calibri"/>
              </a:defRPr>
            </a:lvl6pPr>
            <a:lvl7pPr>
              <a:defRPr sz="2025">
                <a:solidFill>
                  <a:srgbClr val="142C42"/>
                </a:solidFill>
                <a:latin typeface="Calibri"/>
                <a:ea typeface="Calibri"/>
                <a:cs typeface="Calibri"/>
              </a:defRPr>
            </a:lvl7pPr>
            <a:lvl8pPr>
              <a:defRPr sz="2025">
                <a:solidFill>
                  <a:srgbClr val="142C42"/>
                </a:solidFill>
                <a:latin typeface="Calibri"/>
                <a:ea typeface="Calibri"/>
                <a:cs typeface="Calibri"/>
              </a:defRPr>
            </a:lvl8pPr>
            <a:lvl9pPr>
              <a:defRPr sz="2025">
                <a:solidFill>
                  <a:srgbClr val="142C42"/>
                </a:solidFill>
                <a:latin typeface="Calibri"/>
                <a:ea typeface="Calibri"/>
                <a:cs typeface="Calibri"/>
              </a:defRPr>
            </a:lvl9pPr>
          </a:lstStyle>
          <a:p xmlns:a="http://schemas.openxmlformats.org/drawingml/2006/main">
            <a:pPr>
              <a:defRPr sz="2025">
                <a:solidFill>
                  <a:srgbClr val="142C42"/>
                </a:solidFill>
                <a:latin typeface="Calibri"/>
                <a:ea typeface="Calibri"/>
                <a:cs typeface="Calibri"/>
              </a:defRPr>
            </a:pPr>
            <a:r>
              <a:rPr sz="2025">
                <a:solidFill>
                  <a:srgbClr val="142C42"/>
                </a:solidFill>
                <a:latin typeface="Calibri"/>
                <a:ea typeface="Calibri"/>
                <a:cs typeface="Calibri"/>
              </a:rPr>
              <a:t>Quick ratio</a:t>
            </a:r>
          </a:p>
        </p:txBody>
      </p:sp>
    </p:spTree>
    <p:extLst>
      <p:ext uri="{BB962C8B-B14F-4D97-AF65-F5344CB8AC3E}">
        <p14:creationId xmlns:p14="http://schemas.microsoft.com/office/powerpoint/2010/main" val="1600082255"/>
      </p:ext>
    </p:extLst>
  </p:cSld>
</p:sld>
</file>

<file path=ppt/slides/slide1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88703BE-8C54-49D0-886C-27C123CDBEEE}"/>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Live demonstration</a:t>
            </a:r>
          </a:p>
        </p:txBody>
      </p:sp>
      <p:sp>
        <p:nvSpPr>
          <p:cNvPr id="2" name="">
            <a:extLst xmlns:a="http://schemas.openxmlformats.org/drawingml/2006/main">
              <a:ext uri="{FF2B5EF4-FFF2-40B4-BE49-F238E27FC236}">
                <a16:creationId xmlns:a16="http://schemas.microsoft.com/office/drawing/2014/main" id="{3D357762-9A56-4663-B8B8-AC97F98439C6}"/>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12</a:t>
            </a:r>
          </a:p>
        </p:txBody>
      </p:sp>
      <p:pic>
        <p:nvPicPr>
          <p:cNvPr id="3" name="">
            <a:extLst xmlns:a="http://schemas.openxmlformats.org/drawingml/2006/main">
              <a:ext uri="{FF2B5EF4-FFF2-40B4-BE49-F238E27FC236}">
                <a16:creationId xmlns:a16="http://schemas.microsoft.com/office/drawing/2014/main" id="{30F284F6-D996-42F9-B3D1-264BE465BF96}"/>
              </a:ext>
            </a:extLst>
          </p:cNvPr>
          <p:cNvPicPr>
            <a:picLocks xmlns:a="http://schemas.openxmlformats.org/drawingml/2006/main" noChangeAspect="1"/>
          </p:cNvPicPr>
          <p:nvPr/>
        </p:nvPicPr>
        <p:blipFill>
          <a:blip xmlns:r="http://schemas.openxmlformats.org/officeDocument/2006/relationships" xmlns:a="http://schemas.openxmlformats.org/drawingml/2006/main" r:embed="R66546c9f9cc94975"/>
          <a:srcRect xmlns:a="http://schemas.openxmlformats.org/drawingml/2006/main" l="3827" t="0" r="3827" b="0"/>
          <a:stretch xmlns:a="http://schemas.openxmlformats.org/drawingml/2006/main">
            <a:fillRect l="0" t="0" r="0" b="0"/>
          </a:stretch>
        </p:blipFill>
        <p:spPr>
          <a:xfrm xmlns:a="http://schemas.openxmlformats.org/drawingml/2006/main">
            <a:off x="590550" y="1495877"/>
            <a:ext cx="7715250" cy="434249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1C38C0B-5E4F-41CD-9FC8-5373293E157B}"/>
              </a:ext>
            </a:extLst>
          </p:cNvPr>
          <p:cNvSpPr>
            <a:spLocks xmlns:a="http://schemas.openxmlformats.org/drawingml/2006/main" noGrp="1"/>
          </p:cNvSpPr>
          <p:nvPr/>
        </p:nvSpPr>
        <p:spPr>
          <a:xfrm xmlns:a="http://schemas.openxmlformats.org/drawingml/2006/main">
            <a:off x="8810625" y="17526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1</a:t>
            </a:r>
          </a:p>
        </p:txBody>
      </p:sp>
      <p:sp>
        <p:nvSpPr>
          <p:cNvPr id="5" name="">
            <a:extLst xmlns:a="http://schemas.openxmlformats.org/drawingml/2006/main">
              <a:ext uri="{FF2B5EF4-FFF2-40B4-BE49-F238E27FC236}">
                <a16:creationId xmlns:a16="http://schemas.microsoft.com/office/drawing/2014/main" id="{73114A42-3173-4222-A210-96020E3DAB03}"/>
              </a:ext>
            </a:extLst>
          </p:cNvPr>
          <p:cNvSpPr>
            <a:spLocks xmlns:a="http://schemas.openxmlformats.org/drawingml/2006/main" noGrp="1"/>
          </p:cNvSpPr>
          <p:nvPr/>
        </p:nvSpPr>
        <p:spPr>
          <a:xfrm xmlns:a="http://schemas.openxmlformats.org/drawingml/2006/main">
            <a:off x="9382125" y="1752600"/>
            <a:ext cx="223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42C42"/>
                </a:solidFill>
                <a:latin typeface="Calibri"/>
                <a:ea typeface="Calibri"/>
                <a:cs typeface="Calibri"/>
              </a:defRPr>
            </a:defPPr>
            <a:lvl1pPr>
              <a:defRPr sz="2175" b="0">
                <a:solidFill>
                  <a:srgbClr val="142C42"/>
                </a:solidFill>
                <a:latin typeface="Calibri"/>
                <a:ea typeface="Calibri"/>
                <a:cs typeface="Calibri"/>
              </a:defRPr>
            </a:lvl1pPr>
            <a:lvl2pPr>
              <a:defRPr sz="2175" b="0">
                <a:solidFill>
                  <a:srgbClr val="142C42"/>
                </a:solidFill>
                <a:latin typeface="Calibri"/>
                <a:ea typeface="Calibri"/>
                <a:cs typeface="Calibri"/>
              </a:defRPr>
            </a:lvl2pPr>
            <a:lvl3pPr>
              <a:defRPr sz="2175" b="0">
                <a:solidFill>
                  <a:srgbClr val="142C42"/>
                </a:solidFill>
                <a:latin typeface="Calibri"/>
                <a:ea typeface="Calibri"/>
                <a:cs typeface="Calibri"/>
              </a:defRPr>
            </a:lvl3pPr>
            <a:lvl4pPr>
              <a:defRPr sz="2175" b="0">
                <a:solidFill>
                  <a:srgbClr val="142C42"/>
                </a:solidFill>
                <a:latin typeface="Calibri"/>
                <a:ea typeface="Calibri"/>
                <a:cs typeface="Calibri"/>
              </a:defRPr>
            </a:lvl4pPr>
            <a:lvl5pPr>
              <a:defRPr sz="2175" b="0">
                <a:solidFill>
                  <a:srgbClr val="142C42"/>
                </a:solidFill>
                <a:latin typeface="Calibri"/>
                <a:ea typeface="Calibri"/>
                <a:cs typeface="Calibri"/>
              </a:defRPr>
            </a:lvl5pPr>
            <a:lvl6pPr>
              <a:defRPr sz="2175" b="0">
                <a:solidFill>
                  <a:srgbClr val="142C42"/>
                </a:solidFill>
                <a:latin typeface="Calibri"/>
                <a:ea typeface="Calibri"/>
                <a:cs typeface="Calibri"/>
              </a:defRPr>
            </a:lvl6pPr>
            <a:lvl7pPr>
              <a:defRPr sz="2175" b="0">
                <a:solidFill>
                  <a:srgbClr val="142C42"/>
                </a:solidFill>
                <a:latin typeface="Calibri"/>
                <a:ea typeface="Calibri"/>
                <a:cs typeface="Calibri"/>
              </a:defRPr>
            </a:lvl7pPr>
            <a:lvl8pPr>
              <a:defRPr sz="2175" b="0">
                <a:solidFill>
                  <a:srgbClr val="142C42"/>
                </a:solidFill>
                <a:latin typeface="Calibri"/>
                <a:ea typeface="Calibri"/>
                <a:cs typeface="Calibri"/>
              </a:defRPr>
            </a:lvl8pPr>
            <a:lvl9pPr>
              <a:defRPr sz="2175" b="0">
                <a:solidFill>
                  <a:srgbClr val="142C42"/>
                </a:solidFill>
                <a:latin typeface="Calibri"/>
                <a:ea typeface="Calibri"/>
                <a:cs typeface="Calibri"/>
              </a:defRPr>
            </a:lvl9pPr>
          </a:lstStyle>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Run a known</a:t>
            </a:r>
          </a:p>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test case</a:t>
            </a:r>
          </a:p>
        </p:txBody>
      </p:sp>
      <p:sp>
        <p:nvSpPr>
          <p:cNvPr id="6" name="">
            <a:extLst xmlns:a="http://schemas.openxmlformats.org/drawingml/2006/main">
              <a:ext uri="{FF2B5EF4-FFF2-40B4-BE49-F238E27FC236}">
                <a16:creationId xmlns:a16="http://schemas.microsoft.com/office/drawing/2014/main" id="{4864EA06-061C-4724-A104-06D2DA1B2750}"/>
              </a:ext>
            </a:extLst>
          </p:cNvPr>
          <p:cNvSpPr>
            <a:spLocks xmlns:a="http://schemas.openxmlformats.org/drawingml/2006/main" noGrp="1"/>
          </p:cNvSpPr>
          <p:nvPr/>
        </p:nvSpPr>
        <p:spPr>
          <a:xfrm xmlns:a="http://schemas.openxmlformats.org/drawingml/2006/main">
            <a:off x="8810625" y="324802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2</a:t>
            </a:r>
          </a:p>
        </p:txBody>
      </p:sp>
      <p:sp>
        <p:nvSpPr>
          <p:cNvPr id="7" name="">
            <a:extLst xmlns:a="http://schemas.openxmlformats.org/drawingml/2006/main">
              <a:ext uri="{FF2B5EF4-FFF2-40B4-BE49-F238E27FC236}">
                <a16:creationId xmlns:a16="http://schemas.microsoft.com/office/drawing/2014/main" id="{C2927F96-C244-4540-A4DE-162DD0E95217}"/>
              </a:ext>
            </a:extLst>
          </p:cNvPr>
          <p:cNvSpPr>
            <a:spLocks xmlns:a="http://schemas.openxmlformats.org/drawingml/2006/main" noGrp="1"/>
          </p:cNvSpPr>
          <p:nvPr/>
        </p:nvSpPr>
        <p:spPr>
          <a:xfrm xmlns:a="http://schemas.openxmlformats.org/drawingml/2006/main">
            <a:off x="9382125" y="3248025"/>
            <a:ext cx="223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42C42"/>
                </a:solidFill>
                <a:latin typeface="Calibri"/>
                <a:ea typeface="Calibri"/>
                <a:cs typeface="Calibri"/>
              </a:defRPr>
            </a:defPPr>
            <a:lvl1pPr>
              <a:defRPr sz="2175" b="0">
                <a:solidFill>
                  <a:srgbClr val="142C42"/>
                </a:solidFill>
                <a:latin typeface="Calibri"/>
                <a:ea typeface="Calibri"/>
                <a:cs typeface="Calibri"/>
              </a:defRPr>
            </a:lvl1pPr>
            <a:lvl2pPr>
              <a:defRPr sz="2175" b="0">
                <a:solidFill>
                  <a:srgbClr val="142C42"/>
                </a:solidFill>
                <a:latin typeface="Calibri"/>
                <a:ea typeface="Calibri"/>
                <a:cs typeface="Calibri"/>
              </a:defRPr>
            </a:lvl2pPr>
            <a:lvl3pPr>
              <a:defRPr sz="2175" b="0">
                <a:solidFill>
                  <a:srgbClr val="142C42"/>
                </a:solidFill>
                <a:latin typeface="Calibri"/>
                <a:ea typeface="Calibri"/>
                <a:cs typeface="Calibri"/>
              </a:defRPr>
            </a:lvl3pPr>
            <a:lvl4pPr>
              <a:defRPr sz="2175" b="0">
                <a:solidFill>
                  <a:srgbClr val="142C42"/>
                </a:solidFill>
                <a:latin typeface="Calibri"/>
                <a:ea typeface="Calibri"/>
                <a:cs typeface="Calibri"/>
              </a:defRPr>
            </a:lvl4pPr>
            <a:lvl5pPr>
              <a:defRPr sz="2175" b="0">
                <a:solidFill>
                  <a:srgbClr val="142C42"/>
                </a:solidFill>
                <a:latin typeface="Calibri"/>
                <a:ea typeface="Calibri"/>
                <a:cs typeface="Calibri"/>
              </a:defRPr>
            </a:lvl5pPr>
            <a:lvl6pPr>
              <a:defRPr sz="2175" b="0">
                <a:solidFill>
                  <a:srgbClr val="142C42"/>
                </a:solidFill>
                <a:latin typeface="Calibri"/>
                <a:ea typeface="Calibri"/>
                <a:cs typeface="Calibri"/>
              </a:defRPr>
            </a:lvl6pPr>
            <a:lvl7pPr>
              <a:defRPr sz="2175" b="0">
                <a:solidFill>
                  <a:srgbClr val="142C42"/>
                </a:solidFill>
                <a:latin typeface="Calibri"/>
                <a:ea typeface="Calibri"/>
                <a:cs typeface="Calibri"/>
              </a:defRPr>
            </a:lvl7pPr>
            <a:lvl8pPr>
              <a:defRPr sz="2175" b="0">
                <a:solidFill>
                  <a:srgbClr val="142C42"/>
                </a:solidFill>
                <a:latin typeface="Calibri"/>
                <a:ea typeface="Calibri"/>
                <a:cs typeface="Calibri"/>
              </a:defRPr>
            </a:lvl8pPr>
            <a:lvl9pPr>
              <a:defRPr sz="2175" b="0">
                <a:solidFill>
                  <a:srgbClr val="142C42"/>
                </a:solidFill>
                <a:latin typeface="Calibri"/>
                <a:ea typeface="Calibri"/>
                <a:cs typeface="Calibri"/>
              </a:defRPr>
            </a:lvl9pPr>
          </a:lstStyle>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Show a missed case</a:t>
            </a:r>
          </a:p>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or false alarm</a:t>
            </a:r>
          </a:p>
        </p:txBody>
      </p:sp>
      <p:sp>
        <p:nvSpPr>
          <p:cNvPr id="8" name="">
            <a:extLst xmlns:a="http://schemas.openxmlformats.org/drawingml/2006/main">
              <a:ext uri="{FF2B5EF4-FFF2-40B4-BE49-F238E27FC236}">
                <a16:creationId xmlns:a16="http://schemas.microsoft.com/office/drawing/2014/main" id="{41600412-4C05-4326-A263-E0580DEF1BFC}"/>
              </a:ext>
            </a:extLst>
          </p:cNvPr>
          <p:cNvSpPr>
            <a:spLocks xmlns:a="http://schemas.openxmlformats.org/drawingml/2006/main" noGrp="1"/>
          </p:cNvSpPr>
          <p:nvPr/>
        </p:nvSpPr>
        <p:spPr>
          <a:xfrm xmlns:a="http://schemas.openxmlformats.org/drawingml/2006/main">
            <a:off x="8810625" y="4752975"/>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3</a:t>
            </a:r>
          </a:p>
        </p:txBody>
      </p:sp>
      <p:sp>
        <p:nvSpPr>
          <p:cNvPr id="9" name="">
            <a:extLst xmlns:a="http://schemas.openxmlformats.org/drawingml/2006/main">
              <a:ext uri="{FF2B5EF4-FFF2-40B4-BE49-F238E27FC236}">
                <a16:creationId xmlns:a16="http://schemas.microsoft.com/office/drawing/2014/main" id="{1D508876-15BD-48EE-8534-146593619527}"/>
              </a:ext>
            </a:extLst>
          </p:cNvPr>
          <p:cNvSpPr>
            <a:spLocks xmlns:a="http://schemas.openxmlformats.org/drawingml/2006/main" noGrp="1"/>
          </p:cNvSpPr>
          <p:nvPr/>
        </p:nvSpPr>
        <p:spPr>
          <a:xfrm xmlns:a="http://schemas.openxmlformats.org/drawingml/2006/main">
            <a:off x="9382125" y="4752975"/>
            <a:ext cx="2238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142C42"/>
                </a:solidFill>
                <a:latin typeface="Calibri"/>
                <a:ea typeface="Calibri"/>
                <a:cs typeface="Calibri"/>
              </a:defRPr>
            </a:defPPr>
            <a:lvl1pPr>
              <a:defRPr sz="2175" b="0">
                <a:solidFill>
                  <a:srgbClr val="142C42"/>
                </a:solidFill>
                <a:latin typeface="Calibri"/>
                <a:ea typeface="Calibri"/>
                <a:cs typeface="Calibri"/>
              </a:defRPr>
            </a:lvl1pPr>
            <a:lvl2pPr>
              <a:defRPr sz="2175" b="0">
                <a:solidFill>
                  <a:srgbClr val="142C42"/>
                </a:solidFill>
                <a:latin typeface="Calibri"/>
                <a:ea typeface="Calibri"/>
                <a:cs typeface="Calibri"/>
              </a:defRPr>
            </a:lvl2pPr>
            <a:lvl3pPr>
              <a:defRPr sz="2175" b="0">
                <a:solidFill>
                  <a:srgbClr val="142C42"/>
                </a:solidFill>
                <a:latin typeface="Calibri"/>
                <a:ea typeface="Calibri"/>
                <a:cs typeface="Calibri"/>
              </a:defRPr>
            </a:lvl3pPr>
            <a:lvl4pPr>
              <a:defRPr sz="2175" b="0">
                <a:solidFill>
                  <a:srgbClr val="142C42"/>
                </a:solidFill>
                <a:latin typeface="Calibri"/>
                <a:ea typeface="Calibri"/>
                <a:cs typeface="Calibri"/>
              </a:defRPr>
            </a:lvl4pPr>
            <a:lvl5pPr>
              <a:defRPr sz="2175" b="0">
                <a:solidFill>
                  <a:srgbClr val="142C42"/>
                </a:solidFill>
                <a:latin typeface="Calibri"/>
                <a:ea typeface="Calibri"/>
                <a:cs typeface="Calibri"/>
              </a:defRPr>
            </a:lvl5pPr>
            <a:lvl6pPr>
              <a:defRPr sz="2175" b="0">
                <a:solidFill>
                  <a:srgbClr val="142C42"/>
                </a:solidFill>
                <a:latin typeface="Calibri"/>
                <a:ea typeface="Calibri"/>
                <a:cs typeface="Calibri"/>
              </a:defRPr>
            </a:lvl6pPr>
            <a:lvl7pPr>
              <a:defRPr sz="2175" b="0">
                <a:solidFill>
                  <a:srgbClr val="142C42"/>
                </a:solidFill>
                <a:latin typeface="Calibri"/>
                <a:ea typeface="Calibri"/>
                <a:cs typeface="Calibri"/>
              </a:defRPr>
            </a:lvl7pPr>
            <a:lvl8pPr>
              <a:defRPr sz="2175" b="0">
                <a:solidFill>
                  <a:srgbClr val="142C42"/>
                </a:solidFill>
                <a:latin typeface="Calibri"/>
                <a:ea typeface="Calibri"/>
                <a:cs typeface="Calibri"/>
              </a:defRPr>
            </a:lvl8pPr>
            <a:lvl9pPr>
              <a:defRPr sz="2175" b="0">
                <a:solidFill>
                  <a:srgbClr val="142C42"/>
                </a:solidFill>
                <a:latin typeface="Calibri"/>
                <a:ea typeface="Calibri"/>
                <a:cs typeface="Calibri"/>
              </a:defRPr>
            </a:lvl9pPr>
          </a:lstStyle>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Upload a CSV and</a:t>
            </a:r>
          </a:p>
          <a:p xmlns:a="http://schemas.openxmlformats.org/drawingml/2006/main">
            <a:pPr>
              <a:buNone/>
              <a:defRPr sz="2175" b="0">
                <a:solidFill>
                  <a:srgbClr val="142C42"/>
                </a:solidFill>
                <a:latin typeface="Calibri"/>
                <a:ea typeface="Calibri"/>
                <a:cs typeface="Calibri"/>
              </a:defRPr>
            </a:pPr>
            <a:r>
              <a:rPr sz="2175" b="0">
                <a:solidFill>
                  <a:srgbClr val="142C42"/>
                </a:solidFill>
                <a:latin typeface="Calibri"/>
                <a:ea typeface="Calibri"/>
                <a:cs typeface="Calibri"/>
              </a:rPr>
              <a:t>export predictions</a:t>
            </a:r>
          </a:p>
        </p:txBody>
      </p:sp>
      <p:sp>
        <p:nvSpPr>
          <p:cNvPr id="10" name="">
            <a:extLst xmlns:a="http://schemas.openxmlformats.org/drawingml/2006/main">
              <a:ext uri="{FF2B5EF4-FFF2-40B4-BE49-F238E27FC236}">
                <a16:creationId xmlns:a16="http://schemas.microsoft.com/office/drawing/2014/main" id="{C93881FF-7535-4246-B496-360956F525DD}"/>
              </a:ext>
            </a:extLst>
          </p:cNvPr>
          <p:cNvSpPr>
            <a:spLocks xmlns:a="http://schemas.openxmlformats.org/drawingml/2006/main" noGrp="1"/>
          </p:cNvSpPr>
          <p:nvPr/>
        </p:nvSpPr>
        <p:spPr>
          <a:xfrm xmlns:a="http://schemas.openxmlformats.org/drawingml/2006/main">
            <a:off x="685800" y="6010275"/>
            <a:ext cx="704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650" b="0">
                <a:solidFill>
                  <a:srgbClr val="617384"/>
                </a:solidFill>
                <a:latin typeface="Calibri"/>
                <a:ea typeface="Calibri"/>
                <a:cs typeface="Calibri"/>
              </a:defRPr>
            </a:defPPr>
            <a:lvl1pPr>
              <a:defRPr sz="1650" b="0">
                <a:solidFill>
                  <a:srgbClr val="617384"/>
                </a:solidFill>
                <a:latin typeface="Calibri"/>
                <a:ea typeface="Calibri"/>
                <a:cs typeface="Calibri"/>
              </a:defRPr>
            </a:lvl1pPr>
            <a:lvl2pPr>
              <a:defRPr sz="1650" b="0">
                <a:solidFill>
                  <a:srgbClr val="617384"/>
                </a:solidFill>
                <a:latin typeface="Calibri"/>
                <a:ea typeface="Calibri"/>
                <a:cs typeface="Calibri"/>
              </a:defRPr>
            </a:lvl2pPr>
            <a:lvl3pPr>
              <a:defRPr sz="1650" b="0">
                <a:solidFill>
                  <a:srgbClr val="617384"/>
                </a:solidFill>
                <a:latin typeface="Calibri"/>
                <a:ea typeface="Calibri"/>
                <a:cs typeface="Calibri"/>
              </a:defRPr>
            </a:lvl3pPr>
            <a:lvl4pPr>
              <a:defRPr sz="1650" b="0">
                <a:solidFill>
                  <a:srgbClr val="617384"/>
                </a:solidFill>
                <a:latin typeface="Calibri"/>
                <a:ea typeface="Calibri"/>
                <a:cs typeface="Calibri"/>
              </a:defRPr>
            </a:lvl4pPr>
            <a:lvl5pPr>
              <a:defRPr sz="1650" b="0">
                <a:solidFill>
                  <a:srgbClr val="617384"/>
                </a:solidFill>
                <a:latin typeface="Calibri"/>
                <a:ea typeface="Calibri"/>
                <a:cs typeface="Calibri"/>
              </a:defRPr>
            </a:lvl5pPr>
            <a:lvl6pPr>
              <a:defRPr sz="1650" b="0">
                <a:solidFill>
                  <a:srgbClr val="617384"/>
                </a:solidFill>
                <a:latin typeface="Calibri"/>
                <a:ea typeface="Calibri"/>
                <a:cs typeface="Calibri"/>
              </a:defRPr>
            </a:lvl6pPr>
            <a:lvl7pPr>
              <a:defRPr sz="1650" b="0">
                <a:solidFill>
                  <a:srgbClr val="617384"/>
                </a:solidFill>
                <a:latin typeface="Calibri"/>
                <a:ea typeface="Calibri"/>
                <a:cs typeface="Calibri"/>
              </a:defRPr>
            </a:lvl7pPr>
            <a:lvl8pPr>
              <a:defRPr sz="1650" b="0">
                <a:solidFill>
                  <a:srgbClr val="617384"/>
                </a:solidFill>
                <a:latin typeface="Calibri"/>
                <a:ea typeface="Calibri"/>
                <a:cs typeface="Calibri"/>
              </a:defRPr>
            </a:lvl8pPr>
            <a:lvl9pPr>
              <a:defRPr sz="1650" b="0">
                <a:solidFill>
                  <a:srgbClr val="617384"/>
                </a:solidFill>
                <a:latin typeface="Calibri"/>
                <a:ea typeface="Calibri"/>
                <a:cs typeface="Calibri"/>
              </a:defRPr>
            </a:lvl9pPr>
          </a:lstStyle>
          <a:p xmlns:a="http://schemas.openxmlformats.org/drawingml/2006/main">
            <a:pPr>
              <a:buNone/>
              <a:defRPr sz="1650" b="0">
                <a:solidFill>
                  <a:srgbClr val="617384"/>
                </a:solidFill>
                <a:latin typeface="Calibri"/>
                <a:ea typeface="Calibri"/>
                <a:cs typeface="Calibri"/>
              </a:defRPr>
            </a:pPr>
            <a:r>
              <a:rPr sz="1650" b="0">
                <a:solidFill>
                  <a:srgbClr val="617384"/>
                </a:solidFill>
                <a:latin typeface="Calibri"/>
                <a:ea typeface="Calibri"/>
                <a:cs typeface="Calibri"/>
              </a:rPr>
              <a:t>python app.py</a:t>
            </a:r>
          </a:p>
        </p:txBody>
      </p:sp>
    </p:spTree>
    <p:extLst>
      <p:ext uri="{BB962C8B-B14F-4D97-AF65-F5344CB8AC3E}">
        <p14:creationId xmlns:p14="http://schemas.microsoft.com/office/powerpoint/2010/main" val="785503167"/>
      </p:ext>
    </p:extLst>
  </p:cSld>
</p:sld>
</file>

<file path=ppt/slides/slide1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39CA454-DB0E-4B00-954A-A57ABD649F59}"/>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Conclusion and next steps</a:t>
            </a:r>
          </a:p>
        </p:txBody>
      </p:sp>
      <p:sp>
        <p:nvSpPr>
          <p:cNvPr id="2" name="">
            <a:extLst xmlns:a="http://schemas.openxmlformats.org/drawingml/2006/main">
              <a:ext uri="{FF2B5EF4-FFF2-40B4-BE49-F238E27FC236}">
                <a16:creationId xmlns:a16="http://schemas.microsoft.com/office/drawing/2014/main" id="{2FCAA0FD-BF82-42C3-9E18-8E359D3BFA55}"/>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13</a:t>
            </a:r>
          </a:p>
        </p:txBody>
      </p:sp>
      <p:sp>
        <p:nvSpPr>
          <p:cNvPr id="3" name="">
            <a:extLst xmlns:a="http://schemas.openxmlformats.org/drawingml/2006/main">
              <a:ext uri="{FF2B5EF4-FFF2-40B4-BE49-F238E27FC236}">
                <a16:creationId xmlns:a16="http://schemas.microsoft.com/office/drawing/2014/main" id="{2E4F22A1-4D7D-429D-A5C9-C66808BAB8D9}"/>
              </a:ext>
            </a:extLst>
          </p:cNvPr>
          <p:cNvSpPr>
            <a:spLocks xmlns:a="http://schemas.openxmlformats.org/drawingml/2006/main" noGrp="1"/>
          </p:cNvSpPr>
          <p:nvPr/>
        </p:nvSpPr>
        <p:spPr>
          <a:xfrm xmlns:a="http://schemas.openxmlformats.org/drawingml/2006/main">
            <a:off x="666750" y="1581150"/>
            <a:ext cx="10668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000" b="1">
                <a:solidFill>
                  <a:srgbClr val="007F78"/>
                </a:solidFill>
                <a:latin typeface="Calibri"/>
                <a:ea typeface="Calibri"/>
                <a:cs typeface="Calibri"/>
              </a:defRPr>
            </a:defPPr>
            <a:lvl1pPr>
              <a:defRPr sz="3000" b="1">
                <a:solidFill>
                  <a:srgbClr val="007F78"/>
                </a:solidFill>
                <a:latin typeface="Calibri"/>
                <a:ea typeface="Calibri"/>
                <a:cs typeface="Calibri"/>
              </a:defRPr>
            </a:lvl1pPr>
            <a:lvl2pPr>
              <a:defRPr sz="3000" b="1">
                <a:solidFill>
                  <a:srgbClr val="007F78"/>
                </a:solidFill>
                <a:latin typeface="Calibri"/>
                <a:ea typeface="Calibri"/>
                <a:cs typeface="Calibri"/>
              </a:defRPr>
            </a:lvl2pPr>
            <a:lvl3pPr>
              <a:defRPr sz="3000" b="1">
                <a:solidFill>
                  <a:srgbClr val="007F78"/>
                </a:solidFill>
                <a:latin typeface="Calibri"/>
                <a:ea typeface="Calibri"/>
                <a:cs typeface="Calibri"/>
              </a:defRPr>
            </a:lvl3pPr>
            <a:lvl4pPr>
              <a:defRPr sz="3000" b="1">
                <a:solidFill>
                  <a:srgbClr val="007F78"/>
                </a:solidFill>
                <a:latin typeface="Calibri"/>
                <a:ea typeface="Calibri"/>
                <a:cs typeface="Calibri"/>
              </a:defRPr>
            </a:lvl4pPr>
            <a:lvl5pPr>
              <a:defRPr sz="3000" b="1">
                <a:solidFill>
                  <a:srgbClr val="007F78"/>
                </a:solidFill>
                <a:latin typeface="Calibri"/>
                <a:ea typeface="Calibri"/>
                <a:cs typeface="Calibri"/>
              </a:defRPr>
            </a:lvl5pPr>
            <a:lvl6pPr>
              <a:defRPr sz="3000" b="1">
                <a:solidFill>
                  <a:srgbClr val="007F78"/>
                </a:solidFill>
                <a:latin typeface="Calibri"/>
                <a:ea typeface="Calibri"/>
                <a:cs typeface="Calibri"/>
              </a:defRPr>
            </a:lvl6pPr>
            <a:lvl7pPr>
              <a:defRPr sz="3000" b="1">
                <a:solidFill>
                  <a:srgbClr val="007F78"/>
                </a:solidFill>
                <a:latin typeface="Calibri"/>
                <a:ea typeface="Calibri"/>
                <a:cs typeface="Calibri"/>
              </a:defRPr>
            </a:lvl7pPr>
            <a:lvl8pPr>
              <a:defRPr sz="3000" b="1">
                <a:solidFill>
                  <a:srgbClr val="007F78"/>
                </a:solidFill>
                <a:latin typeface="Calibri"/>
                <a:ea typeface="Calibri"/>
                <a:cs typeface="Calibri"/>
              </a:defRPr>
            </a:lvl8pPr>
            <a:lvl9pPr>
              <a:defRPr sz="3000" b="1">
                <a:solidFill>
                  <a:srgbClr val="007F78"/>
                </a:solidFill>
                <a:latin typeface="Calibri"/>
                <a:ea typeface="Calibri"/>
                <a:cs typeface="Calibri"/>
              </a:defRPr>
            </a:lvl9pPr>
          </a:lstStyle>
          <a:p xmlns:a="http://schemas.openxmlformats.org/drawingml/2006/main">
            <a:pPr>
              <a:buNone/>
              <a:defRPr sz="3000" b="1">
                <a:solidFill>
                  <a:srgbClr val="007F78"/>
                </a:solidFill>
                <a:latin typeface="Calibri"/>
                <a:ea typeface="Calibri"/>
                <a:cs typeface="Calibri"/>
              </a:defRPr>
            </a:pPr>
            <a:r>
              <a:rPr sz="3000" b="1">
                <a:solidFill>
                  <a:srgbClr val="007F78"/>
                </a:solidFill>
                <a:latin typeface="Calibri"/>
                <a:ea typeface="Calibri"/>
                <a:cs typeface="Calibri"/>
              </a:rPr>
              <a:t>A useful signal, with a measurable cost</a:t>
            </a:r>
          </a:p>
        </p:txBody>
      </p:sp>
      <p:sp>
        <p:nvSpPr>
          <p:cNvPr id="4" name="">
            <a:extLst xmlns:a="http://schemas.openxmlformats.org/drawingml/2006/main">
              <a:ext uri="{FF2B5EF4-FFF2-40B4-BE49-F238E27FC236}">
                <a16:creationId xmlns:a16="http://schemas.microsoft.com/office/drawing/2014/main" id="{63C38D1E-CE1F-46A3-BD62-1254D6BF1232}"/>
              </a:ext>
            </a:extLst>
          </p:cNvPr>
          <p:cNvSpPr>
            <a:spLocks xmlns:a="http://schemas.openxmlformats.org/drawingml/2006/main" noGrp="1"/>
          </p:cNvSpPr>
          <p:nvPr/>
        </p:nvSpPr>
        <p:spPr>
          <a:xfrm xmlns:a="http://schemas.openxmlformats.org/drawingml/2006/main">
            <a:off x="685800" y="2676525"/>
            <a:ext cx="1047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775" b="0">
                <a:solidFill>
                  <a:srgbClr val="142C42"/>
                </a:solidFill>
                <a:latin typeface="Calibri"/>
                <a:ea typeface="Calibri"/>
                <a:cs typeface="Calibri"/>
              </a:defRPr>
            </a:defPPr>
            <a:lvl1pPr>
              <a:defRPr sz="2775" b="0">
                <a:solidFill>
                  <a:srgbClr val="142C42"/>
                </a:solidFill>
                <a:latin typeface="Calibri"/>
                <a:ea typeface="Calibri"/>
                <a:cs typeface="Calibri"/>
              </a:defRPr>
            </a:lvl1pPr>
            <a:lvl2pPr>
              <a:defRPr sz="2775" b="0">
                <a:solidFill>
                  <a:srgbClr val="142C42"/>
                </a:solidFill>
                <a:latin typeface="Calibri"/>
                <a:ea typeface="Calibri"/>
                <a:cs typeface="Calibri"/>
              </a:defRPr>
            </a:lvl2pPr>
            <a:lvl3pPr>
              <a:defRPr sz="2775" b="0">
                <a:solidFill>
                  <a:srgbClr val="142C42"/>
                </a:solidFill>
                <a:latin typeface="Calibri"/>
                <a:ea typeface="Calibri"/>
                <a:cs typeface="Calibri"/>
              </a:defRPr>
            </a:lvl3pPr>
            <a:lvl4pPr>
              <a:defRPr sz="2775" b="0">
                <a:solidFill>
                  <a:srgbClr val="142C42"/>
                </a:solidFill>
                <a:latin typeface="Calibri"/>
                <a:ea typeface="Calibri"/>
                <a:cs typeface="Calibri"/>
              </a:defRPr>
            </a:lvl4pPr>
            <a:lvl5pPr>
              <a:defRPr sz="2775" b="0">
                <a:solidFill>
                  <a:srgbClr val="142C42"/>
                </a:solidFill>
                <a:latin typeface="Calibri"/>
                <a:ea typeface="Calibri"/>
                <a:cs typeface="Calibri"/>
              </a:defRPr>
            </a:lvl5pPr>
            <a:lvl6pPr>
              <a:defRPr sz="2775" b="0">
                <a:solidFill>
                  <a:srgbClr val="142C42"/>
                </a:solidFill>
                <a:latin typeface="Calibri"/>
                <a:ea typeface="Calibri"/>
                <a:cs typeface="Calibri"/>
              </a:defRPr>
            </a:lvl6pPr>
            <a:lvl7pPr>
              <a:defRPr sz="2775" b="0">
                <a:solidFill>
                  <a:srgbClr val="142C42"/>
                </a:solidFill>
                <a:latin typeface="Calibri"/>
                <a:ea typeface="Calibri"/>
                <a:cs typeface="Calibri"/>
              </a:defRPr>
            </a:lvl7pPr>
            <a:lvl8pPr>
              <a:defRPr sz="2775" b="0">
                <a:solidFill>
                  <a:srgbClr val="142C42"/>
                </a:solidFill>
                <a:latin typeface="Calibri"/>
                <a:ea typeface="Calibri"/>
                <a:cs typeface="Calibri"/>
              </a:defRPr>
            </a:lvl8pPr>
            <a:lvl9pPr>
              <a:defRPr sz="2775" b="0">
                <a:solidFill>
                  <a:srgbClr val="142C42"/>
                </a:solidFill>
                <a:latin typeface="Calibri"/>
                <a:ea typeface="Calibri"/>
                <a:cs typeface="Calibri"/>
              </a:defRPr>
            </a:lvl9pPr>
          </a:lstStyle>
          <a:p xmlns:a="http://schemas.openxmlformats.org/drawingml/2006/main">
            <a:pPr>
              <a:buNone/>
              <a:defRPr sz="2775" b="0">
                <a:solidFill>
                  <a:srgbClr val="142C42"/>
                </a:solidFill>
                <a:latin typeface="Calibri"/>
                <a:ea typeface="Calibri"/>
                <a:cs typeface="Calibri"/>
              </a:defRPr>
            </a:pPr>
            <a:r>
              <a:rPr sz="2775" b="0">
                <a:solidFill>
                  <a:srgbClr val="142C42"/>
                </a:solidFill>
                <a:latin typeface="Calibri"/>
                <a:ea typeface="Calibri"/>
                <a:cs typeface="Calibri"/>
              </a:rPr>
              <a:t>84 bankruptcies detected</a:t>
            </a:r>
          </a:p>
          <a:p xmlns:a="http://schemas.openxmlformats.org/drawingml/2006/main">
            <a:pPr>
              <a:buNone/>
              <a:defRPr sz="2775" b="0">
                <a:solidFill>
                  <a:srgbClr val="142C42"/>
                </a:solidFill>
                <a:latin typeface="Calibri"/>
                <a:ea typeface="Calibri"/>
                <a:cs typeface="Calibri"/>
              </a:defRPr>
            </a:pPr>
            <a:r>
              <a:rPr sz="2775" b="0">
                <a:solidFill>
                  <a:srgbClr val="142C42"/>
                </a:solidFill>
                <a:latin typeface="Calibri"/>
                <a:ea typeface="Calibri"/>
                <a:cs typeface="Calibri"/>
              </a:rPr>
              <a:t>15 missed cases and 161 false alarms</a:t>
            </a:r>
          </a:p>
        </p:txBody>
      </p:sp>
      <p:sp>
        <p:nvSpPr>
          <p:cNvPr id="5" name="">
            <a:extLst xmlns:a="http://schemas.openxmlformats.org/drawingml/2006/main">
              <a:ext uri="{FF2B5EF4-FFF2-40B4-BE49-F238E27FC236}">
                <a16:creationId xmlns:a16="http://schemas.microsoft.com/office/drawing/2014/main" id="{594C7602-0737-474D-B810-ECF849BF3453}"/>
              </a:ext>
            </a:extLst>
          </p:cNvPr>
          <p:cNvSpPr>
            <a:spLocks xmlns:a="http://schemas.openxmlformats.org/drawingml/2006/main" noGrp="1"/>
          </p:cNvSpPr>
          <p:nvPr/>
        </p:nvSpPr>
        <p:spPr>
          <a:xfrm xmlns:a="http://schemas.openxmlformats.org/drawingml/2006/main">
            <a:off x="685800" y="4276725"/>
            <a:ext cx="10477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1">
                <a:solidFill>
                  <a:srgbClr val="142C42"/>
                </a:solidFill>
                <a:latin typeface="Calibri"/>
                <a:ea typeface="Calibri"/>
                <a:cs typeface="Calibri"/>
              </a:defRPr>
            </a:defPPr>
            <a:lvl1pPr>
              <a:defRPr sz="2175" b="1">
                <a:solidFill>
                  <a:srgbClr val="142C42"/>
                </a:solidFill>
                <a:latin typeface="Calibri"/>
                <a:ea typeface="Calibri"/>
                <a:cs typeface="Calibri"/>
              </a:defRPr>
            </a:lvl1pPr>
            <a:lvl2pPr>
              <a:defRPr sz="2175" b="1">
                <a:solidFill>
                  <a:srgbClr val="142C42"/>
                </a:solidFill>
                <a:latin typeface="Calibri"/>
                <a:ea typeface="Calibri"/>
                <a:cs typeface="Calibri"/>
              </a:defRPr>
            </a:lvl2pPr>
            <a:lvl3pPr>
              <a:defRPr sz="2175" b="1">
                <a:solidFill>
                  <a:srgbClr val="142C42"/>
                </a:solidFill>
                <a:latin typeface="Calibri"/>
                <a:ea typeface="Calibri"/>
                <a:cs typeface="Calibri"/>
              </a:defRPr>
            </a:lvl3pPr>
            <a:lvl4pPr>
              <a:defRPr sz="2175" b="1">
                <a:solidFill>
                  <a:srgbClr val="142C42"/>
                </a:solidFill>
                <a:latin typeface="Calibri"/>
                <a:ea typeface="Calibri"/>
                <a:cs typeface="Calibri"/>
              </a:defRPr>
            </a:lvl4pPr>
            <a:lvl5pPr>
              <a:defRPr sz="2175" b="1">
                <a:solidFill>
                  <a:srgbClr val="142C42"/>
                </a:solidFill>
                <a:latin typeface="Calibri"/>
                <a:ea typeface="Calibri"/>
                <a:cs typeface="Calibri"/>
              </a:defRPr>
            </a:lvl5pPr>
            <a:lvl6pPr>
              <a:defRPr sz="2175" b="1">
                <a:solidFill>
                  <a:srgbClr val="142C42"/>
                </a:solidFill>
                <a:latin typeface="Calibri"/>
                <a:ea typeface="Calibri"/>
                <a:cs typeface="Calibri"/>
              </a:defRPr>
            </a:lvl6pPr>
            <a:lvl7pPr>
              <a:defRPr sz="2175" b="1">
                <a:solidFill>
                  <a:srgbClr val="142C42"/>
                </a:solidFill>
                <a:latin typeface="Calibri"/>
                <a:ea typeface="Calibri"/>
                <a:cs typeface="Calibri"/>
              </a:defRPr>
            </a:lvl7pPr>
            <a:lvl8pPr>
              <a:defRPr sz="2175" b="1">
                <a:solidFill>
                  <a:srgbClr val="142C42"/>
                </a:solidFill>
                <a:latin typeface="Calibri"/>
                <a:ea typeface="Calibri"/>
                <a:cs typeface="Calibri"/>
              </a:defRPr>
            </a:lvl8pPr>
            <a:lvl9pPr>
              <a:defRPr sz="2175" b="1">
                <a:solidFill>
                  <a:srgbClr val="142C42"/>
                </a:solidFill>
                <a:latin typeface="Calibri"/>
                <a:ea typeface="Calibri"/>
                <a:cs typeface="Calibri"/>
              </a:defRPr>
            </a:lvl9pPr>
          </a:lstStyle>
          <a:p xmlns:a="http://schemas.openxmlformats.org/drawingml/2006/main">
            <a:pPr>
              <a:buNone/>
              <a:defRPr sz="2175" b="1">
                <a:solidFill>
                  <a:srgbClr val="142C42"/>
                </a:solidFill>
                <a:latin typeface="Calibri"/>
                <a:ea typeface="Calibri"/>
                <a:cs typeface="Calibri"/>
              </a:defRPr>
            </a:pPr>
            <a:r>
              <a:rPr sz="2175" b="1">
                <a:solidFill>
                  <a:srgbClr val="142C42"/>
                </a:solidFill>
                <a:latin typeface="Calibri"/>
                <a:ea typeface="Calibri"/>
                <a:cs typeface="Calibri"/>
              </a:rPr>
              <a:t>Next validation priorities</a:t>
            </a:r>
          </a:p>
        </p:txBody>
      </p:sp>
      <p:sp>
        <p:nvSpPr>
          <p:cNvPr id="6" name="">
            <a:extLst xmlns:a="http://schemas.openxmlformats.org/drawingml/2006/main">
              <a:ext uri="{FF2B5EF4-FFF2-40B4-BE49-F238E27FC236}">
                <a16:creationId xmlns:a16="http://schemas.microsoft.com/office/drawing/2014/main" id="{F7299D5F-B47E-442F-A08D-03298F576125}"/>
              </a:ext>
            </a:extLst>
          </p:cNvPr>
          <p:cNvSpPr>
            <a:spLocks xmlns:a="http://schemas.openxmlformats.org/drawingml/2006/main" noGrp="1"/>
          </p:cNvSpPr>
          <p:nvPr/>
        </p:nvSpPr>
        <p:spPr>
          <a:xfrm xmlns:a="http://schemas.openxmlformats.org/drawingml/2006/main">
            <a:off x="685800" y="4933950"/>
            <a:ext cx="104775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75" b="0">
                <a:solidFill>
                  <a:srgbClr val="617384"/>
                </a:solidFill>
                <a:latin typeface="Calibri"/>
                <a:ea typeface="Calibri"/>
                <a:cs typeface="Calibri"/>
              </a:defRPr>
            </a:defPPr>
            <a:lvl1pPr>
              <a:defRPr sz="2175" b="0">
                <a:solidFill>
                  <a:srgbClr val="617384"/>
                </a:solidFill>
                <a:latin typeface="Calibri"/>
                <a:ea typeface="Calibri"/>
                <a:cs typeface="Calibri"/>
              </a:defRPr>
            </a:lvl1pPr>
            <a:lvl2pPr>
              <a:defRPr sz="2175" b="0">
                <a:solidFill>
                  <a:srgbClr val="617384"/>
                </a:solidFill>
                <a:latin typeface="Calibri"/>
                <a:ea typeface="Calibri"/>
                <a:cs typeface="Calibri"/>
              </a:defRPr>
            </a:lvl2pPr>
            <a:lvl3pPr>
              <a:defRPr sz="2175" b="0">
                <a:solidFill>
                  <a:srgbClr val="617384"/>
                </a:solidFill>
                <a:latin typeface="Calibri"/>
                <a:ea typeface="Calibri"/>
                <a:cs typeface="Calibri"/>
              </a:defRPr>
            </a:lvl3pPr>
            <a:lvl4pPr>
              <a:defRPr sz="2175" b="0">
                <a:solidFill>
                  <a:srgbClr val="617384"/>
                </a:solidFill>
                <a:latin typeface="Calibri"/>
                <a:ea typeface="Calibri"/>
                <a:cs typeface="Calibri"/>
              </a:defRPr>
            </a:lvl4pPr>
            <a:lvl5pPr>
              <a:defRPr sz="2175" b="0">
                <a:solidFill>
                  <a:srgbClr val="617384"/>
                </a:solidFill>
                <a:latin typeface="Calibri"/>
                <a:ea typeface="Calibri"/>
                <a:cs typeface="Calibri"/>
              </a:defRPr>
            </a:lvl5pPr>
            <a:lvl6pPr>
              <a:defRPr sz="2175" b="0">
                <a:solidFill>
                  <a:srgbClr val="617384"/>
                </a:solidFill>
                <a:latin typeface="Calibri"/>
                <a:ea typeface="Calibri"/>
                <a:cs typeface="Calibri"/>
              </a:defRPr>
            </a:lvl6pPr>
            <a:lvl7pPr>
              <a:defRPr sz="2175" b="0">
                <a:solidFill>
                  <a:srgbClr val="617384"/>
                </a:solidFill>
                <a:latin typeface="Calibri"/>
                <a:ea typeface="Calibri"/>
                <a:cs typeface="Calibri"/>
              </a:defRPr>
            </a:lvl7pPr>
            <a:lvl8pPr>
              <a:defRPr sz="2175" b="0">
                <a:solidFill>
                  <a:srgbClr val="617384"/>
                </a:solidFill>
                <a:latin typeface="Calibri"/>
                <a:ea typeface="Calibri"/>
                <a:cs typeface="Calibri"/>
              </a:defRPr>
            </a:lvl8pPr>
            <a:lvl9pPr>
              <a:defRPr sz="2175" b="0">
                <a:solidFill>
                  <a:srgbClr val="617384"/>
                </a:solidFill>
                <a:latin typeface="Calibri"/>
                <a:ea typeface="Calibri"/>
                <a:cs typeface="Calibri"/>
              </a:defRPr>
            </a:lvl9pPr>
          </a:lstStyle>
          <a:p xmlns:a="http://schemas.openxmlformats.org/drawingml/2006/main">
            <a:pPr>
              <a:buNone/>
              <a:defRPr sz="2175" b="0">
                <a:solidFill>
                  <a:srgbClr val="617384"/>
                </a:solidFill>
                <a:latin typeface="Calibri"/>
                <a:ea typeface="Calibri"/>
                <a:cs typeface="Calibri"/>
              </a:defRPr>
            </a:pPr>
            <a:r>
              <a:rPr sz="2175" b="0">
                <a:solidFill>
                  <a:srgbClr val="617384"/>
                </a:solidFill>
                <a:latin typeface="Calibri"/>
                <a:ea typeface="Calibri"/>
                <a:cs typeface="Calibri"/>
              </a:rPr>
              <a:t>Company and date separation</a:t>
            </a:r>
          </a:p>
          <a:p xmlns:a="http://schemas.openxmlformats.org/drawingml/2006/main">
            <a:pPr>
              <a:buNone/>
              <a:defRPr sz="2175" b="0">
                <a:solidFill>
                  <a:srgbClr val="617384"/>
                </a:solidFill>
                <a:latin typeface="Calibri"/>
                <a:ea typeface="Calibri"/>
                <a:cs typeface="Calibri"/>
              </a:defRPr>
            </a:pPr>
            <a:r>
              <a:rPr sz="2175" b="0">
                <a:solidFill>
                  <a:srgbClr val="617384"/>
                </a:solidFill>
                <a:latin typeface="Calibri"/>
                <a:ea typeface="Calibri"/>
                <a:cs typeface="Calibri"/>
              </a:rPr>
              <a:t>Threshold stability across splits</a:t>
            </a:r>
          </a:p>
          <a:p xmlns:a="http://schemas.openxmlformats.org/drawingml/2006/main">
            <a:pPr>
              <a:buNone/>
              <a:defRPr sz="2175" b="0">
                <a:solidFill>
                  <a:srgbClr val="617384"/>
                </a:solidFill>
                <a:latin typeface="Calibri"/>
                <a:ea typeface="Calibri"/>
                <a:cs typeface="Calibri"/>
              </a:defRPr>
            </a:pPr>
            <a:r>
              <a:rPr sz="2175" b="0">
                <a:solidFill>
                  <a:srgbClr val="617384"/>
                </a:solidFill>
                <a:latin typeface="Calibri"/>
                <a:ea typeface="Calibri"/>
                <a:cs typeface="Calibri"/>
              </a:rPr>
              <a:t>Calibration on independent data</a:t>
            </a:r>
          </a:p>
        </p:txBody>
      </p:sp>
    </p:spTree>
    <p:extLst>
      <p:ext uri="{BB962C8B-B14F-4D97-AF65-F5344CB8AC3E}">
        <p14:creationId xmlns:p14="http://schemas.microsoft.com/office/powerpoint/2010/main" val="1049213853"/>
      </p:ext>
    </p:extLst>
  </p:cSld>
</p:sld>
</file>

<file path=ppt/slides/slide1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4B988E-987C-48C5-B629-15EA61FBF3DD}"/>
              </a:ext>
            </a:extLst>
          </p:cNvPr>
          <p:cNvSpPr>
            <a:spLocks xmlns:a="http://schemas.openxmlformats.org/drawingml/2006/main" noGrp="1"/>
          </p:cNvSpPr>
          <p:nvPr/>
        </p:nvSpPr>
        <p:spPr>
          <a:xfrm xmlns:a="http://schemas.openxmlformats.org/drawingml/2006/main">
            <a:off x="619125" y="457200"/>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3300" b="1">
                <a:solidFill>
                  <a:srgbClr val="142C42"/>
                </a:solidFill>
                <a:latin typeface="Calibri"/>
                <a:ea typeface="Calibri"/>
                <a:cs typeface="Calibri"/>
              </a:defRPr>
            </a:defPPr>
            <a:lvl1pPr>
              <a:defRPr sz="3300" b="1">
                <a:solidFill>
                  <a:srgbClr val="142C42"/>
                </a:solidFill>
                <a:latin typeface="Calibri"/>
                <a:ea typeface="Calibri"/>
                <a:cs typeface="Calibri"/>
              </a:defRPr>
            </a:lvl1pPr>
            <a:lvl2pPr>
              <a:defRPr sz="3300" b="1">
                <a:solidFill>
                  <a:srgbClr val="142C42"/>
                </a:solidFill>
                <a:latin typeface="Calibri"/>
                <a:ea typeface="Calibri"/>
                <a:cs typeface="Calibri"/>
              </a:defRPr>
            </a:lvl2pPr>
            <a:lvl3pPr>
              <a:defRPr sz="3300" b="1">
                <a:solidFill>
                  <a:srgbClr val="142C42"/>
                </a:solidFill>
                <a:latin typeface="Calibri"/>
                <a:ea typeface="Calibri"/>
                <a:cs typeface="Calibri"/>
              </a:defRPr>
            </a:lvl3pPr>
            <a:lvl4pPr>
              <a:defRPr sz="3300" b="1">
                <a:solidFill>
                  <a:srgbClr val="142C42"/>
                </a:solidFill>
                <a:latin typeface="Calibri"/>
                <a:ea typeface="Calibri"/>
                <a:cs typeface="Calibri"/>
              </a:defRPr>
            </a:lvl4pPr>
            <a:lvl5pPr>
              <a:defRPr sz="3300" b="1">
                <a:solidFill>
                  <a:srgbClr val="142C42"/>
                </a:solidFill>
                <a:latin typeface="Calibri"/>
                <a:ea typeface="Calibri"/>
                <a:cs typeface="Calibri"/>
              </a:defRPr>
            </a:lvl5pPr>
            <a:lvl6pPr>
              <a:defRPr sz="3300" b="1">
                <a:solidFill>
                  <a:srgbClr val="142C42"/>
                </a:solidFill>
                <a:latin typeface="Calibri"/>
                <a:ea typeface="Calibri"/>
                <a:cs typeface="Calibri"/>
              </a:defRPr>
            </a:lvl6pPr>
            <a:lvl7pPr>
              <a:defRPr sz="3300" b="1">
                <a:solidFill>
                  <a:srgbClr val="142C42"/>
                </a:solidFill>
                <a:latin typeface="Calibri"/>
                <a:ea typeface="Calibri"/>
                <a:cs typeface="Calibri"/>
              </a:defRPr>
            </a:lvl7pPr>
            <a:lvl8pPr>
              <a:defRPr sz="3300" b="1">
                <a:solidFill>
                  <a:srgbClr val="142C42"/>
                </a:solidFill>
                <a:latin typeface="Calibri"/>
                <a:ea typeface="Calibri"/>
                <a:cs typeface="Calibri"/>
              </a:defRPr>
            </a:lvl8pPr>
            <a:lvl9pPr>
              <a:defRPr sz="3300" b="1">
                <a:solidFill>
                  <a:srgbClr val="142C42"/>
                </a:solidFill>
                <a:latin typeface="Calibri"/>
                <a:ea typeface="Calibri"/>
                <a:cs typeface="Calibri"/>
              </a:defRPr>
            </a:lvl9pPr>
          </a:lstStyle>
          <a:p xmlns:a="http://schemas.openxmlformats.org/drawingml/2006/main">
            <a:pPr>
              <a:buNone/>
              <a:defRPr sz="3300" b="1">
                <a:solidFill>
                  <a:srgbClr val="142C42"/>
                </a:solidFill>
                <a:latin typeface="Calibri"/>
                <a:ea typeface="Calibri"/>
                <a:cs typeface="Calibri"/>
              </a:defRPr>
            </a:pPr>
            <a:r>
              <a:rPr sz="3300" b="1">
                <a:solidFill>
                  <a:srgbClr val="142C42"/>
                </a:solidFill>
                <a:latin typeface="Calibri"/>
                <a:ea typeface="Calibri"/>
                <a:cs typeface="Calibri"/>
              </a:rPr>
              <a:t>References and reproducibility</a:t>
            </a:r>
          </a:p>
        </p:txBody>
      </p:sp>
      <p:sp>
        <p:nvSpPr>
          <p:cNvPr id="2" name="">
            <a:extLst xmlns:a="http://schemas.openxmlformats.org/drawingml/2006/main">
              <a:ext uri="{FF2B5EF4-FFF2-40B4-BE49-F238E27FC236}">
                <a16:creationId xmlns:a16="http://schemas.microsoft.com/office/drawing/2014/main" id="{1A1B8EDE-30EA-4A63-935B-A7B66F1215FF}"/>
              </a:ext>
            </a:extLst>
          </p:cNvPr>
          <p:cNvSpPr>
            <a:spLocks xmlns:a="http://schemas.openxmlformats.org/drawingml/2006/main" noGrp="1"/>
          </p:cNvSpPr>
          <p:nvPr/>
        </p:nvSpPr>
        <p:spPr>
          <a:xfrm xmlns:a="http://schemas.openxmlformats.org/drawingml/2006/main">
            <a:off x="11049000" y="6353175"/>
            <a:ext cx="523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1275" b="0">
                <a:solidFill>
                  <a:srgbClr val="617384"/>
                </a:solidFill>
                <a:latin typeface="Calibri"/>
                <a:ea typeface="Calibri"/>
                <a:cs typeface="Calibri"/>
              </a:defRPr>
            </a:defPPr>
            <a:lvl1pPr>
              <a:defRPr sz="1275" b="0">
                <a:solidFill>
                  <a:srgbClr val="617384"/>
                </a:solidFill>
                <a:latin typeface="Calibri"/>
                <a:ea typeface="Calibri"/>
                <a:cs typeface="Calibri"/>
              </a:defRPr>
            </a:lvl1pPr>
            <a:lvl2pPr>
              <a:defRPr sz="1275" b="0">
                <a:solidFill>
                  <a:srgbClr val="617384"/>
                </a:solidFill>
                <a:latin typeface="Calibri"/>
                <a:ea typeface="Calibri"/>
                <a:cs typeface="Calibri"/>
              </a:defRPr>
            </a:lvl2pPr>
            <a:lvl3pPr>
              <a:defRPr sz="1275" b="0">
                <a:solidFill>
                  <a:srgbClr val="617384"/>
                </a:solidFill>
                <a:latin typeface="Calibri"/>
                <a:ea typeface="Calibri"/>
                <a:cs typeface="Calibri"/>
              </a:defRPr>
            </a:lvl3pPr>
            <a:lvl4pPr>
              <a:defRPr sz="1275" b="0">
                <a:solidFill>
                  <a:srgbClr val="617384"/>
                </a:solidFill>
                <a:latin typeface="Calibri"/>
                <a:ea typeface="Calibri"/>
                <a:cs typeface="Calibri"/>
              </a:defRPr>
            </a:lvl4pPr>
            <a:lvl5pPr>
              <a:defRPr sz="1275" b="0">
                <a:solidFill>
                  <a:srgbClr val="617384"/>
                </a:solidFill>
                <a:latin typeface="Calibri"/>
                <a:ea typeface="Calibri"/>
                <a:cs typeface="Calibri"/>
              </a:defRPr>
            </a:lvl5pPr>
            <a:lvl6pPr>
              <a:defRPr sz="1275" b="0">
                <a:solidFill>
                  <a:srgbClr val="617384"/>
                </a:solidFill>
                <a:latin typeface="Calibri"/>
                <a:ea typeface="Calibri"/>
                <a:cs typeface="Calibri"/>
              </a:defRPr>
            </a:lvl6pPr>
            <a:lvl7pPr>
              <a:defRPr sz="1275" b="0">
                <a:solidFill>
                  <a:srgbClr val="617384"/>
                </a:solidFill>
                <a:latin typeface="Calibri"/>
                <a:ea typeface="Calibri"/>
                <a:cs typeface="Calibri"/>
              </a:defRPr>
            </a:lvl7pPr>
            <a:lvl8pPr>
              <a:defRPr sz="1275" b="0">
                <a:solidFill>
                  <a:srgbClr val="617384"/>
                </a:solidFill>
                <a:latin typeface="Calibri"/>
                <a:ea typeface="Calibri"/>
                <a:cs typeface="Calibri"/>
              </a:defRPr>
            </a:lvl8pPr>
            <a:lvl9pPr>
              <a:defRPr sz="1275" b="0">
                <a:solidFill>
                  <a:srgbClr val="617384"/>
                </a:solidFill>
                <a:latin typeface="Calibri"/>
                <a:ea typeface="Calibri"/>
                <a:cs typeface="Calibri"/>
              </a:defRPr>
            </a:lvl9pPr>
          </a:lstStyle>
          <a:p xmlns:a="http://schemas.openxmlformats.org/drawingml/2006/main">
            <a:pPr>
              <a:buNone/>
              <a:defRPr sz="1275" b="0">
                <a:solidFill>
                  <a:srgbClr val="617384"/>
                </a:solidFill>
                <a:latin typeface="Calibri"/>
                <a:ea typeface="Calibri"/>
                <a:cs typeface="Calibri"/>
              </a:defRPr>
            </a:pPr>
            <a:r>
              <a:rPr sz="1275" b="0">
                <a:solidFill>
                  <a:srgbClr val="617384"/>
                </a:solidFill>
                <a:latin typeface="Calibri"/>
                <a:ea typeface="Calibri"/>
                <a:cs typeface="Calibri"/>
              </a:rPr>
              <a:t>14</a:t>
            </a:r>
          </a:p>
        </p:txBody>
      </p:sp>
      <p:sp>
        <p:nvSpPr>
          <p:cNvPr id="3" name="">
            <a:extLst xmlns:a="http://schemas.openxmlformats.org/drawingml/2006/main">
              <a:ext uri="{FF2B5EF4-FFF2-40B4-BE49-F238E27FC236}">
                <a16:creationId xmlns:a16="http://schemas.microsoft.com/office/drawing/2014/main" id="{1640B778-2293-406C-83B2-6F7157CCE4FB}"/>
              </a:ext>
            </a:extLst>
          </p:cNvPr>
          <p:cNvSpPr>
            <a:spLocks xmlns:a="http://schemas.openxmlformats.org/drawingml/2006/main" noGrp="1"/>
          </p:cNvSpPr>
          <p:nvPr/>
        </p:nvSpPr>
        <p:spPr>
          <a:xfrm xmlns:a="http://schemas.openxmlformats.org/drawingml/2006/main">
            <a:off x="685800" y="15811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Sources</a:t>
            </a:r>
          </a:p>
        </p:txBody>
      </p:sp>
      <p:sp>
        <p:nvSpPr>
          <p:cNvPr id="4" name="">
            <a:extLst xmlns:a="http://schemas.openxmlformats.org/drawingml/2006/main">
              <a:ext uri="{FF2B5EF4-FFF2-40B4-BE49-F238E27FC236}">
                <a16:creationId xmlns:a16="http://schemas.microsoft.com/office/drawing/2014/main" id="{03562F78-BB22-42B0-A203-75E3DD0DA40A}"/>
              </a:ext>
            </a:extLst>
          </p:cNvPr>
          <p:cNvSpPr>
            <a:spLocks xmlns:a="http://schemas.openxmlformats.org/drawingml/2006/main" noGrp="1"/>
          </p:cNvSpPr>
          <p:nvPr/>
        </p:nvSpPr>
        <p:spPr>
          <a:xfrm xmlns:a="http://schemas.openxmlformats.org/drawingml/2006/main">
            <a:off x="685800" y="2266950"/>
            <a:ext cx="6191250" cy="3286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142C42"/>
                </a:solidFill>
                <a:latin typeface="Calibri"/>
                <a:ea typeface="Calibri"/>
                <a:cs typeface="Calibri"/>
              </a:defRPr>
            </a:defPPr>
            <a:lvl1pPr>
              <a:defRPr sz="2025" b="0">
                <a:solidFill>
                  <a:srgbClr val="142C42"/>
                </a:solidFill>
                <a:latin typeface="Calibri"/>
                <a:ea typeface="Calibri"/>
                <a:cs typeface="Calibri"/>
              </a:defRPr>
            </a:lvl1pPr>
            <a:lvl2pPr>
              <a:defRPr sz="2025" b="0">
                <a:solidFill>
                  <a:srgbClr val="142C42"/>
                </a:solidFill>
                <a:latin typeface="Calibri"/>
                <a:ea typeface="Calibri"/>
                <a:cs typeface="Calibri"/>
              </a:defRPr>
            </a:lvl2pPr>
            <a:lvl3pPr>
              <a:defRPr sz="2025" b="0">
                <a:solidFill>
                  <a:srgbClr val="142C42"/>
                </a:solidFill>
                <a:latin typeface="Calibri"/>
                <a:ea typeface="Calibri"/>
                <a:cs typeface="Calibri"/>
              </a:defRPr>
            </a:lvl3pPr>
            <a:lvl4pPr>
              <a:defRPr sz="2025" b="0">
                <a:solidFill>
                  <a:srgbClr val="142C42"/>
                </a:solidFill>
                <a:latin typeface="Calibri"/>
                <a:ea typeface="Calibri"/>
                <a:cs typeface="Calibri"/>
              </a:defRPr>
            </a:lvl4pPr>
            <a:lvl5pPr>
              <a:defRPr sz="2025" b="0">
                <a:solidFill>
                  <a:srgbClr val="142C42"/>
                </a:solidFill>
                <a:latin typeface="Calibri"/>
                <a:ea typeface="Calibri"/>
                <a:cs typeface="Calibri"/>
              </a:defRPr>
            </a:lvl5pPr>
            <a:lvl6pPr>
              <a:defRPr sz="2025" b="0">
                <a:solidFill>
                  <a:srgbClr val="142C42"/>
                </a:solidFill>
                <a:latin typeface="Calibri"/>
                <a:ea typeface="Calibri"/>
                <a:cs typeface="Calibri"/>
              </a:defRPr>
            </a:lvl6pPr>
            <a:lvl7pPr>
              <a:defRPr sz="2025" b="0">
                <a:solidFill>
                  <a:srgbClr val="142C42"/>
                </a:solidFill>
                <a:latin typeface="Calibri"/>
                <a:ea typeface="Calibri"/>
                <a:cs typeface="Calibri"/>
              </a:defRPr>
            </a:lvl7pPr>
            <a:lvl8pPr>
              <a:defRPr sz="2025" b="0">
                <a:solidFill>
                  <a:srgbClr val="142C42"/>
                </a:solidFill>
                <a:latin typeface="Calibri"/>
                <a:ea typeface="Calibri"/>
                <a:cs typeface="Calibri"/>
              </a:defRPr>
            </a:lvl8pPr>
            <a:lvl9pPr>
              <a:defRPr sz="2025" b="0">
                <a:solidFill>
                  <a:srgbClr val="142C42"/>
                </a:solidFill>
                <a:latin typeface="Calibri"/>
                <a:ea typeface="Calibri"/>
                <a:cs typeface="Calibri"/>
              </a:defRPr>
            </a:lvl9pPr>
          </a:lstStyle>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Tomczak (2016), UCI dataset</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doi:10.24432/C5F600</a:t>
            </a:r>
          </a:p>
          <a:p xmlns:a="http://schemas.openxmlformats.org/drawingml/2006/main">
            <a:r>
              <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Scikit-learn evaluation and CV documentation</a:t>
            </a:r>
          </a:p>
          <a:p xmlns:a="http://schemas.openxmlformats.org/drawingml/2006/main">
            <a:r>
              <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Supplied Patil report and codeatri repository</a:t>
            </a:r>
          </a:p>
          <a:p xmlns:a="http://schemas.openxmlformats.org/drawingml/2006/main">
            <a:pPr>
              <a:buNone/>
              <a:defRPr sz="2025" b="0">
                <a:solidFill>
                  <a:srgbClr val="142C42"/>
                </a:solidFill>
                <a:latin typeface="Calibri"/>
                <a:ea typeface="Calibri"/>
                <a:cs typeface="Calibri"/>
              </a:defRPr>
            </a:pPr>
            <a:r>
              <a:rPr sz="2025" b="0">
                <a:solidFill>
                  <a:srgbClr val="142C42"/>
                </a:solidFill>
                <a:latin typeface="Calibri"/>
                <a:ea typeface="Calibri"/>
                <a:cs typeface="Calibri"/>
              </a:rPr>
              <a:t>Background references</a:t>
            </a:r>
          </a:p>
        </p:txBody>
      </p:sp>
      <p:sp>
        <p:nvSpPr>
          <p:cNvPr id="5" name="">
            <a:extLst xmlns:a="http://schemas.openxmlformats.org/drawingml/2006/main">
              <a:ext uri="{FF2B5EF4-FFF2-40B4-BE49-F238E27FC236}">
                <a16:creationId xmlns:a16="http://schemas.microsoft.com/office/drawing/2014/main" id="{EB7245E7-4E57-4EC6-A169-E3BD9A4FAE91}"/>
              </a:ext>
            </a:extLst>
          </p:cNvPr>
          <p:cNvSpPr>
            <a:spLocks xmlns:a="http://schemas.openxmlformats.org/drawingml/2006/main" noGrp="1"/>
          </p:cNvSpPr>
          <p:nvPr/>
        </p:nvSpPr>
        <p:spPr>
          <a:xfrm xmlns:a="http://schemas.openxmlformats.org/drawingml/2006/main">
            <a:off x="7620000" y="1581150"/>
            <a:ext cx="4000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325" b="1">
                <a:solidFill>
                  <a:srgbClr val="007F78"/>
                </a:solidFill>
                <a:latin typeface="Calibri"/>
                <a:ea typeface="Calibri"/>
                <a:cs typeface="Calibri"/>
              </a:defRPr>
            </a:defPPr>
            <a:lvl1pPr>
              <a:defRPr sz="2325" b="1">
                <a:solidFill>
                  <a:srgbClr val="007F78"/>
                </a:solidFill>
                <a:latin typeface="Calibri"/>
                <a:ea typeface="Calibri"/>
                <a:cs typeface="Calibri"/>
              </a:defRPr>
            </a:lvl1pPr>
            <a:lvl2pPr>
              <a:defRPr sz="2325" b="1">
                <a:solidFill>
                  <a:srgbClr val="007F78"/>
                </a:solidFill>
                <a:latin typeface="Calibri"/>
                <a:ea typeface="Calibri"/>
                <a:cs typeface="Calibri"/>
              </a:defRPr>
            </a:lvl2pPr>
            <a:lvl3pPr>
              <a:defRPr sz="2325" b="1">
                <a:solidFill>
                  <a:srgbClr val="007F78"/>
                </a:solidFill>
                <a:latin typeface="Calibri"/>
                <a:ea typeface="Calibri"/>
                <a:cs typeface="Calibri"/>
              </a:defRPr>
            </a:lvl3pPr>
            <a:lvl4pPr>
              <a:defRPr sz="2325" b="1">
                <a:solidFill>
                  <a:srgbClr val="007F78"/>
                </a:solidFill>
                <a:latin typeface="Calibri"/>
                <a:ea typeface="Calibri"/>
                <a:cs typeface="Calibri"/>
              </a:defRPr>
            </a:lvl4pPr>
            <a:lvl5pPr>
              <a:defRPr sz="2325" b="1">
                <a:solidFill>
                  <a:srgbClr val="007F78"/>
                </a:solidFill>
                <a:latin typeface="Calibri"/>
                <a:ea typeface="Calibri"/>
                <a:cs typeface="Calibri"/>
              </a:defRPr>
            </a:lvl5pPr>
            <a:lvl6pPr>
              <a:defRPr sz="2325" b="1">
                <a:solidFill>
                  <a:srgbClr val="007F78"/>
                </a:solidFill>
                <a:latin typeface="Calibri"/>
                <a:ea typeface="Calibri"/>
                <a:cs typeface="Calibri"/>
              </a:defRPr>
            </a:lvl6pPr>
            <a:lvl7pPr>
              <a:defRPr sz="2325" b="1">
                <a:solidFill>
                  <a:srgbClr val="007F78"/>
                </a:solidFill>
                <a:latin typeface="Calibri"/>
                <a:ea typeface="Calibri"/>
                <a:cs typeface="Calibri"/>
              </a:defRPr>
            </a:lvl7pPr>
            <a:lvl8pPr>
              <a:defRPr sz="2325" b="1">
                <a:solidFill>
                  <a:srgbClr val="007F78"/>
                </a:solidFill>
                <a:latin typeface="Calibri"/>
                <a:ea typeface="Calibri"/>
                <a:cs typeface="Calibri"/>
              </a:defRPr>
            </a:lvl8pPr>
            <a:lvl9pPr>
              <a:defRPr sz="2325" b="1">
                <a:solidFill>
                  <a:srgbClr val="007F78"/>
                </a:solidFill>
                <a:latin typeface="Calibri"/>
                <a:ea typeface="Calibri"/>
                <a:cs typeface="Calibri"/>
              </a:defRPr>
            </a:lvl9pPr>
          </a:lstStyle>
          <a:p xmlns:a="http://schemas.openxmlformats.org/drawingml/2006/main">
            <a:pPr>
              <a:buNone/>
              <a:defRPr sz="2325" b="1">
                <a:solidFill>
                  <a:srgbClr val="007F78"/>
                </a:solidFill>
                <a:latin typeface="Calibri"/>
                <a:ea typeface="Calibri"/>
                <a:cs typeface="Calibri"/>
              </a:defRPr>
            </a:pPr>
            <a:r>
              <a:rPr sz="2325" b="1">
                <a:solidFill>
                  <a:srgbClr val="007F78"/>
                </a:solidFill>
                <a:latin typeface="Calibri"/>
                <a:ea typeface="Calibri"/>
                <a:cs typeface="Calibri"/>
              </a:rPr>
              <a:t>Reproduce the experiment</a:t>
            </a:r>
          </a:p>
        </p:txBody>
      </p:sp>
      <p:sp>
        <p:nvSpPr>
          <p:cNvPr id="6" name="">
            <a:extLst xmlns:a="http://schemas.openxmlformats.org/drawingml/2006/main">
              <a:ext uri="{FF2B5EF4-FFF2-40B4-BE49-F238E27FC236}">
                <a16:creationId xmlns:a16="http://schemas.microsoft.com/office/drawing/2014/main" id="{72733EED-1B7B-466F-A888-93F2E7A6D868}"/>
              </a:ext>
            </a:extLst>
          </p:cNvPr>
          <p:cNvSpPr>
            <a:spLocks xmlns:a="http://schemas.openxmlformats.org/drawingml/2006/main" noGrp="1"/>
          </p:cNvSpPr>
          <p:nvPr/>
        </p:nvSpPr>
        <p:spPr>
          <a:xfrm xmlns:a="http://schemas.openxmlformats.org/drawingml/2006/main">
            <a:off x="7620000" y="2647950"/>
            <a:ext cx="3905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100" b="0">
                <a:solidFill>
                  <a:srgbClr val="142C42"/>
                </a:solidFill>
                <a:latin typeface="Calibri"/>
                <a:ea typeface="Calibri"/>
                <a:cs typeface="Calibri"/>
              </a:defRPr>
            </a:defPPr>
            <a:lvl1pPr>
              <a:defRPr sz="2100" b="0">
                <a:solidFill>
                  <a:srgbClr val="142C42"/>
                </a:solidFill>
                <a:latin typeface="Calibri"/>
                <a:ea typeface="Calibri"/>
                <a:cs typeface="Calibri"/>
              </a:defRPr>
            </a:lvl1pPr>
            <a:lvl2pPr>
              <a:defRPr sz="2100" b="0">
                <a:solidFill>
                  <a:srgbClr val="142C42"/>
                </a:solidFill>
                <a:latin typeface="Calibri"/>
                <a:ea typeface="Calibri"/>
                <a:cs typeface="Calibri"/>
              </a:defRPr>
            </a:lvl2pPr>
            <a:lvl3pPr>
              <a:defRPr sz="2100" b="0">
                <a:solidFill>
                  <a:srgbClr val="142C42"/>
                </a:solidFill>
                <a:latin typeface="Calibri"/>
                <a:ea typeface="Calibri"/>
                <a:cs typeface="Calibri"/>
              </a:defRPr>
            </a:lvl3pPr>
            <a:lvl4pPr>
              <a:defRPr sz="2100" b="0">
                <a:solidFill>
                  <a:srgbClr val="142C42"/>
                </a:solidFill>
                <a:latin typeface="Calibri"/>
                <a:ea typeface="Calibri"/>
                <a:cs typeface="Calibri"/>
              </a:defRPr>
            </a:lvl4pPr>
            <a:lvl5pPr>
              <a:defRPr sz="2100" b="0">
                <a:solidFill>
                  <a:srgbClr val="142C42"/>
                </a:solidFill>
                <a:latin typeface="Calibri"/>
                <a:ea typeface="Calibri"/>
                <a:cs typeface="Calibri"/>
              </a:defRPr>
            </a:lvl5pPr>
            <a:lvl6pPr>
              <a:defRPr sz="2100" b="0">
                <a:solidFill>
                  <a:srgbClr val="142C42"/>
                </a:solidFill>
                <a:latin typeface="Calibri"/>
                <a:ea typeface="Calibri"/>
                <a:cs typeface="Calibri"/>
              </a:defRPr>
            </a:lvl6pPr>
            <a:lvl7pPr>
              <a:defRPr sz="2100" b="0">
                <a:solidFill>
                  <a:srgbClr val="142C42"/>
                </a:solidFill>
                <a:latin typeface="Calibri"/>
                <a:ea typeface="Calibri"/>
                <a:cs typeface="Calibri"/>
              </a:defRPr>
            </a:lvl7pPr>
            <a:lvl8pPr>
              <a:defRPr sz="2100" b="0">
                <a:solidFill>
                  <a:srgbClr val="142C42"/>
                </a:solidFill>
                <a:latin typeface="Calibri"/>
                <a:ea typeface="Calibri"/>
                <a:cs typeface="Calibri"/>
              </a:defRPr>
            </a:lvl8pPr>
            <a:lvl9pPr>
              <a:defRPr sz="2100" b="0">
                <a:solidFill>
                  <a:srgbClr val="142C42"/>
                </a:solidFill>
                <a:latin typeface="Calibri"/>
                <a:ea typeface="Calibri"/>
                <a:cs typeface="Calibri"/>
              </a:defRPr>
            </a:lvl9pPr>
          </a:lstStyle>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python run.py train</a:t>
            </a:r>
          </a:p>
          <a:p xmlns:a="http://schemas.openxmlformats.org/drawingml/2006/main">
            <a:pPr>
              <a:buNone/>
              <a:defRPr sz="2100" b="0">
                <a:solidFill>
                  <a:srgbClr val="142C42"/>
                </a:solidFill>
                <a:latin typeface="Calibri"/>
                <a:ea typeface="Calibri"/>
                <a:cs typeface="Calibri"/>
              </a:defRPr>
            </a:pPr>
            <a:r>
              <a:rPr sz="2100" b="0">
                <a:solidFill>
                  <a:srgbClr val="142C42"/>
                </a:solidFill>
                <a:latin typeface="Calibri"/>
                <a:ea typeface="Calibri"/>
                <a:cs typeface="Calibri"/>
              </a:rPr>
              <a:t>python -m pytest -q</a:t>
            </a:r>
          </a:p>
        </p:txBody>
      </p:sp>
      <p:sp>
        <p:nvSpPr>
          <p:cNvPr id="7" name="">
            <a:extLst xmlns:a="http://schemas.openxmlformats.org/drawingml/2006/main">
              <a:ext uri="{FF2B5EF4-FFF2-40B4-BE49-F238E27FC236}">
                <a16:creationId xmlns:a16="http://schemas.microsoft.com/office/drawing/2014/main" id="{18444E2D-732A-4C73-8008-C6ABC467167B}"/>
              </a:ext>
            </a:extLst>
          </p:cNvPr>
          <p:cNvSpPr>
            <a:spLocks xmlns:a="http://schemas.openxmlformats.org/drawingml/2006/main" noGrp="1"/>
          </p:cNvSpPr>
          <p:nvPr/>
        </p:nvSpPr>
        <p:spPr>
          <a:xfrm xmlns:a="http://schemas.openxmlformats.org/drawingml/2006/main">
            <a:off x="7620000" y="4152900"/>
            <a:ext cx="3810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defPPr>
              <a:defRPr sz="2025" b="0">
                <a:solidFill>
                  <a:srgbClr val="617384"/>
                </a:solidFill>
                <a:latin typeface="Calibri"/>
                <a:ea typeface="Calibri"/>
                <a:cs typeface="Calibri"/>
              </a:defRPr>
            </a:defPPr>
            <a:lvl1pPr>
              <a:defRPr sz="2025" b="0">
                <a:solidFill>
                  <a:srgbClr val="617384"/>
                </a:solidFill>
                <a:latin typeface="Calibri"/>
                <a:ea typeface="Calibri"/>
                <a:cs typeface="Calibri"/>
              </a:defRPr>
            </a:lvl1pPr>
            <a:lvl2pPr>
              <a:defRPr sz="2025" b="0">
                <a:solidFill>
                  <a:srgbClr val="617384"/>
                </a:solidFill>
                <a:latin typeface="Calibri"/>
                <a:ea typeface="Calibri"/>
                <a:cs typeface="Calibri"/>
              </a:defRPr>
            </a:lvl2pPr>
            <a:lvl3pPr>
              <a:defRPr sz="2025" b="0">
                <a:solidFill>
                  <a:srgbClr val="617384"/>
                </a:solidFill>
                <a:latin typeface="Calibri"/>
                <a:ea typeface="Calibri"/>
                <a:cs typeface="Calibri"/>
              </a:defRPr>
            </a:lvl3pPr>
            <a:lvl4pPr>
              <a:defRPr sz="2025" b="0">
                <a:solidFill>
                  <a:srgbClr val="617384"/>
                </a:solidFill>
                <a:latin typeface="Calibri"/>
                <a:ea typeface="Calibri"/>
                <a:cs typeface="Calibri"/>
              </a:defRPr>
            </a:lvl4pPr>
            <a:lvl5pPr>
              <a:defRPr sz="2025" b="0">
                <a:solidFill>
                  <a:srgbClr val="617384"/>
                </a:solidFill>
                <a:latin typeface="Calibri"/>
                <a:ea typeface="Calibri"/>
                <a:cs typeface="Calibri"/>
              </a:defRPr>
            </a:lvl5pPr>
            <a:lvl6pPr>
              <a:defRPr sz="2025" b="0">
                <a:solidFill>
                  <a:srgbClr val="617384"/>
                </a:solidFill>
                <a:latin typeface="Calibri"/>
                <a:ea typeface="Calibri"/>
                <a:cs typeface="Calibri"/>
              </a:defRPr>
            </a:lvl6pPr>
            <a:lvl7pPr>
              <a:defRPr sz="2025" b="0">
                <a:solidFill>
                  <a:srgbClr val="617384"/>
                </a:solidFill>
                <a:latin typeface="Calibri"/>
                <a:ea typeface="Calibri"/>
                <a:cs typeface="Calibri"/>
              </a:defRPr>
            </a:lvl7pPr>
            <a:lvl8pPr>
              <a:defRPr sz="2025" b="0">
                <a:solidFill>
                  <a:srgbClr val="617384"/>
                </a:solidFill>
                <a:latin typeface="Calibri"/>
                <a:ea typeface="Calibri"/>
                <a:cs typeface="Calibri"/>
              </a:defRPr>
            </a:lvl8pPr>
            <a:lvl9pPr>
              <a:defRPr sz="2025" b="0">
                <a:solidFill>
                  <a:srgbClr val="617384"/>
                </a:solidFill>
                <a:latin typeface="Calibri"/>
                <a:ea typeface="Calibri"/>
                <a:cs typeface="Calibri"/>
              </a:defRPr>
            </a:lvl9pPr>
          </a:lstStyle>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Data hash, split manifest, predictions,</a:t>
            </a:r>
          </a:p>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metrics, model and notebook</a:t>
            </a:r>
          </a:p>
          <a:p xmlns:a="http://schemas.openxmlformats.org/drawingml/2006/main">
            <a:pPr>
              <a:buNone/>
              <a:defRPr sz="2025" b="0">
                <a:solidFill>
                  <a:srgbClr val="617384"/>
                </a:solidFill>
                <a:latin typeface="Calibri"/>
                <a:ea typeface="Calibri"/>
                <a:cs typeface="Calibri"/>
              </a:defRPr>
            </a:pPr>
            <a:r>
              <a:rPr sz="2025" b="0">
                <a:solidFill>
                  <a:srgbClr val="617384"/>
                </a:solidFill>
                <a:latin typeface="Calibri"/>
                <a:ea typeface="Calibri"/>
                <a:cs typeface="Calibri"/>
              </a:rPr>
              <a:t>are included in the repository.</a:t>
            </a:r>
          </a:p>
        </p:txBody>
      </p:sp>
    </p:spTree>
    <p:extLst>
      <p:ext uri="{BB962C8B-B14F-4D97-AF65-F5344CB8AC3E}">
        <p14:creationId xmlns:p14="http://schemas.microsoft.com/office/powerpoint/2010/main" val="1624366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2026-10-25T18:08:56.5820000Z</dcterms:created>
  <dcterms:modified xsi:type="dcterms:W3CDTF">2026-10-25T18:08:56.5830000Z</dcterms:modified>
</coreProperties>
</file>